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3"/>
    <p:sldId id="257" r:id="rId4"/>
    <p:sldId id="258" r:id="rId5"/>
    <p:sldId id="272" r:id="rId6"/>
    <p:sldId id="271" r:id="rId7"/>
    <p:sldId id="273" r:id="rId8"/>
    <p:sldId id="274" r:id="rId9"/>
    <p:sldId id="275" r:id="rId10"/>
    <p:sldId id="259" r:id="rId11"/>
    <p:sldId id="277" r:id="rId12"/>
    <p:sldId id="260" r:id="rId13"/>
    <p:sldId id="276" r:id="rId14"/>
    <p:sldId id="278" r:id="rId15"/>
    <p:sldId id="279" r:id="rId16"/>
    <p:sldId id="281" r:id="rId17"/>
    <p:sldId id="292" r:id="rId18"/>
    <p:sldId id="282" r:id="rId19"/>
    <p:sldId id="280" r:id="rId20"/>
    <p:sldId id="261" r:id="rId21"/>
    <p:sldId id="285" r:id="rId22"/>
    <p:sldId id="286" r:id="rId23"/>
    <p:sldId id="289" r:id="rId24"/>
    <p:sldId id="262" r:id="rId25"/>
    <p:sldId id="290" r:id="rId26"/>
    <p:sldId id="291" r:id="rId27"/>
    <p:sldId id="293" r:id="rId28"/>
    <p:sldId id="294" r:id="rId29"/>
    <p:sldId id="263" r:id="rId30"/>
    <p:sldId id="264" r:id="rId31"/>
    <p:sldId id="265" r:id="rId32"/>
    <p:sldId id="296" r:id="rId33"/>
    <p:sldId id="297" r:id="rId34"/>
    <p:sldId id="298" r:id="rId35"/>
    <p:sldId id="266" r:id="rId36"/>
    <p:sldId id="267" r:id="rId37"/>
    <p:sldId id="268" r:id="rId38"/>
    <p:sldId id="269" r:id="rId39"/>
    <p:sldId id="270" r:id="rId40"/>
  </p:sldIdLst>
  <p:sldSz cx="13004800" cy="9753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1862975" y="3459794"/>
            <a:ext cx="9330055" cy="3306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8900" kern="0" spc="-31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Software Architecture</a:t>
            </a:r>
            <a:endParaRPr sz="89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152140" algn="l" rtl="0" eaLnBrk="0">
              <a:lnSpc>
                <a:spcPts val="14210"/>
              </a:lnSpc>
              <a:spcBef>
                <a:spcPts val="2300"/>
              </a:spcBef>
            </a:pPr>
            <a:r>
              <a:rPr sz="10200" kern="0" spc="-38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(2025)</a:t>
            </a:r>
            <a:endParaRPr sz="10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/>
          <p:nvPr/>
        </p:nvSpPr>
        <p:spPr>
          <a:xfrm>
            <a:off x="125137" y="748992"/>
            <a:ext cx="5481954" cy="74314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44600" algn="l" rtl="0" eaLnBrk="0">
              <a:lnSpc>
                <a:spcPct val="82000"/>
              </a:lnSpc>
            </a:pPr>
            <a:r>
              <a:rPr sz="7700" kern="0" spc="-27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Outline</a:t>
            </a:r>
            <a:endParaRPr sz="7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01395" algn="l" rtl="0" eaLnBrk="0">
              <a:lnSpc>
                <a:spcPct val="87000"/>
              </a:lnSpc>
              <a:spcBef>
                <a:spcPts val="910"/>
              </a:spcBef>
              <a:tabLst>
                <a:tab pos="1541780" algn="l"/>
              </a:tabLst>
            </a:pPr>
            <a:r>
              <a:rPr sz="30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30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Software Architecture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01395" algn="l" rtl="0" eaLnBrk="0">
              <a:lnSpc>
                <a:spcPts val="4780"/>
              </a:lnSpc>
              <a:spcBef>
                <a:spcPts val="880"/>
              </a:spcBef>
              <a:tabLst>
                <a:tab pos="1544955" algn="l"/>
              </a:tabLst>
            </a:pPr>
            <a:r>
              <a:rPr sz="29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9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Quality Attributes</a:t>
            </a:r>
            <a:r>
              <a:rPr sz="2900" kern="0" spc="2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9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&amp;</a:t>
            </a:r>
            <a:r>
              <a:rPr sz="2900" kern="0" spc="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9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</a:t>
            </a:r>
            <a:r>
              <a:rPr sz="29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actics</a:t>
            </a:r>
            <a:endParaRPr sz="29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001395" algn="l" rtl="0" eaLnBrk="0">
              <a:lnSpc>
                <a:spcPts val="5985"/>
              </a:lnSpc>
              <a:spcBef>
                <a:spcPts val="295"/>
              </a:spcBef>
              <a:tabLst>
                <a:tab pos="1524635" algn="l"/>
              </a:tabLst>
            </a:pPr>
            <a:r>
              <a:rPr sz="30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30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Architecture</a:t>
            </a:r>
            <a:r>
              <a:rPr sz="3000" kern="0" spc="3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01395" algn="l" rtl="0" eaLnBrk="0">
              <a:lnSpc>
                <a:spcPts val="4780"/>
              </a:lnSpc>
              <a:spcBef>
                <a:spcPts val="935"/>
              </a:spcBef>
              <a:tabLst>
                <a:tab pos="1551305" algn="l"/>
              </a:tabLst>
            </a:pPr>
            <a:r>
              <a:rPr sz="31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31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Identifying ASRs</a:t>
            </a:r>
            <a:endParaRPr sz="31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8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01395" algn="l" rtl="0" eaLnBrk="0">
              <a:lnSpc>
                <a:spcPts val="3885"/>
              </a:lnSpc>
              <a:spcBef>
                <a:spcPts val="935"/>
              </a:spcBef>
              <a:tabLst>
                <a:tab pos="1551305" algn="l"/>
              </a:tabLst>
            </a:pPr>
            <a:r>
              <a:rPr sz="31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31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Designing</a:t>
            </a:r>
            <a:r>
              <a:rPr sz="31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1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Software</a:t>
            </a:r>
            <a:endParaRPr sz="31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525270" algn="l" rtl="0" eaLnBrk="0">
              <a:lnSpc>
                <a:spcPct val="86000"/>
              </a:lnSpc>
              <a:spcBef>
                <a:spcPts val="650"/>
              </a:spcBef>
            </a:pPr>
            <a:r>
              <a:rPr sz="30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path 6"/>
          <p:cNvSpPr/>
          <p:nvPr/>
        </p:nvSpPr>
        <p:spPr>
          <a:xfrm>
            <a:off x="137837" y="7164762"/>
            <a:ext cx="988703" cy="498981"/>
          </a:xfrm>
          <a:custGeom>
            <a:avLst/>
            <a:gdLst/>
            <a:ahLst/>
            <a:cxnLst/>
            <a:rect l="0" t="0" r="0" b="0"/>
            <a:pathLst>
              <a:path w="1557" h="785">
                <a:moveTo>
                  <a:pt x="1549" y="7"/>
                </a:moveTo>
                <a:cubicBezTo>
                  <a:pt x="1549" y="7"/>
                  <a:pt x="1467" y="7"/>
                  <a:pt x="1467" y="7"/>
                </a:cubicBezTo>
                <a:cubicBezTo>
                  <a:pt x="1467" y="7"/>
                  <a:pt x="1467" y="778"/>
                  <a:pt x="1467" y="778"/>
                </a:cubicBezTo>
                <a:cubicBezTo>
                  <a:pt x="1467" y="778"/>
                  <a:pt x="1549" y="778"/>
                  <a:pt x="1549" y="778"/>
                </a:cubicBezTo>
                <a:moveTo>
                  <a:pt x="7" y="392"/>
                </a:moveTo>
                <a:cubicBezTo>
                  <a:pt x="7" y="392"/>
                  <a:pt x="1467" y="392"/>
                  <a:pt x="1467" y="392"/>
                </a:cubicBezTo>
              </a:path>
            </a:pathLst>
          </a:custGeom>
          <a:noFill/>
          <a:ln w="9414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/>
          <p:cNvSpPr/>
          <p:nvPr/>
        </p:nvSpPr>
        <p:spPr>
          <a:xfrm>
            <a:off x="137837" y="6237663"/>
            <a:ext cx="988703" cy="498981"/>
          </a:xfrm>
          <a:custGeom>
            <a:avLst/>
            <a:gdLst/>
            <a:ahLst/>
            <a:cxnLst/>
            <a:rect l="0" t="0" r="0" b="0"/>
            <a:pathLst>
              <a:path w="1557" h="785">
                <a:moveTo>
                  <a:pt x="1549" y="7"/>
                </a:moveTo>
                <a:cubicBezTo>
                  <a:pt x="1549" y="7"/>
                  <a:pt x="1467" y="7"/>
                  <a:pt x="1467" y="7"/>
                </a:cubicBezTo>
                <a:cubicBezTo>
                  <a:pt x="1467" y="7"/>
                  <a:pt x="1467" y="778"/>
                  <a:pt x="1467" y="778"/>
                </a:cubicBezTo>
                <a:cubicBezTo>
                  <a:pt x="1467" y="778"/>
                  <a:pt x="1549" y="778"/>
                  <a:pt x="1549" y="778"/>
                </a:cubicBezTo>
                <a:moveTo>
                  <a:pt x="7" y="392"/>
                </a:moveTo>
                <a:cubicBezTo>
                  <a:pt x="7" y="392"/>
                  <a:pt x="1467" y="392"/>
                  <a:pt x="1467" y="392"/>
                </a:cubicBezTo>
              </a:path>
            </a:pathLst>
          </a:custGeom>
          <a:noFill/>
          <a:ln w="9414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path 10"/>
          <p:cNvSpPr/>
          <p:nvPr/>
        </p:nvSpPr>
        <p:spPr>
          <a:xfrm>
            <a:off x="137837" y="5310563"/>
            <a:ext cx="988703" cy="498981"/>
          </a:xfrm>
          <a:custGeom>
            <a:avLst/>
            <a:gdLst/>
            <a:ahLst/>
            <a:cxnLst/>
            <a:rect l="0" t="0" r="0" b="0"/>
            <a:pathLst>
              <a:path w="1557" h="785">
                <a:moveTo>
                  <a:pt x="1549" y="7"/>
                </a:moveTo>
                <a:cubicBezTo>
                  <a:pt x="1549" y="7"/>
                  <a:pt x="1467" y="7"/>
                  <a:pt x="1467" y="7"/>
                </a:cubicBezTo>
                <a:cubicBezTo>
                  <a:pt x="1467" y="7"/>
                  <a:pt x="1467" y="778"/>
                  <a:pt x="1467" y="778"/>
                </a:cubicBezTo>
                <a:cubicBezTo>
                  <a:pt x="1467" y="778"/>
                  <a:pt x="1549" y="778"/>
                  <a:pt x="1549" y="778"/>
                </a:cubicBezTo>
                <a:moveTo>
                  <a:pt x="7" y="392"/>
                </a:moveTo>
                <a:cubicBezTo>
                  <a:pt x="7" y="392"/>
                  <a:pt x="1467" y="392"/>
                  <a:pt x="1467" y="392"/>
                </a:cubicBezTo>
              </a:path>
            </a:pathLst>
          </a:custGeom>
          <a:noFill/>
          <a:ln w="9414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path 12"/>
          <p:cNvSpPr/>
          <p:nvPr/>
        </p:nvSpPr>
        <p:spPr>
          <a:xfrm>
            <a:off x="137837" y="4383463"/>
            <a:ext cx="988703" cy="498981"/>
          </a:xfrm>
          <a:custGeom>
            <a:avLst/>
            <a:gdLst/>
            <a:ahLst/>
            <a:cxnLst/>
            <a:rect l="0" t="0" r="0" b="0"/>
            <a:pathLst>
              <a:path w="1557" h="785">
                <a:moveTo>
                  <a:pt x="1549" y="7"/>
                </a:moveTo>
                <a:cubicBezTo>
                  <a:pt x="1549" y="7"/>
                  <a:pt x="1467" y="7"/>
                  <a:pt x="1467" y="7"/>
                </a:cubicBezTo>
                <a:cubicBezTo>
                  <a:pt x="1467" y="7"/>
                  <a:pt x="1467" y="778"/>
                  <a:pt x="1467" y="778"/>
                </a:cubicBezTo>
                <a:cubicBezTo>
                  <a:pt x="1467" y="778"/>
                  <a:pt x="1549" y="778"/>
                  <a:pt x="1549" y="778"/>
                </a:cubicBezTo>
                <a:moveTo>
                  <a:pt x="7" y="392"/>
                </a:moveTo>
                <a:cubicBezTo>
                  <a:pt x="7" y="392"/>
                  <a:pt x="1467" y="392"/>
                  <a:pt x="1467" y="392"/>
                </a:cubicBezTo>
              </a:path>
            </a:pathLst>
          </a:custGeom>
          <a:noFill/>
          <a:ln w="9414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" name="path 14"/>
          <p:cNvSpPr/>
          <p:nvPr/>
        </p:nvSpPr>
        <p:spPr>
          <a:xfrm>
            <a:off x="137837" y="3456363"/>
            <a:ext cx="988703" cy="498981"/>
          </a:xfrm>
          <a:custGeom>
            <a:avLst/>
            <a:gdLst/>
            <a:ahLst/>
            <a:cxnLst/>
            <a:rect l="0" t="0" r="0" b="0"/>
            <a:pathLst>
              <a:path w="1557" h="785">
                <a:moveTo>
                  <a:pt x="1549" y="7"/>
                </a:moveTo>
                <a:cubicBezTo>
                  <a:pt x="1549" y="7"/>
                  <a:pt x="1467" y="7"/>
                  <a:pt x="1467" y="7"/>
                </a:cubicBezTo>
                <a:cubicBezTo>
                  <a:pt x="1467" y="7"/>
                  <a:pt x="1467" y="778"/>
                  <a:pt x="1467" y="778"/>
                </a:cubicBezTo>
                <a:cubicBezTo>
                  <a:pt x="1467" y="778"/>
                  <a:pt x="1549" y="778"/>
                  <a:pt x="1549" y="778"/>
                </a:cubicBezTo>
                <a:moveTo>
                  <a:pt x="7" y="392"/>
                </a:moveTo>
                <a:cubicBezTo>
                  <a:pt x="7" y="392"/>
                  <a:pt x="1467" y="392"/>
                  <a:pt x="1467" y="392"/>
                </a:cubicBezTo>
              </a:path>
            </a:pathLst>
          </a:custGeom>
          <a:noFill/>
          <a:ln w="9414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6885982" y="2414962"/>
            <a:ext cx="5189220" cy="5879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01395" algn="l" rtl="0" eaLnBrk="0">
              <a:lnSpc>
                <a:spcPts val="3885"/>
              </a:lnSpc>
              <a:spcBef>
                <a:spcPts val="5"/>
              </a:spcBef>
              <a:tabLst>
                <a:tab pos="1551305" algn="l"/>
              </a:tabLst>
            </a:pPr>
            <a:r>
              <a:rPr sz="31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3100" kern="0" spc="-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Documenting</a:t>
            </a:r>
            <a:r>
              <a:rPr sz="3100" kern="0" spc="2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100" kern="0" spc="-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Software</a:t>
            </a:r>
            <a:endParaRPr sz="31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525270" algn="l" rtl="0" eaLnBrk="0">
              <a:lnSpc>
                <a:spcPct val="86000"/>
              </a:lnSpc>
              <a:spcBef>
                <a:spcPts val="650"/>
              </a:spcBef>
            </a:pPr>
            <a:r>
              <a:rPr sz="30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01395" algn="l" rtl="0" eaLnBrk="0">
              <a:lnSpc>
                <a:spcPct val="89000"/>
              </a:lnSpc>
              <a:spcBef>
                <a:spcPts val="880"/>
              </a:spcBef>
              <a:tabLst>
                <a:tab pos="1539875" algn="l"/>
              </a:tabLst>
            </a:pPr>
            <a:r>
              <a:rPr sz="29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9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Microservice</a:t>
            </a:r>
            <a:r>
              <a:rPr sz="2900" kern="0" spc="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9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</a:t>
            </a:r>
            <a:r>
              <a:rPr sz="29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chitecture</a:t>
            </a:r>
            <a:endParaRPr sz="29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01395" algn="l" rtl="0" eaLnBrk="0">
              <a:lnSpc>
                <a:spcPts val="4780"/>
              </a:lnSpc>
              <a:spcBef>
                <a:spcPts val="935"/>
              </a:spcBef>
              <a:tabLst>
                <a:tab pos="1524635" algn="l"/>
              </a:tabLst>
            </a:pPr>
            <a:r>
              <a:rPr sz="3100" kern="0" spc="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3100" kern="0" spc="-10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AI-native Appli</a:t>
            </a:r>
            <a:r>
              <a:rPr sz="3100" kern="0" spc="-11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cation</a:t>
            </a:r>
            <a:endParaRPr sz="31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525270" algn="l" rtl="0" eaLnBrk="0">
              <a:lnSpc>
                <a:spcPct val="86000"/>
              </a:lnSpc>
              <a:spcBef>
                <a:spcPts val="385"/>
              </a:spcBef>
            </a:pPr>
            <a:r>
              <a:rPr sz="3000" kern="0" spc="-9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01395" algn="l" rtl="0" eaLnBrk="0">
              <a:lnSpc>
                <a:spcPct val="96000"/>
              </a:lnSpc>
              <a:spcBef>
                <a:spcPts val="930"/>
              </a:spcBef>
              <a:tabLst>
                <a:tab pos="1551305" algn="l"/>
              </a:tabLst>
            </a:pPr>
            <a:r>
              <a:rPr sz="3100" kern="0" spc="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3100" kern="0" spc="-13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Domain-Driven</a:t>
            </a:r>
            <a:r>
              <a:rPr sz="3100" kern="0" spc="31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100" kern="0" spc="-13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31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5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01395" algn="l" rtl="0" eaLnBrk="0">
              <a:lnSpc>
                <a:spcPts val="4780"/>
              </a:lnSpc>
              <a:spcBef>
                <a:spcPts val="910"/>
              </a:spcBef>
              <a:tabLst>
                <a:tab pos="1551305" algn="l"/>
              </a:tabLst>
            </a:pPr>
            <a:r>
              <a:rPr sz="3000" kern="0" spc="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3000" kern="0" spc="-10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Enterprise</a:t>
            </a:r>
            <a:r>
              <a:rPr sz="3000" kern="0" spc="24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-10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&amp;</a:t>
            </a:r>
            <a:r>
              <a:rPr sz="3000" kern="0" spc="31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-10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</a:t>
            </a:r>
            <a:r>
              <a:rPr sz="3000" kern="0" spc="-11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525270" algn="l" rtl="0" eaLnBrk="0">
              <a:lnSpc>
                <a:spcPct val="86000"/>
              </a:lnSpc>
              <a:spcBef>
                <a:spcPts val="385"/>
              </a:spcBef>
            </a:pPr>
            <a:r>
              <a:rPr sz="3000" kern="0" spc="-9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path 18"/>
          <p:cNvSpPr/>
          <p:nvPr/>
        </p:nvSpPr>
        <p:spPr>
          <a:xfrm>
            <a:off x="6898682" y="7279062"/>
            <a:ext cx="988703" cy="498981"/>
          </a:xfrm>
          <a:custGeom>
            <a:avLst/>
            <a:gdLst/>
            <a:ahLst/>
            <a:cxnLst/>
            <a:rect l="0" t="0" r="0" b="0"/>
            <a:pathLst>
              <a:path w="1557" h="785">
                <a:moveTo>
                  <a:pt x="1549" y="7"/>
                </a:moveTo>
                <a:cubicBezTo>
                  <a:pt x="1549" y="7"/>
                  <a:pt x="1467" y="7"/>
                  <a:pt x="1467" y="7"/>
                </a:cubicBezTo>
                <a:cubicBezTo>
                  <a:pt x="1467" y="7"/>
                  <a:pt x="1467" y="778"/>
                  <a:pt x="1467" y="778"/>
                </a:cubicBezTo>
                <a:cubicBezTo>
                  <a:pt x="1467" y="778"/>
                  <a:pt x="1549" y="778"/>
                  <a:pt x="1549" y="778"/>
                </a:cubicBezTo>
                <a:moveTo>
                  <a:pt x="7" y="392"/>
                </a:moveTo>
                <a:cubicBezTo>
                  <a:pt x="7" y="392"/>
                  <a:pt x="1467" y="392"/>
                  <a:pt x="1467" y="392"/>
                </a:cubicBezTo>
              </a:path>
            </a:pathLst>
          </a:custGeom>
          <a:noFill/>
          <a:ln w="9414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" name="path 20"/>
          <p:cNvSpPr/>
          <p:nvPr/>
        </p:nvSpPr>
        <p:spPr>
          <a:xfrm>
            <a:off x="6898682" y="6351963"/>
            <a:ext cx="988703" cy="498981"/>
          </a:xfrm>
          <a:custGeom>
            <a:avLst/>
            <a:gdLst/>
            <a:ahLst/>
            <a:cxnLst/>
            <a:rect l="0" t="0" r="0" b="0"/>
            <a:pathLst>
              <a:path w="1557" h="785">
                <a:moveTo>
                  <a:pt x="1549" y="7"/>
                </a:moveTo>
                <a:cubicBezTo>
                  <a:pt x="1549" y="7"/>
                  <a:pt x="1467" y="7"/>
                  <a:pt x="1467" y="7"/>
                </a:cubicBezTo>
                <a:cubicBezTo>
                  <a:pt x="1467" y="7"/>
                  <a:pt x="1467" y="778"/>
                  <a:pt x="1467" y="778"/>
                </a:cubicBezTo>
                <a:cubicBezTo>
                  <a:pt x="1467" y="778"/>
                  <a:pt x="1549" y="778"/>
                  <a:pt x="1549" y="778"/>
                </a:cubicBezTo>
                <a:moveTo>
                  <a:pt x="7" y="392"/>
                </a:moveTo>
                <a:cubicBezTo>
                  <a:pt x="7" y="392"/>
                  <a:pt x="1467" y="392"/>
                  <a:pt x="1467" y="392"/>
                </a:cubicBezTo>
              </a:path>
            </a:pathLst>
          </a:custGeom>
          <a:noFill/>
          <a:ln w="9414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" name="path 22"/>
          <p:cNvSpPr/>
          <p:nvPr/>
        </p:nvSpPr>
        <p:spPr>
          <a:xfrm>
            <a:off x="6898682" y="4853363"/>
            <a:ext cx="988703" cy="498981"/>
          </a:xfrm>
          <a:custGeom>
            <a:avLst/>
            <a:gdLst/>
            <a:ahLst/>
            <a:cxnLst/>
            <a:rect l="0" t="0" r="0" b="0"/>
            <a:pathLst>
              <a:path w="1557" h="785">
                <a:moveTo>
                  <a:pt x="1549" y="7"/>
                </a:moveTo>
                <a:cubicBezTo>
                  <a:pt x="1549" y="7"/>
                  <a:pt x="1467" y="7"/>
                  <a:pt x="1467" y="7"/>
                </a:cubicBezTo>
                <a:cubicBezTo>
                  <a:pt x="1467" y="7"/>
                  <a:pt x="1467" y="778"/>
                  <a:pt x="1467" y="778"/>
                </a:cubicBezTo>
                <a:cubicBezTo>
                  <a:pt x="1467" y="778"/>
                  <a:pt x="1549" y="778"/>
                  <a:pt x="1549" y="778"/>
                </a:cubicBezTo>
                <a:moveTo>
                  <a:pt x="7" y="392"/>
                </a:moveTo>
                <a:cubicBezTo>
                  <a:pt x="7" y="392"/>
                  <a:pt x="1467" y="392"/>
                  <a:pt x="1467" y="392"/>
                </a:cubicBezTo>
              </a:path>
            </a:pathLst>
          </a:custGeom>
          <a:noFill/>
          <a:ln w="9414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" name="path 24"/>
          <p:cNvSpPr/>
          <p:nvPr/>
        </p:nvSpPr>
        <p:spPr>
          <a:xfrm>
            <a:off x="6898682" y="3926263"/>
            <a:ext cx="988703" cy="498981"/>
          </a:xfrm>
          <a:custGeom>
            <a:avLst/>
            <a:gdLst/>
            <a:ahLst/>
            <a:cxnLst/>
            <a:rect l="0" t="0" r="0" b="0"/>
            <a:pathLst>
              <a:path w="1557" h="785">
                <a:moveTo>
                  <a:pt x="1549" y="7"/>
                </a:moveTo>
                <a:cubicBezTo>
                  <a:pt x="1549" y="7"/>
                  <a:pt x="1467" y="7"/>
                  <a:pt x="1467" y="7"/>
                </a:cubicBezTo>
                <a:cubicBezTo>
                  <a:pt x="1467" y="7"/>
                  <a:pt x="1467" y="778"/>
                  <a:pt x="1467" y="778"/>
                </a:cubicBezTo>
                <a:cubicBezTo>
                  <a:pt x="1467" y="778"/>
                  <a:pt x="1549" y="778"/>
                  <a:pt x="1549" y="778"/>
                </a:cubicBezTo>
                <a:moveTo>
                  <a:pt x="7" y="392"/>
                </a:moveTo>
                <a:cubicBezTo>
                  <a:pt x="7" y="392"/>
                  <a:pt x="1467" y="392"/>
                  <a:pt x="1467" y="392"/>
                </a:cubicBezTo>
              </a:path>
            </a:pathLst>
          </a:custGeom>
          <a:noFill/>
          <a:ln w="9414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" name="path 26"/>
          <p:cNvSpPr/>
          <p:nvPr/>
        </p:nvSpPr>
        <p:spPr>
          <a:xfrm>
            <a:off x="6898682" y="2427662"/>
            <a:ext cx="988703" cy="498981"/>
          </a:xfrm>
          <a:custGeom>
            <a:avLst/>
            <a:gdLst/>
            <a:ahLst/>
            <a:cxnLst/>
            <a:rect l="0" t="0" r="0" b="0"/>
            <a:pathLst>
              <a:path w="1557" h="785">
                <a:moveTo>
                  <a:pt x="1549" y="7"/>
                </a:moveTo>
                <a:cubicBezTo>
                  <a:pt x="1549" y="7"/>
                  <a:pt x="1467" y="7"/>
                  <a:pt x="1467" y="7"/>
                </a:cubicBezTo>
                <a:cubicBezTo>
                  <a:pt x="1467" y="7"/>
                  <a:pt x="1467" y="778"/>
                  <a:pt x="1467" y="778"/>
                </a:cubicBezTo>
                <a:cubicBezTo>
                  <a:pt x="1467" y="778"/>
                  <a:pt x="1549" y="778"/>
                  <a:pt x="1549" y="778"/>
                </a:cubicBezTo>
                <a:moveTo>
                  <a:pt x="7" y="392"/>
                </a:moveTo>
                <a:cubicBezTo>
                  <a:pt x="7" y="392"/>
                  <a:pt x="1467" y="392"/>
                  <a:pt x="1467" y="392"/>
                </a:cubicBezTo>
              </a:path>
            </a:pathLst>
          </a:custGeom>
          <a:noFill/>
          <a:ln w="9414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121956" y="614124"/>
            <a:ext cx="12513944" cy="8589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35075" algn="l" rtl="0" eaLnBrk="0">
              <a:lnSpc>
                <a:spcPts val="10335"/>
              </a:lnSpc>
            </a:pPr>
            <a:r>
              <a:rPr sz="6500" kern="0" spc="-21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Software Ar</a:t>
            </a:r>
            <a:r>
              <a:rPr sz="6500" kern="0" spc="-22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chitecture</a:t>
            </a:r>
            <a:r>
              <a:rPr sz="6500" kern="0" spc="44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6500" kern="0" spc="-22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</a:t>
            </a:r>
            <a:r>
              <a:rPr sz="6500" kern="0" spc="52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6500" kern="0" spc="-22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General</a:t>
            </a:r>
            <a:endParaRPr sz="65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7410" algn="l" rtl="0" eaLnBrk="0">
              <a:lnSpc>
                <a:spcPts val="4135"/>
              </a:lnSpc>
              <a:spcBef>
                <a:spcPts val="790"/>
              </a:spcBef>
              <a:tabLst>
                <a:tab pos="1211580" algn="l"/>
              </a:tabLst>
            </a:pPr>
            <a:r>
              <a:rPr sz="26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</a:t>
            </a:r>
            <a:r>
              <a:rPr sz="26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is</a:t>
            </a:r>
            <a:r>
              <a:rPr sz="26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softwar</a:t>
            </a:r>
            <a:r>
              <a:rPr sz="26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architecture?</a:t>
            </a:r>
            <a:endParaRPr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ts val="2915"/>
              </a:lnSpc>
              <a:spcBef>
                <a:spcPts val="700"/>
              </a:spcBef>
              <a:tabLst>
                <a:tab pos="1254760" algn="l"/>
              </a:tabLst>
            </a:pP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Structure,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Elements,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Relationships,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23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6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7410" algn="l" rtl="0" eaLnBrk="0">
              <a:lnSpc>
                <a:spcPts val="4135"/>
              </a:lnSpc>
              <a:spcBef>
                <a:spcPts val="785"/>
              </a:spcBef>
              <a:tabLst>
                <a:tab pos="1211580" algn="l"/>
              </a:tabLst>
            </a:pPr>
            <a:r>
              <a:rPr sz="26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does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26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software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do?</a:t>
            </a:r>
            <a:r>
              <a:rPr sz="2600" kern="0" spc="2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Liaison,</a:t>
            </a:r>
            <a:r>
              <a:rPr sz="23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Software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engineering, Tech.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nowledge,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Risk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mgmt.</a:t>
            </a:r>
            <a:endParaRPr sz="23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67410" algn="l" rtl="0" eaLnBrk="0">
              <a:lnSpc>
                <a:spcPts val="6700"/>
              </a:lnSpc>
              <a:tabLst>
                <a:tab pos="1211580" algn="l"/>
              </a:tabLst>
            </a:pPr>
            <a:r>
              <a:rPr sz="26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6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Where</a:t>
            </a:r>
            <a:r>
              <a:rPr sz="26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do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architectures</a:t>
            </a:r>
            <a:r>
              <a:rPr sz="26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come</a:t>
            </a:r>
            <a:r>
              <a:rPr sz="2600" kern="0" spc="1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fr</a:t>
            </a:r>
            <a:r>
              <a:rPr sz="2600" kern="0" spc="-1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om?</a:t>
            </a:r>
            <a:endParaRPr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67410" indent="6350" algn="l" rtl="0" eaLnBrk="0">
              <a:lnSpc>
                <a:spcPct val="217000"/>
              </a:lnSpc>
              <a:spcBef>
                <a:spcPts val="430"/>
              </a:spcBef>
              <a:tabLst>
                <a:tab pos="1211580" algn="l"/>
                <a:tab pos="1254760" algn="l"/>
              </a:tabLst>
            </a:pP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NFRs, ASRs,</a:t>
            </a:r>
            <a:r>
              <a:rPr sz="23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Quality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Requirements;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Stakeholders,</a:t>
            </a:r>
            <a:r>
              <a:rPr sz="23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Organisations, Technical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Environments</a:t>
            </a:r>
            <a:r>
              <a:rPr sz="2300" kern="0" spc="-4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…</a:t>
            </a:r>
            <a:r>
              <a:rPr sz="23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            </a:t>
            </a:r>
            <a:r>
              <a:rPr sz="26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6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Architecture</a:t>
            </a:r>
            <a:r>
              <a:rPr sz="2600" kern="0" spc="2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</a:t>
            </a:r>
            <a:r>
              <a:rPr sz="26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4+1) Views</a:t>
            </a:r>
            <a:endParaRPr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67410" indent="6350" algn="l" rtl="0" eaLnBrk="0">
              <a:lnSpc>
                <a:spcPct val="218000"/>
              </a:lnSpc>
              <a:spcBef>
                <a:spcPts val="420"/>
              </a:spcBef>
              <a:tabLst>
                <a:tab pos="1211580" algn="l"/>
                <a:tab pos="1254760" algn="l"/>
              </a:tabLst>
            </a:pPr>
            <a:r>
              <a:rPr sz="22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2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200" kern="0" spc="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2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Logical view,</a:t>
            </a:r>
            <a:r>
              <a:rPr sz="2200" kern="0" spc="2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ocess view,</a:t>
            </a:r>
            <a:r>
              <a:rPr sz="22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Physical view,</a:t>
            </a:r>
            <a:r>
              <a:rPr sz="22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2200" kern="0" spc="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view</a:t>
            </a:r>
            <a:r>
              <a:rPr sz="22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</a:t>
            </a:r>
            <a:r>
              <a:rPr sz="22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</a:t>
            </a:r>
            <a:r>
              <a:rPr sz="22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case</a:t>
            </a:r>
            <a:r>
              <a:rPr sz="22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scenarios</a:t>
            </a:r>
            <a:r>
              <a:rPr sz="2200" kern="0" spc="-3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…</a:t>
            </a:r>
            <a:r>
              <a:rPr sz="22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                         </a:t>
            </a:r>
            <a:r>
              <a:rPr sz="26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6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Architectural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activities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26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endParaRPr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" name="path 30"/>
          <p:cNvSpPr/>
          <p:nvPr/>
        </p:nvSpPr>
        <p:spPr>
          <a:xfrm>
            <a:off x="134656" y="868609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" name="path 32"/>
          <p:cNvSpPr/>
          <p:nvPr/>
        </p:nvSpPr>
        <p:spPr>
          <a:xfrm>
            <a:off x="134656" y="703509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" name="path 34"/>
          <p:cNvSpPr/>
          <p:nvPr/>
        </p:nvSpPr>
        <p:spPr>
          <a:xfrm>
            <a:off x="134656" y="538409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" name="path 36"/>
          <p:cNvSpPr/>
          <p:nvPr/>
        </p:nvSpPr>
        <p:spPr>
          <a:xfrm>
            <a:off x="134656" y="453319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" name="path 38"/>
          <p:cNvSpPr/>
          <p:nvPr/>
        </p:nvSpPr>
        <p:spPr>
          <a:xfrm>
            <a:off x="134656" y="288219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10410"/>
            <a:ext cx="12852400" cy="64020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91160" y="322580"/>
            <a:ext cx="6502400" cy="1402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67410" algn="l" rtl="0" eaLnBrk="0">
              <a:lnSpc>
                <a:spcPts val="4135"/>
              </a:lnSpc>
              <a:spcBef>
                <a:spcPts val="790"/>
              </a:spcBef>
              <a:tabLst>
                <a:tab pos="1211580" algn="l"/>
              </a:tabLst>
            </a:pPr>
            <a:r>
              <a:rPr sz="26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What</a:t>
            </a:r>
            <a:r>
              <a:rPr sz="26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is</a:t>
            </a:r>
            <a:r>
              <a:rPr sz="26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softwar</a:t>
            </a:r>
            <a:r>
              <a:rPr sz="26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e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architecture?</a:t>
            </a:r>
            <a:endParaRPr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ts val="2915"/>
              </a:lnSpc>
              <a:spcBef>
                <a:spcPts val="700"/>
              </a:spcBef>
              <a:tabLst>
                <a:tab pos="1254760" algn="l"/>
              </a:tabLst>
            </a:pPr>
            <a:r>
              <a:rPr sz="23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300" kern="0" spc="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Structure,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Elements,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Relationships,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Design</a:t>
            </a:r>
            <a:endParaRPr lang="zh-CN" altLang="en-US" sz="2300" kern="0" spc="-8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85900"/>
            <a:ext cx="12882880" cy="47440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0985" y="132080"/>
            <a:ext cx="10334625" cy="1252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67410" algn="l" rtl="0" eaLnBrk="0">
              <a:lnSpc>
                <a:spcPts val="4135"/>
              </a:lnSpc>
              <a:spcBef>
                <a:spcPts val="785"/>
              </a:spcBef>
              <a:tabLst>
                <a:tab pos="1211580" algn="l"/>
              </a:tabLst>
            </a:pP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What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does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</a:t>
            </a:r>
            <a:r>
              <a:rPr sz="26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software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architect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do?</a:t>
            </a:r>
            <a:r>
              <a:rPr sz="2600" kern="0" spc="2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endParaRPr sz="2600" kern="0" spc="23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  <a:p>
            <a:pPr marL="867410" algn="l" rtl="0" eaLnBrk="0">
              <a:lnSpc>
                <a:spcPts val="4135"/>
              </a:lnSpc>
              <a:spcBef>
                <a:spcPts val="785"/>
              </a:spcBef>
              <a:tabLst>
                <a:tab pos="1211580" algn="l"/>
              </a:tabLst>
            </a:pP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Liaison,</a:t>
            </a:r>
            <a:r>
              <a:rPr sz="23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Software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engineering, Tech.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k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nowledge,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Risk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mgmt.</a:t>
            </a:r>
            <a:endParaRPr lang="zh-CN" altLang="en-US" sz="2300" kern="0" spc="-10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0495" y="382270"/>
            <a:ext cx="12382500" cy="1772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67410" algn="l" rtl="0" eaLnBrk="0">
              <a:lnSpc>
                <a:spcPts val="6700"/>
              </a:lnSpc>
              <a:tabLst>
                <a:tab pos="1211580" algn="l"/>
              </a:tabLst>
            </a:pPr>
            <a:r>
              <a:rPr sz="26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6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Where</a:t>
            </a:r>
            <a:r>
              <a:rPr sz="26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do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architectures</a:t>
            </a:r>
            <a:r>
              <a:rPr sz="26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come</a:t>
            </a:r>
            <a:r>
              <a:rPr sz="2600" kern="0" spc="1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fr</a:t>
            </a:r>
            <a:r>
              <a:rPr sz="2600" kern="0" spc="-1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om?</a:t>
            </a:r>
            <a:endParaRPr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67410" indent="6350" algn="l" rtl="0" eaLnBrk="0">
              <a:lnSpc>
                <a:spcPct val="217000"/>
              </a:lnSpc>
              <a:spcBef>
                <a:spcPts val="430"/>
              </a:spcBef>
              <a:tabLst>
                <a:tab pos="1211580" algn="l"/>
                <a:tab pos="1254760" algn="l"/>
              </a:tabLst>
            </a:pPr>
            <a:r>
              <a:rPr sz="23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	</a:t>
            </a:r>
            <a:r>
              <a:rPr sz="2300" kern="0" spc="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NFRs, ASRs,</a:t>
            </a:r>
            <a:r>
              <a:rPr sz="23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Quality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Requirements;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Stakeholders,</a:t>
            </a:r>
            <a:r>
              <a:rPr sz="23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Organisations, Technical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Environments</a:t>
            </a:r>
            <a:r>
              <a:rPr sz="2300" kern="0" spc="-4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…</a:t>
            </a:r>
            <a:r>
              <a:rPr sz="23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  </a:t>
            </a:r>
            <a:endParaRPr lang="zh-CN" altLang="en-US" sz="2300" kern="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1135" y="160020"/>
            <a:ext cx="12622530" cy="1751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67410" indent="6350" algn="l" rtl="0" eaLnBrk="0">
              <a:lnSpc>
                <a:spcPct val="217000"/>
              </a:lnSpc>
              <a:spcBef>
                <a:spcPts val="430"/>
              </a:spcBef>
              <a:tabLst>
                <a:tab pos="1211580" algn="l"/>
                <a:tab pos="1254760" algn="l"/>
              </a:tabLst>
            </a:pPr>
            <a:r>
              <a:rPr sz="26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6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Architecture</a:t>
            </a:r>
            <a:r>
              <a:rPr sz="2600" kern="0" spc="2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(</a:t>
            </a:r>
            <a:r>
              <a:rPr sz="26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4+1) Views</a:t>
            </a:r>
            <a:endParaRPr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67410" indent="6350" algn="l" rtl="0" eaLnBrk="0">
              <a:lnSpc>
                <a:spcPct val="218000"/>
              </a:lnSpc>
              <a:spcBef>
                <a:spcPts val="420"/>
              </a:spcBef>
              <a:tabLst>
                <a:tab pos="1211580" algn="l"/>
                <a:tab pos="1254760" algn="l"/>
              </a:tabLst>
            </a:pPr>
            <a:r>
              <a:rPr sz="22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	</a:t>
            </a:r>
            <a:r>
              <a:rPr sz="2200" kern="0" spc="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</a:t>
            </a:r>
            <a:r>
              <a:rPr sz="22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Logical view,</a:t>
            </a:r>
            <a:r>
              <a:rPr sz="2200" kern="0" spc="2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2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Pr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ocess view,</a:t>
            </a:r>
            <a:r>
              <a:rPr sz="22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Physical view,</a:t>
            </a:r>
            <a:r>
              <a:rPr sz="22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Development</a:t>
            </a:r>
            <a:r>
              <a:rPr sz="2200" kern="0" spc="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view</a:t>
            </a:r>
            <a:r>
              <a:rPr sz="22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+</a:t>
            </a:r>
            <a:r>
              <a:rPr sz="22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Use</a:t>
            </a:r>
            <a:r>
              <a:rPr sz="22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case</a:t>
            </a:r>
            <a:r>
              <a:rPr sz="22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scenarios</a:t>
            </a:r>
            <a:r>
              <a:rPr sz="2200" kern="0" spc="-3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…</a:t>
            </a:r>
            <a:r>
              <a:rPr sz="22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  </a:t>
            </a:r>
            <a:endParaRPr lang="zh-CN" altLang="en-US" sz="2200" kern="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615" y="2152650"/>
            <a:ext cx="10896600" cy="67722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2280" y="5904230"/>
            <a:ext cx="500761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01320" y="190500"/>
            <a:ext cx="6502400" cy="963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67410" indent="6350" algn="l" rtl="0" eaLnBrk="0">
              <a:lnSpc>
                <a:spcPct val="218000"/>
              </a:lnSpc>
              <a:spcBef>
                <a:spcPts val="420"/>
              </a:spcBef>
              <a:tabLst>
                <a:tab pos="1211580" algn="l"/>
                <a:tab pos="1254760" algn="l"/>
              </a:tabLst>
            </a:pPr>
            <a:r>
              <a:rPr sz="26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6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Architectural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activities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and</a:t>
            </a:r>
            <a:r>
              <a:rPr sz="26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process</a:t>
            </a:r>
            <a:endParaRPr lang="zh-CN" altLang="en-US" sz="2600" kern="0" spc="-9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70075"/>
            <a:ext cx="13005435" cy="47701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65" y="6561455"/>
            <a:ext cx="10567670" cy="2927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157684" y="2844800"/>
            <a:ext cx="10261600" cy="6096000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1309116" y="797004"/>
            <a:ext cx="6328409" cy="876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6400" kern="0" spc="-2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Architecture</a:t>
            </a:r>
            <a:r>
              <a:rPr sz="6400" kern="0" spc="66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6400" kern="0" spc="-26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endParaRPr sz="6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60" y="1236345"/>
            <a:ext cx="12884785" cy="73107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4"/>
          <p:cNvSpPr/>
          <p:nvPr/>
        </p:nvSpPr>
        <p:spPr>
          <a:xfrm>
            <a:off x="121956" y="614124"/>
            <a:ext cx="12353290" cy="8211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42060" algn="l" rtl="0" eaLnBrk="0">
              <a:lnSpc>
                <a:spcPts val="10335"/>
              </a:lnSpc>
            </a:pPr>
            <a:r>
              <a:rPr sz="6500" kern="0" spc="-20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Quality Attributes</a:t>
            </a:r>
            <a:r>
              <a:rPr sz="6500" kern="0" spc="54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6500" kern="0" spc="-20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&amp;</a:t>
            </a:r>
            <a:r>
              <a:rPr sz="6500" kern="0" spc="-21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Tactics</a:t>
            </a:r>
            <a:endParaRPr sz="65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7410" algn="l" rtl="0" eaLnBrk="0">
              <a:lnSpc>
                <a:spcPts val="3345"/>
              </a:lnSpc>
              <a:spcBef>
                <a:spcPts val="780"/>
              </a:spcBef>
              <a:tabLst>
                <a:tab pos="1225550" algn="l"/>
              </a:tabLst>
            </a:pPr>
            <a:r>
              <a:rPr sz="26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Software</a:t>
            </a:r>
            <a:r>
              <a:rPr sz="2600" kern="0" spc="3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Requirements</a:t>
            </a:r>
            <a:endParaRPr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8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ts val="3615"/>
              </a:lnSpc>
              <a:spcBef>
                <a:spcPts val="690"/>
              </a:spcBef>
              <a:tabLst>
                <a:tab pos="1254760" algn="l"/>
              </a:tabLst>
            </a:pP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Functional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requirements,</a:t>
            </a:r>
            <a:r>
              <a:rPr sz="23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Quality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requir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ements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(~NFRs),</a:t>
            </a:r>
            <a:r>
              <a:rPr sz="23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Constraints</a:t>
            </a:r>
            <a:endParaRPr sz="23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67410" algn="l" rtl="0" eaLnBrk="0">
              <a:lnSpc>
                <a:spcPts val="6715"/>
              </a:lnSpc>
              <a:tabLst>
                <a:tab pos="1228725" algn="l"/>
              </a:tabLst>
            </a:pPr>
            <a:r>
              <a:rPr sz="26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6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Quality Attributes</a:t>
            </a:r>
            <a:r>
              <a:rPr sz="26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&amp; Tactics</a:t>
            </a:r>
            <a:endParaRPr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6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ts val="3615"/>
              </a:lnSpc>
              <a:spcBef>
                <a:spcPts val="700"/>
              </a:spcBef>
              <a:tabLst>
                <a:tab pos="1254760" algn="l"/>
              </a:tabLst>
            </a:pP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Internal vs.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Externa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 Attributes</a:t>
            </a:r>
            <a:endParaRPr sz="23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73760" algn="l" rtl="0" eaLnBrk="0">
              <a:lnSpc>
                <a:spcPct val="223000"/>
              </a:lnSpc>
              <a:spcBef>
                <a:spcPts val="580"/>
              </a:spcBef>
              <a:tabLst>
                <a:tab pos="1254760" algn="l"/>
              </a:tabLst>
            </a:pP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Modeling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quality</a:t>
            </a:r>
            <a:r>
              <a:rPr sz="23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attribute</a:t>
            </a:r>
            <a:r>
              <a:rPr sz="23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scenarios: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Source,</a:t>
            </a:r>
            <a:r>
              <a:rPr sz="23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Stimulus, Artefact,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Environment,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Response,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Measure</a:t>
            </a:r>
            <a:r>
              <a:rPr sz="23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Availability,</a:t>
            </a:r>
            <a:r>
              <a:rPr sz="23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Interoperability,</a:t>
            </a:r>
            <a:r>
              <a:rPr sz="23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Modiﬁabili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ty,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Performance,</a:t>
            </a:r>
            <a:r>
              <a:rPr sz="23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Security, Testability,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Usability, X-ability…</a:t>
            </a:r>
            <a:r>
              <a:rPr sz="23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</a:t>
            </a: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Tactics</a:t>
            </a:r>
            <a:r>
              <a:rPr sz="2300" kern="0" spc="1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quality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attributes</a:t>
            </a:r>
            <a:endParaRPr sz="23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5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ts val="3615"/>
              </a:lnSpc>
              <a:spcBef>
                <a:spcPts val="0"/>
              </a:spcBef>
              <a:tabLst>
                <a:tab pos="1254760" algn="l"/>
              </a:tabLst>
            </a:pP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Categories</a:t>
            </a:r>
            <a:r>
              <a:rPr sz="23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of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ecture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decisions</a:t>
            </a:r>
            <a:endParaRPr sz="23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" name="path 46"/>
          <p:cNvSpPr/>
          <p:nvPr/>
        </p:nvSpPr>
        <p:spPr>
          <a:xfrm>
            <a:off x="134656" y="432999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" name="path 48"/>
          <p:cNvSpPr/>
          <p:nvPr/>
        </p:nvSpPr>
        <p:spPr>
          <a:xfrm>
            <a:off x="134656" y="2678994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30175" y="72390"/>
            <a:ext cx="12151995" cy="1071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67410" algn="l" rtl="0" eaLnBrk="0">
              <a:lnSpc>
                <a:spcPts val="3345"/>
              </a:lnSpc>
              <a:spcBef>
                <a:spcPts val="780"/>
              </a:spcBef>
              <a:tabLst>
                <a:tab pos="1225550" algn="l"/>
              </a:tabLst>
            </a:pPr>
            <a:r>
              <a:rPr sz="26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Software</a:t>
            </a:r>
            <a:r>
              <a:rPr sz="2600" kern="0" spc="3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Requirements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ts val="3615"/>
              </a:lnSpc>
              <a:spcBef>
                <a:spcPts val="690"/>
              </a:spcBef>
              <a:tabLst>
                <a:tab pos="1254760" algn="l"/>
              </a:tabLst>
            </a:pPr>
            <a:r>
              <a:rPr sz="23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300" kern="0" spc="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Functional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requirements,</a:t>
            </a:r>
            <a:r>
              <a:rPr sz="23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Quality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requir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ements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(~NFRs),</a:t>
            </a:r>
            <a:r>
              <a:rPr sz="23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Constraints</a:t>
            </a:r>
            <a:endParaRPr lang="zh-CN" altLang="en-US" sz="2300" kern="0" spc="-7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0175" y="1103630"/>
            <a:ext cx="4335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功能性需求</a:t>
            </a:r>
            <a:r>
              <a:rPr lang="en-US" altLang="zh-CN"/>
              <a:t> Functional Requirements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75" y="1471930"/>
            <a:ext cx="11367135" cy="36671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0175" y="5139055"/>
            <a:ext cx="74923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</a:rPr>
              <a:t>2.</a:t>
            </a:r>
            <a:r>
              <a:rPr lang="zh-CN" altLang="en-US" sz="1600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</a:rPr>
              <a:t>质量需求</a:t>
            </a:r>
            <a:r>
              <a:rPr lang="zh-CN" altLang="en-US" sz="1600">
                <a:solidFill>
                  <a:srgbClr val="000000"/>
                </a:solidFill>
                <a:latin typeface="Segoe UI" panose="020B0502040204020203"/>
                <a:ea typeface="Segoe UI" panose="020B0502040204020203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Segoe UI" panose="020B0502040204020203"/>
                <a:ea typeface="Segoe UI" panose="020B0502040204020203"/>
              </a:rPr>
              <a:t>Quality Requirements/</a:t>
            </a:r>
            <a:r>
              <a:rPr lang="zh-CN" altLang="en-US" sz="1600">
                <a:solidFill>
                  <a:srgbClr val="000000"/>
                </a:solidFill>
                <a:latin typeface="Segoe UI" panose="020B0502040204020203"/>
                <a:ea typeface="Segoe UI" panose="020B0502040204020203"/>
              </a:rPr>
              <a:t>质量属性</a:t>
            </a:r>
            <a:r>
              <a:rPr lang="en-US" altLang="zh-CN" sz="1600">
                <a:solidFill>
                  <a:srgbClr val="000000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Segoe UI" panose="020B0502040204020203"/>
                <a:ea typeface="Segoe UI" panose="020B0502040204020203"/>
              </a:rPr>
              <a:t>体系结构</a:t>
            </a:r>
            <a:r>
              <a:rPr lang="zh-CN" altLang="en-US" sz="1600">
                <a:solidFill>
                  <a:srgbClr val="000000"/>
                </a:solidFill>
                <a:latin typeface="Segoe UI" panose="020B0502040204020203"/>
                <a:ea typeface="Segoe UI" panose="020B0502040204020203"/>
              </a:rPr>
              <a:t>要求</a:t>
            </a:r>
            <a:endParaRPr lang="zh-CN" altLang="en-US" sz="1600">
              <a:solidFill>
                <a:srgbClr val="000000"/>
              </a:solidFill>
              <a:latin typeface="Segoe UI" panose="020B0502040204020203"/>
              <a:ea typeface="Segoe UI" panose="020B0502040204020203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" y="5507355"/>
            <a:ext cx="10391775" cy="24307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2075" y="778605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</a:rPr>
              <a:t>3.</a:t>
            </a:r>
            <a:r>
              <a:rPr lang="zh-CN" altLang="en-US" sz="1600">
                <a:solidFill>
                  <a:srgbClr val="000000"/>
                </a:solidFill>
                <a:latin typeface="Microsoft YaHei UI" panose="020B0503020204020204" charset="-122"/>
                <a:ea typeface="Microsoft YaHei UI" panose="020B0503020204020204" charset="-122"/>
              </a:rPr>
              <a:t>约束</a:t>
            </a:r>
            <a:r>
              <a:rPr lang="zh-CN" altLang="en-US" sz="1600">
                <a:solidFill>
                  <a:srgbClr val="000000"/>
                </a:solidFill>
                <a:latin typeface="Segoe UI" panose="020B0502040204020203"/>
                <a:ea typeface="Segoe UI" panose="020B0502040204020203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Segoe UI" panose="020B0502040204020203"/>
                <a:ea typeface="Segoe UI" panose="020B0502040204020203"/>
              </a:rPr>
              <a:t>Constraints</a:t>
            </a:r>
            <a:endParaRPr lang="en-US" altLang="zh-CN" sz="1600">
              <a:solidFill>
                <a:srgbClr val="000000"/>
              </a:solidFill>
              <a:latin typeface="Segoe UI" panose="020B0502040204020203"/>
              <a:ea typeface="Segoe UI" panose="020B0502040204020203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75" y="8161655"/>
            <a:ext cx="10715625" cy="15906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-341630" y="184150"/>
            <a:ext cx="13256260" cy="49866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67410" algn="l" rtl="0" eaLnBrk="0">
              <a:lnSpc>
                <a:spcPts val="6715"/>
              </a:lnSpc>
              <a:tabLst>
                <a:tab pos="1228725" algn="l"/>
              </a:tabLst>
            </a:pPr>
            <a:r>
              <a:rPr sz="26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6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Quality Attributes</a:t>
            </a:r>
            <a:r>
              <a:rPr sz="26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&amp; Tactics</a:t>
            </a:r>
            <a:endParaRPr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6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ts val="3615"/>
              </a:lnSpc>
              <a:spcBef>
                <a:spcPts val="700"/>
              </a:spcBef>
              <a:tabLst>
                <a:tab pos="1254760" algn="l"/>
              </a:tabLst>
            </a:pPr>
            <a:r>
              <a:rPr sz="23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300" kern="0" spc="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Internal vs.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Externa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l Attributes</a:t>
            </a:r>
            <a:endParaRPr sz="23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73760" algn="l" rtl="0" eaLnBrk="0">
              <a:lnSpc>
                <a:spcPct val="223000"/>
              </a:lnSpc>
              <a:spcBef>
                <a:spcPts val="580"/>
              </a:spcBef>
              <a:tabLst>
                <a:tab pos="1254760" algn="l"/>
              </a:tabLst>
            </a:pPr>
            <a:r>
              <a:rPr sz="23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300" kern="0" spc="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Modeling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quality</a:t>
            </a:r>
            <a:r>
              <a:rPr sz="23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attribute</a:t>
            </a:r>
            <a:r>
              <a:rPr sz="23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scenarios: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Source,</a:t>
            </a:r>
            <a:r>
              <a:rPr sz="23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Stimulus, Artefact,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Environment,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Response,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Measure</a:t>
            </a:r>
            <a:r>
              <a:rPr sz="23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300" kern="0" spc="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Availability,</a:t>
            </a:r>
            <a:r>
              <a:rPr sz="23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Interoperability,</a:t>
            </a:r>
            <a:r>
              <a:rPr sz="23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Modiﬁabili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ty,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Performance,</a:t>
            </a:r>
            <a:r>
              <a:rPr sz="23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Security, Testability,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Usability, X-ability…</a:t>
            </a:r>
            <a:r>
              <a:rPr sz="23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</a:t>
            </a:r>
            <a:r>
              <a:rPr sz="23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300" kern="0" spc="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Tactics</a:t>
            </a:r>
            <a:r>
              <a:rPr sz="2300" kern="0" spc="1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for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quality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attributes</a:t>
            </a:r>
            <a:endParaRPr sz="23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5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ts val="3615"/>
              </a:lnSpc>
              <a:spcBef>
                <a:spcPts val="0"/>
              </a:spcBef>
              <a:tabLst>
                <a:tab pos="1254760" algn="l"/>
              </a:tabLst>
            </a:pPr>
            <a:r>
              <a:rPr sz="23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300" kern="0" spc="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Categories</a:t>
            </a:r>
            <a:r>
              <a:rPr sz="23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of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archit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ecture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design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decisions</a:t>
            </a:r>
            <a:endParaRPr lang="zh-CN" altLang="en-US" sz="2300" kern="0" spc="-9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" y="5605145"/>
            <a:ext cx="11134725" cy="25050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9235" y="127000"/>
            <a:ext cx="8330565" cy="42989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200" b="1">
                <a:solidFill>
                  <a:srgbClr val="000000"/>
                </a:solidFill>
                <a:latin typeface="MicrosoftYaHeiUI-Bold"/>
                <a:ea typeface="MicrosoftYaHeiUI-Bold"/>
              </a:rPr>
              <a:t>质量属性方案建模</a:t>
            </a:r>
            <a:r>
              <a:rPr lang="zh-CN" altLang="en-US" sz="2200" b="1">
                <a:solidFill>
                  <a:srgbClr val="000000"/>
                </a:solidFill>
                <a:latin typeface="SegoeUI-Bold"/>
                <a:ea typeface="SegoeUI-Bold"/>
              </a:rPr>
              <a:t> </a:t>
            </a:r>
            <a:r>
              <a:rPr lang="en-US" altLang="zh-CN" sz="2200" b="1">
                <a:solidFill>
                  <a:srgbClr val="000000"/>
                </a:solidFill>
                <a:latin typeface="SegoeUI-Bold"/>
                <a:ea typeface="SegoeUI-Bold"/>
              </a:rPr>
              <a:t>Modeling Quality Attribute Scenarios</a:t>
            </a:r>
            <a:endParaRPr lang="en-US" altLang="zh-CN" sz="2200" b="1">
              <a:solidFill>
                <a:srgbClr val="000000"/>
              </a:solidFill>
              <a:latin typeface="SegoeUI-Bold"/>
              <a:ea typeface="SegoeUI-Bold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235" y="661035"/>
            <a:ext cx="10576560" cy="56997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0" y="6360795"/>
            <a:ext cx="8963025" cy="3392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66700" y="206375"/>
            <a:ext cx="12255500" cy="445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Availability,</a:t>
            </a:r>
            <a:r>
              <a:rPr sz="23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Interoperability,</a:t>
            </a:r>
            <a:r>
              <a:rPr sz="23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Modiﬁabili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ty,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Performance,</a:t>
            </a:r>
            <a:r>
              <a:rPr sz="23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Security, Testability,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Usability, X-ability…</a:t>
            </a:r>
            <a:r>
              <a:rPr sz="23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</a:t>
            </a:r>
            <a:r>
              <a:rPr sz="23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300" kern="0" spc="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</a:t>
            </a:r>
            <a:endParaRPr lang="zh-CN" altLang="en-US" sz="2300" kern="0" spc="-8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6700" y="651510"/>
            <a:ext cx="433514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每一个</a:t>
            </a:r>
            <a:r>
              <a:rPr lang="zh-CN" altLang="en-US" sz="2400"/>
              <a:t>质量属性的详细解释：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概念</a:t>
            </a:r>
            <a:endParaRPr lang="zh-CN" altLang="en-US" sz="2400"/>
          </a:p>
          <a:p>
            <a:r>
              <a:rPr lang="zh-CN" altLang="en-US" sz="2400"/>
              <a:t>计算方式</a:t>
            </a:r>
            <a:endParaRPr lang="zh-CN" altLang="en-US" sz="2400"/>
          </a:p>
          <a:p>
            <a:r>
              <a:rPr lang="zh-CN" altLang="en-US" sz="2400"/>
              <a:t>建模质量属性</a:t>
            </a:r>
            <a:r>
              <a:rPr lang="zh-CN" altLang="en-US" sz="2400"/>
              <a:t>场景</a:t>
            </a:r>
            <a:endParaRPr lang="zh-CN" altLang="en-US" sz="2400"/>
          </a:p>
          <a:p>
            <a:r>
              <a:rPr lang="zh-CN" altLang="en-US" sz="2400"/>
              <a:t>通用方案，见打印</a:t>
            </a:r>
            <a:r>
              <a:rPr lang="zh-CN" altLang="en-US" sz="2400"/>
              <a:t>材料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485" y="3179445"/>
            <a:ext cx="11116310" cy="6540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320" y="204470"/>
            <a:ext cx="9915525" cy="93440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44500" y="551815"/>
            <a:ext cx="6502400" cy="445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Tactics</a:t>
            </a:r>
            <a:r>
              <a:rPr sz="2300" kern="0" spc="1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for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quality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attributes</a:t>
            </a:r>
            <a:endParaRPr lang="zh-CN" altLang="en-US" sz="2300" kern="0" spc="-8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00" y="1275080"/>
            <a:ext cx="12268200" cy="8275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04620"/>
            <a:ext cx="12745720" cy="70872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2900" y="446405"/>
            <a:ext cx="6502400" cy="554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73760" algn="l" rtl="0" eaLnBrk="0">
              <a:lnSpc>
                <a:spcPts val="3615"/>
              </a:lnSpc>
              <a:spcBef>
                <a:spcPts val="0"/>
              </a:spcBef>
              <a:tabLst>
                <a:tab pos="1254760" algn="l"/>
              </a:tabLst>
            </a:pPr>
            <a:r>
              <a:rPr sz="23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300" kern="0" spc="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Categories</a:t>
            </a:r>
            <a:r>
              <a:rPr sz="23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of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archit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ecture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design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decisions</a:t>
            </a:r>
            <a:endParaRPr lang="zh-CN" altLang="en-US" sz="2300" kern="0" spc="-9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/>
          <p:cNvSpPr/>
          <p:nvPr/>
        </p:nvSpPr>
        <p:spPr>
          <a:xfrm>
            <a:off x="120684" y="797004"/>
            <a:ext cx="12162155" cy="8768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00785" algn="l" rtl="0" eaLnBrk="0">
              <a:lnSpc>
                <a:spcPct val="86000"/>
              </a:lnSpc>
            </a:pPr>
            <a:r>
              <a:rPr sz="6500" kern="0" spc="-24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Architecture</a:t>
            </a:r>
            <a:r>
              <a:rPr sz="6500" kern="0" spc="6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6500" kern="0" spc="-24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Patterns</a:t>
            </a:r>
            <a:endParaRPr sz="65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4070" algn="l" rtl="0" eaLnBrk="0">
              <a:lnSpc>
                <a:spcPct val="87000"/>
              </a:lnSpc>
              <a:spcBef>
                <a:spcPts val="720"/>
              </a:spcBef>
              <a:tabLst>
                <a:tab pos="1212850" algn="l"/>
              </a:tabLst>
            </a:pPr>
            <a:r>
              <a:rPr sz="24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4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</a:t>
            </a:r>
            <a:r>
              <a:rPr sz="24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ure</a:t>
            </a:r>
            <a:r>
              <a:rPr sz="24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4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Patterns</a:t>
            </a:r>
            <a:endParaRPr sz="2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2490" algn="l" rtl="0" eaLnBrk="0">
              <a:lnSpc>
                <a:spcPts val="3100"/>
              </a:lnSpc>
              <a:spcBef>
                <a:spcPts val="575"/>
              </a:spcBef>
              <a:tabLst>
                <a:tab pos="1198880" algn="l"/>
              </a:tabLst>
            </a:pPr>
            <a:r>
              <a:rPr sz="19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900" kern="0" spc="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Context,</a:t>
            </a:r>
            <a:r>
              <a:rPr sz="19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Problem,</a:t>
            </a:r>
            <a:r>
              <a:rPr sz="19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Solution:</a:t>
            </a:r>
            <a:r>
              <a:rPr sz="19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elements</a:t>
            </a:r>
            <a:r>
              <a:rPr sz="19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</a:t>
            </a:r>
            <a:r>
              <a:rPr sz="19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rela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tions</a:t>
            </a:r>
            <a:r>
              <a:rPr sz="19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</a:t>
            </a:r>
            <a:r>
              <a:rPr sz="19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constraints</a:t>
            </a:r>
            <a:endParaRPr sz="19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14070" algn="l" rtl="0" eaLnBrk="0">
              <a:lnSpc>
                <a:spcPts val="5555"/>
              </a:lnSpc>
              <a:spcBef>
                <a:spcPts val="240"/>
              </a:spcBef>
              <a:tabLst>
                <a:tab pos="1224280" algn="l"/>
              </a:tabLst>
            </a:pPr>
            <a:r>
              <a:rPr sz="24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4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</a:t>
            </a:r>
            <a:r>
              <a:rPr sz="2400" kern="0" spc="2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4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</a:t>
            </a:r>
            <a:r>
              <a:rPr sz="24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erns</a:t>
            </a:r>
            <a:endParaRPr sz="2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2490" algn="l" rtl="0" eaLnBrk="0">
              <a:lnSpc>
                <a:spcPts val="3100"/>
              </a:lnSpc>
              <a:spcBef>
                <a:spcPts val="575"/>
              </a:spcBef>
              <a:tabLst>
                <a:tab pos="1198880" algn="l"/>
              </a:tabLst>
            </a:pPr>
            <a:r>
              <a:rPr sz="19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900" kern="0" spc="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Layered</a:t>
            </a:r>
            <a:r>
              <a:rPr sz="1900" kern="0" spc="2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</a:t>
            </a:r>
            <a:r>
              <a:rPr sz="19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(mic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ro-kernel</a:t>
            </a:r>
            <a:r>
              <a:rPr sz="19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pattern)</a:t>
            </a:r>
            <a:endParaRPr sz="19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14070" algn="l" rtl="0" eaLnBrk="0">
              <a:lnSpc>
                <a:spcPts val="5955"/>
              </a:lnSpc>
              <a:spcBef>
                <a:spcPts val="440"/>
              </a:spcBef>
              <a:tabLst>
                <a:tab pos="1228725" algn="l"/>
              </a:tabLst>
            </a:pPr>
            <a:r>
              <a:rPr sz="24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4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Component-Connector</a:t>
            </a:r>
            <a:r>
              <a:rPr sz="2400" kern="0" spc="2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4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Patterns</a:t>
            </a:r>
            <a:endParaRPr sz="2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9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77010" indent="-604520" algn="l" rtl="0" eaLnBrk="0">
              <a:lnSpc>
                <a:spcPct val="136000"/>
              </a:lnSpc>
              <a:spcBef>
                <a:spcPts val="575"/>
              </a:spcBef>
              <a:tabLst>
                <a:tab pos="1198880" algn="l"/>
              </a:tabLst>
            </a:pPr>
            <a:r>
              <a:rPr sz="19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900" kern="0" spc="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9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Broker</a:t>
            </a:r>
            <a:r>
              <a:rPr sz="19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pattern,</a:t>
            </a:r>
            <a:r>
              <a:rPr sz="19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Model-view-controller</a:t>
            </a:r>
            <a:r>
              <a:rPr sz="19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pattern,</a:t>
            </a:r>
            <a:r>
              <a:rPr sz="19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Pipe-and-Þlter</a:t>
            </a:r>
            <a:r>
              <a:rPr sz="19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pattern,</a:t>
            </a:r>
            <a:r>
              <a:rPr sz="19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Client-server</a:t>
            </a:r>
            <a:r>
              <a:rPr sz="19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pattern,</a:t>
            </a:r>
            <a:r>
              <a:rPr sz="19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Peer-</a:t>
            </a:r>
            <a:r>
              <a:rPr sz="19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to-peer</a:t>
            </a:r>
            <a:r>
              <a:rPr sz="19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pattern,</a:t>
            </a:r>
            <a:r>
              <a:rPr sz="19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Service-oriented</a:t>
            </a:r>
            <a:r>
              <a:rPr sz="19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pattern,</a:t>
            </a:r>
            <a:r>
              <a:rPr sz="19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Publish-subscribe</a:t>
            </a:r>
            <a:r>
              <a:rPr sz="19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pattern,</a:t>
            </a:r>
            <a:r>
              <a:rPr sz="19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Share-data</a:t>
            </a:r>
            <a:r>
              <a:rPr sz="19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</a:t>
            </a:r>
            <a:endParaRPr sz="19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4070" algn="l" rtl="0" eaLnBrk="0">
              <a:lnSpc>
                <a:spcPct val="87000"/>
              </a:lnSpc>
              <a:spcBef>
                <a:spcPts val="725"/>
              </a:spcBef>
              <a:tabLst>
                <a:tab pos="1212850" algn="l"/>
              </a:tabLst>
            </a:pPr>
            <a:r>
              <a:rPr sz="24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Allocation</a:t>
            </a:r>
            <a:r>
              <a:rPr sz="2400" kern="0" spc="3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Patterns</a:t>
            </a:r>
            <a:endParaRPr sz="2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2490" algn="l" rtl="0" eaLnBrk="0">
              <a:lnSpc>
                <a:spcPts val="3100"/>
              </a:lnSpc>
              <a:spcBef>
                <a:spcPts val="575"/>
              </a:spcBef>
              <a:tabLst>
                <a:tab pos="1198880" algn="l"/>
              </a:tabLst>
            </a:pPr>
            <a:r>
              <a:rPr sz="19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9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9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Map-reduce</a:t>
            </a:r>
            <a:r>
              <a:rPr sz="19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pattern,</a:t>
            </a:r>
            <a:r>
              <a:rPr sz="19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Multi-ti</a:t>
            </a:r>
            <a:r>
              <a:rPr sz="19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</a:t>
            </a:r>
            <a:r>
              <a:rPr sz="19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</a:t>
            </a:r>
            <a:endParaRPr sz="19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14070" algn="l" rtl="0" eaLnBrk="0">
              <a:lnSpc>
                <a:spcPts val="5325"/>
              </a:lnSpc>
              <a:spcBef>
                <a:spcPts val="470"/>
              </a:spcBef>
              <a:tabLst>
                <a:tab pos="1233805" algn="l"/>
              </a:tabLst>
            </a:pPr>
            <a:r>
              <a:rPr sz="24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Patterns vs.</a:t>
            </a:r>
            <a:r>
              <a:rPr sz="2400" kern="0" spc="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Tact</a:t>
            </a:r>
            <a:r>
              <a:rPr sz="24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ics</a:t>
            </a:r>
            <a:endParaRPr sz="2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path 52"/>
          <p:cNvSpPr/>
          <p:nvPr/>
        </p:nvSpPr>
        <p:spPr>
          <a:xfrm>
            <a:off x="133384" y="9147308"/>
            <a:ext cx="801651" cy="404579"/>
          </a:xfrm>
          <a:custGeom>
            <a:avLst/>
            <a:gdLst/>
            <a:ahLst/>
            <a:cxnLst/>
            <a:rect l="0" t="0" r="0" b="0"/>
            <a:pathLst>
              <a:path w="1262" h="637">
                <a:moveTo>
                  <a:pt x="1256" y="6"/>
                </a:moveTo>
                <a:cubicBezTo>
                  <a:pt x="1256" y="6"/>
                  <a:pt x="1190" y="6"/>
                  <a:pt x="1190" y="6"/>
                </a:cubicBezTo>
                <a:cubicBezTo>
                  <a:pt x="1190" y="6"/>
                  <a:pt x="1190" y="631"/>
                  <a:pt x="1190" y="631"/>
                </a:cubicBezTo>
                <a:cubicBezTo>
                  <a:pt x="1190" y="631"/>
                  <a:pt x="1256" y="631"/>
                  <a:pt x="1256" y="631"/>
                </a:cubicBezTo>
                <a:moveTo>
                  <a:pt x="6" y="318"/>
                </a:moveTo>
                <a:cubicBezTo>
                  <a:pt x="6" y="318"/>
                  <a:pt x="1190" y="318"/>
                  <a:pt x="1190" y="318"/>
                </a:cubicBezTo>
              </a:path>
            </a:pathLst>
          </a:custGeom>
          <a:noFill/>
          <a:ln w="7633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" name="path 54"/>
          <p:cNvSpPr/>
          <p:nvPr/>
        </p:nvSpPr>
        <p:spPr>
          <a:xfrm>
            <a:off x="133384" y="7572508"/>
            <a:ext cx="801651" cy="404579"/>
          </a:xfrm>
          <a:custGeom>
            <a:avLst/>
            <a:gdLst/>
            <a:ahLst/>
            <a:cxnLst/>
            <a:rect l="0" t="0" r="0" b="0"/>
            <a:pathLst>
              <a:path w="1262" h="637">
                <a:moveTo>
                  <a:pt x="1256" y="6"/>
                </a:moveTo>
                <a:cubicBezTo>
                  <a:pt x="1256" y="6"/>
                  <a:pt x="1190" y="6"/>
                  <a:pt x="1190" y="6"/>
                </a:cubicBezTo>
                <a:cubicBezTo>
                  <a:pt x="1190" y="6"/>
                  <a:pt x="1190" y="631"/>
                  <a:pt x="1190" y="631"/>
                </a:cubicBezTo>
                <a:cubicBezTo>
                  <a:pt x="1190" y="631"/>
                  <a:pt x="1256" y="631"/>
                  <a:pt x="1256" y="631"/>
                </a:cubicBezTo>
                <a:moveTo>
                  <a:pt x="6" y="318"/>
                </a:moveTo>
                <a:cubicBezTo>
                  <a:pt x="6" y="318"/>
                  <a:pt x="1190" y="318"/>
                  <a:pt x="1190" y="318"/>
                </a:cubicBezTo>
              </a:path>
            </a:pathLst>
          </a:custGeom>
          <a:noFill/>
          <a:ln w="7633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133384" y="5616708"/>
            <a:ext cx="801651" cy="404579"/>
          </a:xfrm>
          <a:custGeom>
            <a:avLst/>
            <a:gdLst/>
            <a:ahLst/>
            <a:cxnLst/>
            <a:rect l="0" t="0" r="0" b="0"/>
            <a:pathLst>
              <a:path w="1262" h="637">
                <a:moveTo>
                  <a:pt x="1256" y="6"/>
                </a:moveTo>
                <a:cubicBezTo>
                  <a:pt x="1256" y="6"/>
                  <a:pt x="1190" y="6"/>
                  <a:pt x="1190" y="6"/>
                </a:cubicBezTo>
                <a:cubicBezTo>
                  <a:pt x="1190" y="6"/>
                  <a:pt x="1190" y="631"/>
                  <a:pt x="1190" y="631"/>
                </a:cubicBezTo>
                <a:cubicBezTo>
                  <a:pt x="1190" y="631"/>
                  <a:pt x="1256" y="631"/>
                  <a:pt x="1256" y="631"/>
                </a:cubicBezTo>
                <a:moveTo>
                  <a:pt x="6" y="318"/>
                </a:moveTo>
                <a:cubicBezTo>
                  <a:pt x="6" y="318"/>
                  <a:pt x="1190" y="318"/>
                  <a:pt x="1190" y="318"/>
                </a:cubicBezTo>
              </a:path>
            </a:pathLst>
          </a:custGeom>
          <a:noFill/>
          <a:ln w="7633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path 58"/>
          <p:cNvSpPr/>
          <p:nvPr/>
        </p:nvSpPr>
        <p:spPr>
          <a:xfrm>
            <a:off x="133384" y="4041908"/>
            <a:ext cx="801651" cy="404579"/>
          </a:xfrm>
          <a:custGeom>
            <a:avLst/>
            <a:gdLst/>
            <a:ahLst/>
            <a:cxnLst/>
            <a:rect l="0" t="0" r="0" b="0"/>
            <a:pathLst>
              <a:path w="1262" h="637">
                <a:moveTo>
                  <a:pt x="1256" y="6"/>
                </a:moveTo>
                <a:cubicBezTo>
                  <a:pt x="1256" y="6"/>
                  <a:pt x="1190" y="6"/>
                  <a:pt x="1190" y="6"/>
                </a:cubicBezTo>
                <a:cubicBezTo>
                  <a:pt x="1190" y="6"/>
                  <a:pt x="1190" y="631"/>
                  <a:pt x="1190" y="631"/>
                </a:cubicBezTo>
                <a:cubicBezTo>
                  <a:pt x="1190" y="631"/>
                  <a:pt x="1256" y="631"/>
                  <a:pt x="1256" y="631"/>
                </a:cubicBezTo>
                <a:moveTo>
                  <a:pt x="6" y="318"/>
                </a:moveTo>
                <a:cubicBezTo>
                  <a:pt x="6" y="318"/>
                  <a:pt x="1190" y="318"/>
                  <a:pt x="1190" y="318"/>
                </a:cubicBezTo>
              </a:path>
            </a:pathLst>
          </a:custGeom>
          <a:noFill/>
          <a:ln w="7633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" name="path 60"/>
          <p:cNvSpPr/>
          <p:nvPr/>
        </p:nvSpPr>
        <p:spPr>
          <a:xfrm>
            <a:off x="133384" y="2467108"/>
            <a:ext cx="801651" cy="404579"/>
          </a:xfrm>
          <a:custGeom>
            <a:avLst/>
            <a:gdLst/>
            <a:ahLst/>
            <a:cxnLst/>
            <a:rect l="0" t="0" r="0" b="0"/>
            <a:pathLst>
              <a:path w="1262" h="637">
                <a:moveTo>
                  <a:pt x="1256" y="6"/>
                </a:moveTo>
                <a:cubicBezTo>
                  <a:pt x="1256" y="6"/>
                  <a:pt x="1190" y="6"/>
                  <a:pt x="1190" y="6"/>
                </a:cubicBezTo>
                <a:cubicBezTo>
                  <a:pt x="1190" y="6"/>
                  <a:pt x="1190" y="631"/>
                  <a:pt x="1190" y="631"/>
                </a:cubicBezTo>
                <a:cubicBezTo>
                  <a:pt x="1190" y="631"/>
                  <a:pt x="1256" y="631"/>
                  <a:pt x="1256" y="631"/>
                </a:cubicBezTo>
                <a:moveTo>
                  <a:pt x="6" y="318"/>
                </a:moveTo>
                <a:cubicBezTo>
                  <a:pt x="6" y="318"/>
                  <a:pt x="1190" y="318"/>
                  <a:pt x="1190" y="318"/>
                </a:cubicBezTo>
              </a:path>
            </a:pathLst>
          </a:custGeom>
          <a:noFill/>
          <a:ln w="7633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71805" y="405765"/>
            <a:ext cx="11369040" cy="12579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14070" algn="l" rtl="0" eaLnBrk="0">
              <a:lnSpc>
                <a:spcPct val="87000"/>
              </a:lnSpc>
              <a:spcBef>
                <a:spcPts val="720"/>
              </a:spcBef>
              <a:tabLst>
                <a:tab pos="1212850" algn="l"/>
              </a:tabLst>
            </a:pPr>
            <a:r>
              <a:rPr sz="24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4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Architect</a:t>
            </a:r>
            <a:r>
              <a:rPr sz="24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ure</a:t>
            </a:r>
            <a:r>
              <a:rPr sz="24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Patterns</a:t>
            </a:r>
            <a:endParaRPr sz="2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2490" algn="l" rtl="0" eaLnBrk="0">
              <a:lnSpc>
                <a:spcPts val="3100"/>
              </a:lnSpc>
              <a:spcBef>
                <a:spcPts val="575"/>
              </a:spcBef>
              <a:tabLst>
                <a:tab pos="1198880" algn="l"/>
              </a:tabLst>
            </a:pPr>
            <a:r>
              <a:rPr sz="19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1900" kern="0" spc="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 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Context,</a:t>
            </a:r>
            <a:r>
              <a:rPr sz="19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Problem,</a:t>
            </a:r>
            <a:r>
              <a:rPr sz="19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Solution:</a:t>
            </a:r>
            <a:r>
              <a:rPr sz="19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elements</a:t>
            </a:r>
            <a:r>
              <a:rPr sz="19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+</a:t>
            </a:r>
            <a:r>
              <a:rPr sz="19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rela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tions</a:t>
            </a:r>
            <a:r>
              <a:rPr sz="19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+</a:t>
            </a:r>
            <a:r>
              <a:rPr sz="19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constraints</a:t>
            </a:r>
            <a:endParaRPr lang="zh-CN" altLang="en-US" sz="1900" kern="0" spc="-5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" y="2047875"/>
            <a:ext cx="12982575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850" y="248920"/>
            <a:ext cx="12573000" cy="66846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14070" algn="l" rtl="0" eaLnBrk="0">
              <a:lnSpc>
                <a:spcPts val="5555"/>
              </a:lnSpc>
              <a:spcBef>
                <a:spcPts val="240"/>
              </a:spcBef>
              <a:tabLst>
                <a:tab pos="1224280" algn="l"/>
              </a:tabLst>
            </a:pPr>
            <a:r>
              <a:rPr sz="2400" b="1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400" b="1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Module</a:t>
            </a:r>
            <a:r>
              <a:rPr sz="2400" b="1" kern="0" spc="2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b="1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</a:t>
            </a:r>
            <a:r>
              <a:rPr sz="2400" b="1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erns</a:t>
            </a:r>
            <a:endParaRPr sz="2400" b="1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22000"/>
              </a:lnSpc>
            </a:pP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2490" algn="l" rtl="0" eaLnBrk="0">
              <a:lnSpc>
                <a:spcPts val="3100"/>
              </a:lnSpc>
              <a:spcBef>
                <a:spcPts val="575"/>
              </a:spcBef>
              <a:tabLst>
                <a:tab pos="1198880" algn="l"/>
              </a:tabLst>
            </a:pPr>
            <a:r>
              <a:rPr sz="24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400" kern="0" spc="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  </a:t>
            </a:r>
            <a:r>
              <a:rPr sz="24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Layered</a:t>
            </a:r>
            <a:r>
              <a:rPr sz="2400" kern="0" spc="2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</a:t>
            </a:r>
            <a:r>
              <a:rPr sz="24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(mic</a:t>
            </a:r>
            <a:r>
              <a:rPr sz="24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ro-kernel</a:t>
            </a:r>
            <a:r>
              <a:rPr sz="24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pattern)</a:t>
            </a:r>
            <a:endParaRPr sz="2400" kern="0" spc="-5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  <a:p>
            <a:pPr marL="872490" algn="l" rtl="0" eaLnBrk="0">
              <a:lnSpc>
                <a:spcPts val="3100"/>
              </a:lnSpc>
              <a:spcBef>
                <a:spcPts val="575"/>
              </a:spcBef>
              <a:tabLst>
                <a:tab pos="1198880" algn="l"/>
              </a:tabLst>
            </a:pPr>
            <a:endParaRPr sz="2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14070" algn="l" rtl="0" eaLnBrk="0">
              <a:lnSpc>
                <a:spcPts val="5955"/>
              </a:lnSpc>
              <a:spcBef>
                <a:spcPts val="440"/>
              </a:spcBef>
              <a:tabLst>
                <a:tab pos="1228725" algn="l"/>
              </a:tabLst>
            </a:pPr>
            <a:r>
              <a:rPr sz="24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400" b="1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Component-Connector</a:t>
            </a:r>
            <a:r>
              <a:rPr sz="2400" b="1" kern="0" spc="2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b="1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Patterns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77010" indent="-604520" algn="l" rtl="0" eaLnBrk="0">
              <a:lnSpc>
                <a:spcPct val="136000"/>
              </a:lnSpc>
              <a:spcBef>
                <a:spcPts val="575"/>
              </a:spcBef>
              <a:tabLst>
                <a:tab pos="1198880" algn="l"/>
              </a:tabLst>
            </a:pPr>
            <a:r>
              <a:rPr sz="24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400" kern="0" spc="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 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Broker</a:t>
            </a:r>
            <a:r>
              <a:rPr sz="24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pattern,</a:t>
            </a:r>
            <a:r>
              <a:rPr sz="24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Model-view-controller</a:t>
            </a:r>
            <a:r>
              <a:rPr sz="24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pattern,</a:t>
            </a:r>
            <a:r>
              <a:rPr sz="24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Pipe-and-Þlter</a:t>
            </a:r>
            <a:r>
              <a:rPr sz="24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pattern,</a:t>
            </a:r>
            <a:r>
              <a:rPr sz="24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Client-server</a:t>
            </a:r>
            <a:r>
              <a:rPr sz="24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pattern,</a:t>
            </a:r>
            <a:r>
              <a:rPr sz="24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Peer-</a:t>
            </a:r>
            <a:r>
              <a:rPr sz="24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to-peer</a:t>
            </a:r>
            <a:r>
              <a:rPr sz="24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pattern,</a:t>
            </a:r>
            <a:r>
              <a:rPr sz="24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</a:t>
            </a:r>
            <a:r>
              <a:rPr sz="24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Service-oriented</a:t>
            </a:r>
            <a:r>
              <a:rPr sz="24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pattern,</a:t>
            </a:r>
            <a:r>
              <a:rPr sz="24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Publish-subscribe</a:t>
            </a:r>
            <a:r>
              <a:rPr sz="24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pattern,</a:t>
            </a:r>
            <a:r>
              <a:rPr sz="24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Share-data</a:t>
            </a:r>
            <a:r>
              <a:rPr sz="24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</a:t>
            </a:r>
            <a:endParaRPr sz="2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2000"/>
              </a:lnSpc>
            </a:pP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4070" algn="l" rtl="0" eaLnBrk="0">
              <a:lnSpc>
                <a:spcPct val="87000"/>
              </a:lnSpc>
              <a:spcBef>
                <a:spcPts val="725"/>
              </a:spcBef>
              <a:tabLst>
                <a:tab pos="1212850" algn="l"/>
              </a:tabLst>
            </a:pPr>
            <a:r>
              <a:rPr sz="24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400" b="1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Allocation</a:t>
            </a:r>
            <a:r>
              <a:rPr sz="2400" b="1" kern="0" spc="3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b="1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Patterns</a:t>
            </a:r>
            <a:endParaRPr sz="2400" b="1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22000"/>
              </a:lnSpc>
            </a:pP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2490" algn="l" rtl="0" eaLnBrk="0">
              <a:lnSpc>
                <a:spcPts val="3100"/>
              </a:lnSpc>
              <a:spcBef>
                <a:spcPts val="575"/>
              </a:spcBef>
              <a:tabLst>
                <a:tab pos="1198880" algn="l"/>
              </a:tabLst>
            </a:pPr>
            <a:r>
              <a:rPr sz="24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4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 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Map-reduce</a:t>
            </a:r>
            <a:r>
              <a:rPr sz="24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pattern,</a:t>
            </a:r>
            <a:r>
              <a:rPr sz="24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Multi-ti</a:t>
            </a:r>
            <a:r>
              <a:rPr sz="24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er</a:t>
            </a:r>
            <a:r>
              <a:rPr sz="24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</a:t>
            </a:r>
            <a:endParaRPr lang="zh-CN" altLang="en-US" sz="1900" kern="0" spc="-5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224790"/>
            <a:ext cx="6502400" cy="7740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14070" algn="l" rtl="0" eaLnBrk="0">
              <a:lnSpc>
                <a:spcPts val="5325"/>
              </a:lnSpc>
              <a:spcBef>
                <a:spcPts val="470"/>
              </a:spcBef>
              <a:tabLst>
                <a:tab pos="1233805" algn="l"/>
              </a:tabLst>
            </a:pPr>
            <a:r>
              <a:rPr sz="24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Patterns vs.</a:t>
            </a:r>
            <a:r>
              <a:rPr sz="2400" kern="0" spc="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Tact</a:t>
            </a:r>
            <a:r>
              <a:rPr sz="24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ics</a:t>
            </a:r>
            <a:endParaRPr lang="zh-CN" altLang="en-US" sz="2400" kern="0" spc="-7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55" y="1248410"/>
            <a:ext cx="12208510" cy="41541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45" y="5273675"/>
            <a:ext cx="12233275" cy="30930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2"/>
          <p:cNvSpPr/>
          <p:nvPr/>
        </p:nvSpPr>
        <p:spPr>
          <a:xfrm>
            <a:off x="120684" y="614124"/>
            <a:ext cx="8313419" cy="7265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58570" algn="l" rtl="0" eaLnBrk="0">
              <a:lnSpc>
                <a:spcPts val="10335"/>
              </a:lnSpc>
            </a:pPr>
            <a:r>
              <a:rPr sz="6800" kern="0" spc="-20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Identifyi</a:t>
            </a:r>
            <a:r>
              <a:rPr sz="6800" kern="0" spc="-21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ng ASRs</a:t>
            </a:r>
            <a:endParaRPr sz="6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4070" algn="l" rtl="0" eaLnBrk="0">
              <a:lnSpc>
                <a:spcPts val="3875"/>
              </a:lnSpc>
              <a:spcBef>
                <a:spcPts val="760"/>
              </a:spcBef>
              <a:tabLst>
                <a:tab pos="1212850" algn="l"/>
              </a:tabLst>
            </a:pPr>
            <a:r>
              <a:rPr sz="25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5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Architecturally</a:t>
            </a:r>
            <a:r>
              <a:rPr sz="25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5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Signiﬁcan</a:t>
            </a:r>
            <a:r>
              <a:rPr sz="25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</a:t>
            </a:r>
            <a:r>
              <a:rPr sz="2500" kern="0" spc="2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5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Requirements</a:t>
            </a:r>
            <a:endParaRPr sz="25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14070" indent="58420" algn="l" rtl="0" eaLnBrk="0">
              <a:lnSpc>
                <a:spcPct val="240000"/>
              </a:lnSpc>
              <a:spcBef>
                <a:spcPts val="165"/>
              </a:spcBef>
              <a:tabLst>
                <a:tab pos="1198880" algn="l"/>
                <a:tab pos="1233805" algn="l"/>
              </a:tabLst>
            </a:pPr>
            <a:r>
              <a:rPr sz="19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900" kern="0" spc="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Functional</a:t>
            </a:r>
            <a:r>
              <a:rPr sz="19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requirements,</a:t>
            </a:r>
            <a:r>
              <a:rPr sz="19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ality</a:t>
            </a:r>
            <a:r>
              <a:rPr sz="19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requirements,</a:t>
            </a:r>
            <a:r>
              <a:rPr sz="19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Constraints</a:t>
            </a:r>
            <a:r>
              <a:rPr sz="19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                  </a:t>
            </a:r>
            <a:r>
              <a:rPr sz="24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4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2400" kern="0" spc="1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</a:t>
            </a:r>
            <a:r>
              <a:rPr sz="24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gather</a:t>
            </a:r>
            <a:r>
              <a:rPr sz="24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24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identify ASRs?</a:t>
            </a:r>
            <a:endParaRPr sz="2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75030" algn="l" rtl="0" eaLnBrk="0">
              <a:lnSpc>
                <a:spcPct val="220000"/>
              </a:lnSpc>
              <a:spcBef>
                <a:spcPts val="445"/>
              </a:spcBef>
              <a:tabLst>
                <a:tab pos="1256030" algn="l"/>
              </a:tabLst>
            </a:pP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Requirement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Docs,</a:t>
            </a:r>
            <a:r>
              <a:rPr sz="23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QA Workshop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(int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erviews),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goals</a:t>
            </a:r>
            <a:r>
              <a:rPr sz="23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Utility</a:t>
            </a:r>
            <a:r>
              <a:rPr sz="2300" kern="0" spc="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tree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(Ranked</a:t>
            </a:r>
            <a:r>
              <a:rPr sz="2300" kern="0" spc="1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scenarios: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Imp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ortance vs.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Difﬁculty)</a:t>
            </a:r>
            <a:endParaRPr sz="23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4" name="path 64"/>
          <p:cNvSpPr/>
          <p:nvPr/>
        </p:nvSpPr>
        <p:spPr>
          <a:xfrm>
            <a:off x="133384" y="5794508"/>
            <a:ext cx="801651" cy="404579"/>
          </a:xfrm>
          <a:custGeom>
            <a:avLst/>
            <a:gdLst/>
            <a:ahLst/>
            <a:cxnLst/>
            <a:rect l="0" t="0" r="0" b="0"/>
            <a:pathLst>
              <a:path w="1262" h="637">
                <a:moveTo>
                  <a:pt x="1256" y="6"/>
                </a:moveTo>
                <a:cubicBezTo>
                  <a:pt x="1256" y="6"/>
                  <a:pt x="1190" y="6"/>
                  <a:pt x="1190" y="6"/>
                </a:cubicBezTo>
                <a:cubicBezTo>
                  <a:pt x="1190" y="6"/>
                  <a:pt x="1190" y="631"/>
                  <a:pt x="1190" y="631"/>
                </a:cubicBezTo>
                <a:cubicBezTo>
                  <a:pt x="1190" y="631"/>
                  <a:pt x="1256" y="631"/>
                  <a:pt x="1256" y="631"/>
                </a:cubicBezTo>
                <a:moveTo>
                  <a:pt x="6" y="318"/>
                </a:moveTo>
                <a:cubicBezTo>
                  <a:pt x="6" y="318"/>
                  <a:pt x="1190" y="318"/>
                  <a:pt x="1190" y="318"/>
                </a:cubicBezTo>
              </a:path>
            </a:pathLst>
          </a:custGeom>
          <a:noFill/>
          <a:ln w="7633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" name="path 66"/>
          <p:cNvSpPr/>
          <p:nvPr/>
        </p:nvSpPr>
        <p:spPr>
          <a:xfrm>
            <a:off x="133384" y="4219708"/>
            <a:ext cx="801651" cy="404579"/>
          </a:xfrm>
          <a:custGeom>
            <a:avLst/>
            <a:gdLst/>
            <a:ahLst/>
            <a:cxnLst/>
            <a:rect l="0" t="0" r="0" b="0"/>
            <a:pathLst>
              <a:path w="1262" h="637">
                <a:moveTo>
                  <a:pt x="1256" y="6"/>
                </a:moveTo>
                <a:cubicBezTo>
                  <a:pt x="1256" y="6"/>
                  <a:pt x="1190" y="6"/>
                  <a:pt x="1190" y="6"/>
                </a:cubicBezTo>
                <a:cubicBezTo>
                  <a:pt x="1190" y="6"/>
                  <a:pt x="1190" y="631"/>
                  <a:pt x="1190" y="631"/>
                </a:cubicBezTo>
                <a:cubicBezTo>
                  <a:pt x="1190" y="631"/>
                  <a:pt x="1256" y="631"/>
                  <a:pt x="1256" y="631"/>
                </a:cubicBezTo>
                <a:moveTo>
                  <a:pt x="6" y="318"/>
                </a:moveTo>
                <a:cubicBezTo>
                  <a:pt x="6" y="318"/>
                  <a:pt x="1190" y="318"/>
                  <a:pt x="1190" y="318"/>
                </a:cubicBezTo>
              </a:path>
            </a:pathLst>
          </a:custGeom>
          <a:noFill/>
          <a:ln w="7633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2865" y="173355"/>
            <a:ext cx="12452350" cy="2365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14070" algn="l" rtl="0" eaLnBrk="0">
              <a:lnSpc>
                <a:spcPts val="3875"/>
              </a:lnSpc>
              <a:spcBef>
                <a:spcPts val="760"/>
              </a:spcBef>
              <a:tabLst>
                <a:tab pos="1212850" algn="l"/>
              </a:tabLst>
            </a:pPr>
            <a:r>
              <a:rPr sz="25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5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Architecturally</a:t>
            </a:r>
            <a:r>
              <a:rPr sz="25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5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Signiﬁcan</a:t>
            </a:r>
            <a:r>
              <a:rPr sz="25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t</a:t>
            </a:r>
            <a:r>
              <a:rPr sz="2500" kern="0" spc="2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5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Requirements</a:t>
            </a:r>
            <a:endParaRPr sz="25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14070" indent="58420" algn="l" rtl="0" eaLnBrk="0">
              <a:lnSpc>
                <a:spcPct val="240000"/>
              </a:lnSpc>
              <a:spcBef>
                <a:spcPts val="165"/>
              </a:spcBef>
              <a:tabLst>
                <a:tab pos="1198880" algn="l"/>
                <a:tab pos="1233805" algn="l"/>
              </a:tabLst>
            </a:pPr>
            <a:r>
              <a:rPr sz="19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1900" kern="0" spc="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 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Functional</a:t>
            </a:r>
            <a:r>
              <a:rPr sz="19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requirements,</a:t>
            </a:r>
            <a:r>
              <a:rPr sz="19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Qu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ality</a:t>
            </a:r>
            <a:r>
              <a:rPr sz="19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requirements,</a:t>
            </a:r>
            <a:r>
              <a:rPr sz="19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Constraints</a:t>
            </a:r>
            <a:r>
              <a:rPr sz="19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                    </a:t>
            </a:r>
            <a:r>
              <a:rPr sz="24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	</a:t>
            </a:r>
            <a:endParaRPr sz="2400" kern="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  <a:p>
            <a:pPr marL="814070" indent="58420" algn="l" rtl="0" eaLnBrk="0">
              <a:lnSpc>
                <a:spcPct val="240000"/>
              </a:lnSpc>
              <a:spcBef>
                <a:spcPts val="165"/>
              </a:spcBef>
              <a:tabLst>
                <a:tab pos="1198880" algn="l"/>
                <a:tab pos="1233805" algn="l"/>
              </a:tabLst>
            </a:pPr>
            <a:endParaRPr lang="zh-CN" altLang="en-US" sz="2300" kern="0" spc="-8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380" y="2261235"/>
            <a:ext cx="12374880" cy="24625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3520" y="259715"/>
            <a:ext cx="11890375" cy="2648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14070" indent="58420" algn="l" rtl="0" eaLnBrk="0">
              <a:lnSpc>
                <a:spcPct val="240000"/>
              </a:lnSpc>
              <a:spcBef>
                <a:spcPts val="165"/>
              </a:spcBef>
              <a:tabLst>
                <a:tab pos="1198880" algn="l"/>
                <a:tab pos="1233805" algn="l"/>
              </a:tabLst>
            </a:pP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How</a:t>
            </a:r>
            <a:r>
              <a:rPr sz="2400" kern="0" spc="1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to</a:t>
            </a:r>
            <a:r>
              <a:rPr sz="24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gather</a:t>
            </a:r>
            <a:r>
              <a:rPr sz="24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and</a:t>
            </a:r>
            <a:r>
              <a:rPr sz="24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4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identify ASRs?</a:t>
            </a:r>
            <a:endParaRPr sz="2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75030" algn="l" rtl="0" eaLnBrk="0">
              <a:lnSpc>
                <a:spcPct val="220000"/>
              </a:lnSpc>
              <a:spcBef>
                <a:spcPts val="445"/>
              </a:spcBef>
              <a:tabLst>
                <a:tab pos="1256030" algn="l"/>
              </a:tabLst>
            </a:pPr>
            <a:r>
              <a:rPr sz="23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300" kern="0" spc="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Requirement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Docs,</a:t>
            </a:r>
            <a:r>
              <a:rPr sz="23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QA Workshop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(int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erviews),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Business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goals</a:t>
            </a:r>
            <a:r>
              <a:rPr sz="23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endParaRPr sz="2300" kern="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  <a:p>
            <a:pPr marL="875030" algn="l" rtl="0" eaLnBrk="0">
              <a:lnSpc>
                <a:spcPct val="220000"/>
              </a:lnSpc>
              <a:spcBef>
                <a:spcPts val="445"/>
              </a:spcBef>
              <a:tabLst>
                <a:tab pos="1256030" algn="l"/>
              </a:tabLst>
            </a:pPr>
            <a:r>
              <a:rPr sz="2300" strike="sngStrike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300" kern="0" spc="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Utility</a:t>
            </a:r>
            <a:r>
              <a:rPr sz="2300" kern="0" spc="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tree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(Ranked</a:t>
            </a:r>
            <a:r>
              <a:rPr sz="2300" kern="0" spc="1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scenarios: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Imp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ortance vs.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Difﬁculty)</a:t>
            </a:r>
            <a:endParaRPr lang="zh-CN" altLang="en-US" sz="2300" kern="0" spc="-8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3192145"/>
            <a:ext cx="12706985" cy="25977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320" y="175895"/>
            <a:ext cx="8923655" cy="68757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" y="7051675"/>
            <a:ext cx="12268200" cy="2324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775" y="514350"/>
            <a:ext cx="1228725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8"/>
          <p:cNvSpPr/>
          <p:nvPr/>
        </p:nvSpPr>
        <p:spPr>
          <a:xfrm>
            <a:off x="121956" y="797004"/>
            <a:ext cx="12819380" cy="7666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57300" algn="l" rtl="0" eaLnBrk="0">
              <a:lnSpc>
                <a:spcPts val="8330"/>
              </a:lnSpc>
            </a:pPr>
            <a:r>
              <a:rPr sz="6700" kern="0" spc="-24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Designing Architecture</a:t>
            </a:r>
            <a:endParaRPr sz="6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7410" algn="l" rtl="0" eaLnBrk="0">
              <a:lnSpc>
                <a:spcPts val="3330"/>
              </a:lnSpc>
              <a:spcBef>
                <a:spcPts val="815"/>
              </a:spcBef>
              <a:tabLst>
                <a:tab pos="1228725" algn="l"/>
              </a:tabLst>
            </a:pPr>
            <a:r>
              <a:rPr sz="27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7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General</a:t>
            </a:r>
            <a:r>
              <a:rPr sz="27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7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27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7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Strateg</a:t>
            </a:r>
            <a:r>
              <a:rPr sz="2700" kern="0" spc="-1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2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67410" indent="6350" algn="l" rtl="0" eaLnBrk="0">
              <a:lnSpc>
                <a:spcPct val="218000"/>
              </a:lnSpc>
              <a:spcBef>
                <a:spcPts val="830"/>
              </a:spcBef>
              <a:tabLst>
                <a:tab pos="1228725" algn="l"/>
                <a:tab pos="1254760" algn="l"/>
              </a:tabLst>
            </a:pPr>
            <a:r>
              <a:rPr sz="22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2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200" kern="0" spc="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Abstraction,</a:t>
            </a:r>
            <a:r>
              <a:rPr sz="2200" kern="0" spc="2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Decomposition,</a:t>
            </a:r>
            <a:r>
              <a:rPr sz="22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Divide</a:t>
            </a:r>
            <a:r>
              <a:rPr sz="22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&amp;</a:t>
            </a:r>
            <a:r>
              <a:rPr sz="22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</a:t>
            </a:r>
            <a:r>
              <a:rPr sz="22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onquer,</a:t>
            </a:r>
            <a:r>
              <a:rPr sz="22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Generation</a:t>
            </a:r>
            <a:r>
              <a:rPr sz="22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2200" kern="0" spc="1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test,</a:t>
            </a:r>
            <a:r>
              <a:rPr sz="22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Iteration,</a:t>
            </a:r>
            <a:r>
              <a:rPr sz="2200" kern="0" spc="2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2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Reuse</a:t>
            </a:r>
            <a:r>
              <a:rPr sz="22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                            </a:t>
            </a:r>
            <a:r>
              <a:rPr sz="26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6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Categories</a:t>
            </a:r>
            <a:r>
              <a:rPr sz="26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of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26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decisions</a:t>
            </a:r>
            <a:endParaRPr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67410" indent="6350" algn="l" rtl="0" eaLnBrk="0">
              <a:lnSpc>
                <a:spcPct val="221000"/>
              </a:lnSpc>
              <a:spcBef>
                <a:spcPts val="445"/>
              </a:spcBef>
              <a:tabLst>
                <a:tab pos="1211580" algn="l"/>
                <a:tab pos="1254760" algn="l"/>
              </a:tabLst>
            </a:pP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Responsibilities,</a:t>
            </a:r>
            <a:r>
              <a:rPr sz="23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Coordination,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Data,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Resources,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Elements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map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ping,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Binding</a:t>
            </a:r>
            <a:r>
              <a:rPr sz="2300" kern="0" spc="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time, Technology</a:t>
            </a:r>
            <a:r>
              <a:rPr sz="23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           </a:t>
            </a:r>
            <a:r>
              <a:rPr sz="26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6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Architectural</a:t>
            </a:r>
            <a:r>
              <a:rPr sz="26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26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rivers</a:t>
            </a:r>
            <a:endParaRPr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77010" indent="-603250" algn="l" rtl="0" eaLnBrk="0">
              <a:lnSpc>
                <a:spcPct val="132000"/>
              </a:lnSpc>
              <a:spcBef>
                <a:spcPts val="5"/>
              </a:spcBef>
              <a:tabLst>
                <a:tab pos="1254760" algn="l"/>
              </a:tabLst>
            </a:pP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Functional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requirements,</a:t>
            </a:r>
            <a:r>
              <a:rPr sz="23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Quality</a:t>
            </a:r>
            <a:r>
              <a:rPr sz="23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attribute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requirements,</a:t>
            </a:r>
            <a:r>
              <a:rPr sz="23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Constraints, The</a:t>
            </a:r>
            <a:r>
              <a:rPr sz="2300" kern="0" spc="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type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of</a:t>
            </a:r>
            <a:r>
              <a:rPr sz="2300" kern="0" spc="1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system</a:t>
            </a:r>
            <a:r>
              <a:rPr sz="2300" kern="0" spc="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hat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is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being</a:t>
            </a:r>
            <a:r>
              <a:rPr sz="23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designed,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objectives,</a:t>
            </a:r>
            <a:r>
              <a:rPr sz="23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Concerns</a:t>
            </a:r>
            <a:endParaRPr sz="23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0" name="path 70"/>
          <p:cNvSpPr/>
          <p:nvPr/>
        </p:nvSpPr>
        <p:spPr>
          <a:xfrm>
            <a:off x="134656" y="670489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" name="path 72"/>
          <p:cNvSpPr/>
          <p:nvPr/>
        </p:nvSpPr>
        <p:spPr>
          <a:xfrm>
            <a:off x="134656" y="505389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" name="path 74"/>
          <p:cNvSpPr/>
          <p:nvPr/>
        </p:nvSpPr>
        <p:spPr>
          <a:xfrm>
            <a:off x="134656" y="340289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929880" y="2708275"/>
            <a:ext cx="4335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主要是硕士的内容？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806065" y="1655445"/>
            <a:ext cx="8163560" cy="7811135"/>
          </a:xfrm>
          <a:prstGeom prst="rect">
            <a:avLst/>
          </a:prstGeom>
        </p:spPr>
      </p:pic>
      <p:sp>
        <p:nvSpPr>
          <p:cNvPr id="78" name="textbox 78"/>
          <p:cNvSpPr/>
          <p:nvPr/>
        </p:nvSpPr>
        <p:spPr>
          <a:xfrm>
            <a:off x="121956" y="115014"/>
            <a:ext cx="8360409" cy="2301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8330"/>
              </a:lnSpc>
            </a:pPr>
            <a:r>
              <a:rPr sz="6600" kern="0" spc="-24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Designing Architecture</a:t>
            </a:r>
            <a:endParaRPr sz="6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914400" lvl="2" indent="457200" algn="l" rtl="0" eaLnBrk="0">
              <a:lnSpc>
                <a:spcPct val="129000"/>
              </a:lnSpc>
            </a:pPr>
            <a:r>
              <a:rPr sz="26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Attribute-Driven</a:t>
            </a:r>
            <a:r>
              <a:rPr sz="2600" kern="0" spc="2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sign</a:t>
            </a:r>
            <a:r>
              <a:rPr sz="2600" kern="0" spc="2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(ADD</a:t>
            </a:r>
            <a:r>
              <a:rPr sz="26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3.0)</a:t>
            </a:r>
            <a:endParaRPr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0" name="path 80"/>
          <p:cNvSpPr/>
          <p:nvPr/>
        </p:nvSpPr>
        <p:spPr>
          <a:xfrm>
            <a:off x="134656" y="1416748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2"/>
          <p:cNvSpPr/>
          <p:nvPr/>
        </p:nvSpPr>
        <p:spPr>
          <a:xfrm>
            <a:off x="121956" y="797004"/>
            <a:ext cx="11731625" cy="8181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57300" algn="l" rtl="0" eaLnBrk="0">
              <a:lnSpc>
                <a:spcPts val="8330"/>
              </a:lnSpc>
            </a:pPr>
            <a:r>
              <a:rPr sz="6600" kern="0" spc="-2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Documenting Ar</a:t>
            </a:r>
            <a:r>
              <a:rPr sz="6600" kern="0" spc="-26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chitecture</a:t>
            </a:r>
            <a:endParaRPr sz="6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7410" algn="l" rtl="0" eaLnBrk="0">
              <a:lnSpc>
                <a:spcPts val="4135"/>
              </a:lnSpc>
              <a:spcBef>
                <a:spcPts val="785"/>
              </a:spcBef>
              <a:tabLst>
                <a:tab pos="1210310" algn="l"/>
              </a:tabLst>
            </a:pPr>
            <a:r>
              <a:rPr sz="26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Views</a:t>
            </a:r>
            <a:r>
              <a:rPr sz="26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2600" kern="0" spc="2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6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Beyond</a:t>
            </a:r>
            <a:endParaRPr sz="2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ct val="77000"/>
              </a:lnSpc>
              <a:spcBef>
                <a:spcPts val="690"/>
              </a:spcBef>
              <a:tabLst>
                <a:tab pos="1254760" algn="l"/>
              </a:tabLst>
            </a:pP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Views:</a:t>
            </a:r>
            <a:endParaRPr sz="23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76020" algn="l" rtl="0" eaLnBrk="0">
              <a:lnSpc>
                <a:spcPts val="3100"/>
              </a:lnSpc>
              <a:spcBef>
                <a:spcPts val="610"/>
              </a:spcBef>
              <a:tabLst>
                <a:tab pos="1502410" algn="l"/>
              </a:tabLst>
            </a:pPr>
            <a:r>
              <a:rPr sz="20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000" kern="0" spc="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</a:t>
            </a:r>
            <a:r>
              <a:rPr sz="20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Styles</a:t>
            </a:r>
            <a:r>
              <a:rPr sz="20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0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(viewpoi</a:t>
            </a:r>
            <a:r>
              <a:rPr sz="20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nts),</a:t>
            </a:r>
            <a:r>
              <a:rPr sz="20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0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patterns</a:t>
            </a:r>
            <a:r>
              <a:rPr sz="2000" kern="0" spc="1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0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 views</a:t>
            </a:r>
            <a:endParaRPr sz="2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7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76020" algn="l" rtl="0" eaLnBrk="0">
              <a:lnSpc>
                <a:spcPts val="3100"/>
              </a:lnSpc>
              <a:spcBef>
                <a:spcPts val="575"/>
              </a:spcBef>
              <a:tabLst>
                <a:tab pos="1502410" algn="l"/>
              </a:tabLst>
            </a:pPr>
            <a:r>
              <a:rPr sz="19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9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Structural</a:t>
            </a:r>
            <a:r>
              <a:rPr sz="1900" kern="0" spc="1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views:</a:t>
            </a:r>
            <a:r>
              <a:rPr sz="19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module views,</a:t>
            </a:r>
            <a:r>
              <a:rPr sz="19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compone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nt-and-connector views,</a:t>
            </a:r>
            <a:r>
              <a:rPr sz="19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9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allocation views</a:t>
            </a:r>
            <a:endParaRPr sz="19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76020" algn="l" rtl="0" eaLnBrk="0">
              <a:lnSpc>
                <a:spcPts val="3100"/>
              </a:lnSpc>
              <a:spcBef>
                <a:spcPts val="610"/>
              </a:spcBef>
              <a:tabLst>
                <a:tab pos="1502410" algn="l"/>
              </a:tabLst>
            </a:pPr>
            <a:r>
              <a:rPr sz="20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000" kern="0" spc="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</a:t>
            </a:r>
            <a:r>
              <a:rPr sz="20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Quality views</a:t>
            </a:r>
            <a:endParaRPr sz="2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73760" algn="l" rtl="0" eaLnBrk="0">
              <a:lnSpc>
                <a:spcPct val="220000"/>
              </a:lnSpc>
              <a:spcBef>
                <a:spcPts val="615"/>
              </a:spcBef>
              <a:tabLst>
                <a:tab pos="1254760" algn="l"/>
              </a:tabLst>
            </a:pP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Documenting views:</a:t>
            </a:r>
            <a:r>
              <a:rPr sz="2300" kern="0" spc="3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1.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</a:t>
            </a:r>
            <a:r>
              <a:rPr sz="23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stakeholder/view</a:t>
            </a:r>
            <a:r>
              <a:rPr sz="2300" kern="0" spc="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table,</a:t>
            </a:r>
            <a:r>
              <a:rPr sz="23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2.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combine views,</a:t>
            </a:r>
            <a:r>
              <a:rPr sz="23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3.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ioritise</a:t>
            </a:r>
            <a:r>
              <a:rPr sz="23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&amp;</a:t>
            </a:r>
            <a:r>
              <a:rPr sz="2300" kern="0" spc="1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stage</a:t>
            </a:r>
            <a:r>
              <a:rPr sz="23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</a:t>
            </a: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Info.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beyond views: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documentation</a:t>
            </a:r>
            <a:r>
              <a:rPr sz="23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info</a:t>
            </a:r>
            <a:r>
              <a:rPr sz="23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&amp;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architecture</a:t>
            </a:r>
            <a:r>
              <a:rPr sz="23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info</a:t>
            </a:r>
            <a:r>
              <a:rPr sz="23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(map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ping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between views)</a:t>
            </a:r>
            <a:endParaRPr sz="23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5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ts val="3615"/>
              </a:lnSpc>
              <a:spcBef>
                <a:spcPts val="5"/>
              </a:spcBef>
              <a:tabLst>
                <a:tab pos="1254760" algn="l"/>
              </a:tabLst>
            </a:pPr>
            <a:r>
              <a:rPr sz="23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300" kern="0" spc="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Documentation</a:t>
            </a:r>
            <a:r>
              <a:rPr sz="2300" kern="0" spc="2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package: views</a:t>
            </a:r>
            <a:r>
              <a:rPr sz="23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beyond</a:t>
            </a:r>
            <a:endParaRPr sz="23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4" name="path 84"/>
          <p:cNvSpPr/>
          <p:nvPr/>
        </p:nvSpPr>
        <p:spPr>
          <a:xfrm>
            <a:off x="134656" y="307269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65" y="129540"/>
            <a:ext cx="12663170" cy="76174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" y="179705"/>
            <a:ext cx="12209145" cy="91967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22300" y="333375"/>
            <a:ext cx="11786870" cy="445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Documenting views:</a:t>
            </a:r>
            <a:r>
              <a:rPr sz="2300" kern="0" spc="3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1.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build</a:t>
            </a:r>
            <a:r>
              <a:rPr sz="23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stakeholder/view</a:t>
            </a:r>
            <a:r>
              <a:rPr sz="2300" kern="0" spc="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table,</a:t>
            </a:r>
            <a:r>
              <a:rPr sz="2300" kern="0" spc="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2.</a:t>
            </a:r>
            <a:r>
              <a:rPr sz="23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combine views,</a:t>
            </a:r>
            <a:r>
              <a:rPr sz="2300" kern="0" spc="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3.</a:t>
            </a:r>
            <a:r>
              <a:rPr sz="23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pr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ioritise</a:t>
            </a:r>
            <a:r>
              <a:rPr sz="2300" kern="0" spc="18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&amp;</a:t>
            </a:r>
            <a:r>
              <a:rPr sz="2300" kern="0" spc="13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3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stage</a:t>
            </a:r>
            <a:r>
              <a:rPr sz="2300" kern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  </a:t>
            </a:r>
            <a:endParaRPr lang="zh-CN" altLang="en-US" sz="2300" kern="0" dirty="0">
              <a:solidFill>
                <a:srgbClr val="3A5253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35" y="2117090"/>
            <a:ext cx="12536805" cy="544893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6"/>
          <p:cNvSpPr/>
          <p:nvPr/>
        </p:nvSpPr>
        <p:spPr>
          <a:xfrm>
            <a:off x="121956" y="797004"/>
            <a:ext cx="9403715" cy="8403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6400" kern="0" spc="-22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Microservices Architecture</a:t>
            </a:r>
            <a:endParaRPr sz="64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7410" algn="l" rtl="0" eaLnBrk="0">
              <a:lnSpc>
                <a:spcPct val="97000"/>
              </a:lnSpc>
              <a:spcBef>
                <a:spcPts val="965"/>
              </a:spcBef>
              <a:tabLst>
                <a:tab pos="1224280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3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核心特征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ct val="97000"/>
              </a:lnSpc>
              <a:spcBef>
                <a:spcPts val="845"/>
              </a:spcBef>
              <a:tabLst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6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-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微服务的六大特性、架构对比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67410" algn="l" rtl="0" eaLnBrk="0">
              <a:lnSpc>
                <a:spcPts val="7250"/>
              </a:lnSpc>
              <a:tabLst>
                <a:tab pos="1223010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微服务设计模式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ct val="97000"/>
              </a:lnSpc>
              <a:spcBef>
                <a:spcPts val="845"/>
              </a:spcBef>
              <a:tabLst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5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-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挑战问题、模式和模式语言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ct val="97000"/>
              </a:lnSpc>
              <a:spcBef>
                <a:spcPts val="840"/>
              </a:spcBef>
              <a:tabLst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6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-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拆分设计模式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ct val="97000"/>
              </a:lnSpc>
              <a:spcBef>
                <a:spcPts val="840"/>
              </a:spcBef>
              <a:tabLst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6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-3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通信模式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ct val="97000"/>
              </a:lnSpc>
              <a:spcBef>
                <a:spcPts val="840"/>
              </a:spcBef>
              <a:tabLst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6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-3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部署模式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ct val="97000"/>
              </a:lnSpc>
              <a:spcBef>
                <a:spcPts val="0"/>
              </a:spcBef>
              <a:tabLst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8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-5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运维模式</a:t>
            </a:r>
            <a:r>
              <a:rPr sz="28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……</a:t>
            </a:r>
            <a:endParaRPr sz="2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8" name="path 88"/>
          <p:cNvSpPr/>
          <p:nvPr/>
        </p:nvSpPr>
        <p:spPr>
          <a:xfrm>
            <a:off x="134656" y="4415997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" name="path 90"/>
          <p:cNvSpPr/>
          <p:nvPr/>
        </p:nvSpPr>
        <p:spPr>
          <a:xfrm>
            <a:off x="134656" y="2625297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428230" y="2439670"/>
            <a:ext cx="43351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通过服务组件</a:t>
            </a:r>
            <a:r>
              <a:rPr lang="zh-CN" altLang="en-US"/>
              <a:t>化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围绕业务能力</a:t>
            </a:r>
            <a:r>
              <a:rPr lang="zh-CN" altLang="en-US"/>
              <a:t>组织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内聚和</a:t>
            </a:r>
            <a:r>
              <a:rPr lang="zh-CN" altLang="en-US"/>
              <a:t>解耦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去中心化</a:t>
            </a:r>
            <a:endParaRPr lang="zh-CN" altLang="en-US"/>
          </a:p>
          <a:p>
            <a:r>
              <a:rPr lang="en-US" altLang="zh-CN"/>
              <a:t>5. </a:t>
            </a:r>
            <a:r>
              <a:rPr lang="zh-CN" altLang="en-US"/>
              <a:t>基础设施</a:t>
            </a:r>
            <a:r>
              <a:rPr lang="zh-CN" altLang="en-US"/>
              <a:t>自动化</a:t>
            </a:r>
            <a:endParaRPr lang="zh-CN" altLang="en-US"/>
          </a:p>
          <a:p>
            <a:r>
              <a:rPr lang="en-US" altLang="zh-CN"/>
              <a:t>6. </a:t>
            </a:r>
            <a:r>
              <a:rPr lang="zh-CN" altLang="en-US"/>
              <a:t>服务高可用设计与演进</a:t>
            </a:r>
            <a:r>
              <a:rPr lang="zh-CN" altLang="en-US"/>
              <a:t>式演进</a:t>
            </a:r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2"/>
          <p:cNvSpPr/>
          <p:nvPr/>
        </p:nvSpPr>
        <p:spPr>
          <a:xfrm>
            <a:off x="121956" y="626824"/>
            <a:ext cx="11804015" cy="8655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0335"/>
              </a:lnSpc>
            </a:pPr>
            <a:r>
              <a:rPr sz="6500" kern="0" spc="-20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AI-native Appli</a:t>
            </a:r>
            <a:r>
              <a:rPr sz="6500" kern="0" spc="-21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cation Architecture</a:t>
            </a:r>
            <a:endParaRPr sz="65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4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7410" algn="l" rtl="0" eaLnBrk="0">
              <a:lnSpc>
                <a:spcPct val="97000"/>
              </a:lnSpc>
              <a:spcBef>
                <a:spcPts val="965"/>
              </a:spcBef>
              <a:tabLst>
                <a:tab pos="1224280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3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核心特征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67410" indent="6350" algn="l" rtl="0" eaLnBrk="0">
              <a:lnSpc>
                <a:spcPct val="198000"/>
              </a:lnSpc>
              <a:spcBef>
                <a:spcPts val="250"/>
              </a:spcBef>
              <a:tabLst>
                <a:tab pos="1230630" algn="l"/>
                <a:tab pos="1254760" algn="l"/>
              </a:tabLst>
            </a:pPr>
            <a:r>
              <a:rPr sz="2800" strike="sngStrike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strike="sngStrike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-60" dirty="0">
                <a:solidFill>
                  <a:srgbClr val="000000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sz="2800" kern="0" spc="-6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模型驱动</a:t>
            </a:r>
            <a:r>
              <a:rPr sz="2800" kern="0" spc="-60" dirty="0">
                <a:solidFill>
                  <a:srgbClr val="000000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800" kern="0" spc="-6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数据为中心、</a:t>
            </a:r>
            <a:r>
              <a:rPr sz="28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Ag</a:t>
            </a:r>
            <a:r>
              <a:rPr sz="28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ent </a:t>
            </a:r>
            <a:r>
              <a:rPr sz="2800" kern="0" spc="-7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协作、数据闭环、云原生集成</a:t>
            </a:r>
            <a:r>
              <a:rPr sz="28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关键组件与工具链实践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ct val="97000"/>
              </a:lnSpc>
              <a:spcBef>
                <a:spcPts val="845"/>
              </a:spcBef>
              <a:tabLst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8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</a:t>
            </a:r>
            <a:r>
              <a:rPr sz="2800" kern="0" spc="-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2800" kern="0" spc="2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800" kern="0" spc="-16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网关（</a:t>
            </a:r>
            <a:r>
              <a:rPr sz="2800" kern="0" spc="-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Higress</a:t>
            </a:r>
            <a:r>
              <a:rPr sz="2800" kern="0" spc="-16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）、配置与发现（</a:t>
            </a:r>
            <a:r>
              <a:rPr sz="2800" kern="0" spc="-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Nacos</a:t>
            </a:r>
            <a:r>
              <a:rPr sz="2800" kern="0" spc="-16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）、可观测性（</a:t>
            </a:r>
            <a:r>
              <a:rPr sz="2800" kern="0" spc="-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OTel</a:t>
            </a:r>
            <a:r>
              <a:rPr sz="2800" kern="0" spc="-17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800" kern="0" spc="-63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kern="0" spc="-1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……</a:t>
            </a:r>
            <a:endParaRPr sz="2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67410" algn="l" rtl="0" eaLnBrk="0">
              <a:lnSpc>
                <a:spcPts val="7330"/>
              </a:lnSpc>
              <a:tabLst>
                <a:tab pos="1227455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典型场景与客户实践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67410" indent="6350" algn="l" rtl="0" eaLnBrk="0">
              <a:lnSpc>
                <a:spcPct val="198000"/>
              </a:lnSpc>
              <a:spcBef>
                <a:spcPts val="255"/>
              </a:spcBef>
              <a:tabLst>
                <a:tab pos="1228725" algn="l"/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13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-6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内部工具（阿里云通义</a:t>
            </a:r>
            <a:r>
              <a:rPr sz="2800" kern="0" spc="-24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kern="0" spc="-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</a:t>
            </a:r>
            <a:r>
              <a:rPr sz="2800" kern="0" spc="-6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）、企业服务（零一万物）</a:t>
            </a:r>
            <a:r>
              <a:rPr sz="2800" kern="0" spc="-7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、工业场景</a:t>
            </a:r>
            <a:r>
              <a:rPr sz="2800" kern="0" spc="-59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kern="0" spc="-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…</a:t>
            </a:r>
            <a:r>
              <a:rPr sz="28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3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未来规划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ct val="97000"/>
              </a:lnSpc>
              <a:spcBef>
                <a:spcPts val="5"/>
              </a:spcBef>
              <a:tabLst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5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-10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智能体平台、</a:t>
            </a:r>
            <a:r>
              <a:rPr sz="28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MCP </a:t>
            </a:r>
            <a:r>
              <a:rPr sz="2800" kern="0" spc="-10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协议生态、多</a:t>
            </a:r>
            <a:r>
              <a:rPr sz="2800" kern="0" spc="-11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模态能力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path 94"/>
          <p:cNvSpPr/>
          <p:nvPr/>
        </p:nvSpPr>
        <p:spPr>
          <a:xfrm>
            <a:off x="134656" y="7952451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path 96"/>
          <p:cNvSpPr/>
          <p:nvPr/>
        </p:nvSpPr>
        <p:spPr>
          <a:xfrm>
            <a:off x="134656" y="6151333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" name="path 98"/>
          <p:cNvSpPr/>
          <p:nvPr/>
        </p:nvSpPr>
        <p:spPr>
          <a:xfrm>
            <a:off x="134656" y="435021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" name="path 100"/>
          <p:cNvSpPr/>
          <p:nvPr/>
        </p:nvSpPr>
        <p:spPr>
          <a:xfrm>
            <a:off x="134656" y="2549097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02"/>
          <p:cNvSpPr/>
          <p:nvPr/>
        </p:nvSpPr>
        <p:spPr>
          <a:xfrm>
            <a:off x="121956" y="797004"/>
            <a:ext cx="11079480" cy="848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57300" algn="l" rtl="0" eaLnBrk="0">
              <a:lnSpc>
                <a:spcPts val="8290"/>
              </a:lnSpc>
            </a:pPr>
            <a:r>
              <a:rPr sz="6500" kern="0" spc="-20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Enterprise Architecture</a:t>
            </a:r>
            <a:endParaRPr sz="65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7410" algn="l" rtl="0" eaLnBrk="0">
              <a:lnSpc>
                <a:spcPct val="97000"/>
              </a:lnSpc>
              <a:spcBef>
                <a:spcPts val="965"/>
              </a:spcBef>
              <a:tabLst>
                <a:tab pos="1224280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3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核心定义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67410" indent="6350" algn="l" rtl="0" eaLnBrk="0">
              <a:lnSpc>
                <a:spcPct val="196000"/>
              </a:lnSpc>
              <a:spcBef>
                <a:spcPts val="320"/>
              </a:spcBef>
              <a:tabLst>
                <a:tab pos="1235075" algn="l"/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5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涵盖范围、结构化、分解战略目</a:t>
            </a:r>
            <a:r>
              <a:rPr sz="2800" kern="0" spc="-1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标、管理系统复杂度、标准化</a:t>
            </a:r>
            <a:r>
              <a:rPr sz="2800" kern="0" spc="1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7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方法论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ct val="97000"/>
              </a:lnSpc>
              <a:spcBef>
                <a:spcPts val="850"/>
              </a:spcBef>
              <a:tabLst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800" kern="0" spc="2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</a:t>
            </a:r>
            <a:r>
              <a:rPr sz="2800" kern="0" spc="-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TOGAF</a:t>
            </a:r>
            <a:r>
              <a:rPr sz="2800" kern="0" spc="-14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、业务组件建模、数据建模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67410" algn="l" rtl="0" eaLnBrk="0">
              <a:lnSpc>
                <a:spcPts val="7330"/>
              </a:lnSpc>
              <a:tabLst>
                <a:tab pos="1238250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4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实践与工具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ts val="3615"/>
              </a:lnSpc>
              <a:spcBef>
                <a:spcPts val="850"/>
              </a:spcBef>
              <a:tabLst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11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1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案例、建模</a:t>
            </a:r>
            <a:r>
              <a:rPr sz="2800" kern="0" spc="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/</a:t>
            </a:r>
            <a:r>
              <a:rPr sz="2800" kern="0" spc="1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sz="2800" kern="0" spc="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/</a:t>
            </a:r>
            <a:r>
              <a:rPr sz="2800" kern="0" spc="1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治理工具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67410" algn="l" rtl="0" eaLnBrk="0">
              <a:lnSpc>
                <a:spcPts val="7135"/>
              </a:lnSpc>
              <a:tabLst>
                <a:tab pos="1211580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3200" kern="0" spc="-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3200" kern="0" spc="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200" kern="0" spc="-19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ct val="97000"/>
              </a:lnSpc>
              <a:spcBef>
                <a:spcPts val="0"/>
              </a:spcBef>
              <a:tabLst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6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-1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设计辅助、智能治理、分工升级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path 104"/>
          <p:cNvSpPr/>
          <p:nvPr/>
        </p:nvSpPr>
        <p:spPr>
          <a:xfrm>
            <a:off x="134656" y="7942034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path 106"/>
          <p:cNvSpPr/>
          <p:nvPr/>
        </p:nvSpPr>
        <p:spPr>
          <a:xfrm>
            <a:off x="134656" y="614091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" name="path 108"/>
          <p:cNvSpPr/>
          <p:nvPr/>
        </p:nvSpPr>
        <p:spPr>
          <a:xfrm>
            <a:off x="134656" y="4339797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" name="path 110"/>
          <p:cNvSpPr/>
          <p:nvPr/>
        </p:nvSpPr>
        <p:spPr>
          <a:xfrm>
            <a:off x="134656" y="2549097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12"/>
          <p:cNvSpPr/>
          <p:nvPr/>
        </p:nvSpPr>
        <p:spPr>
          <a:xfrm>
            <a:off x="121956" y="874220"/>
            <a:ext cx="9375140" cy="8396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57300" algn="l" rtl="0" eaLnBrk="0">
              <a:lnSpc>
                <a:spcPct val="96000"/>
              </a:lnSpc>
            </a:pPr>
            <a:r>
              <a:rPr sz="6700" kern="0" spc="-27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Domain-Dri</a:t>
            </a:r>
            <a:r>
              <a:rPr sz="6700" kern="0" spc="-28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ven</a:t>
            </a:r>
            <a:r>
              <a:rPr sz="6700" kern="0" spc="60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6700" kern="0" spc="-280" dirty="0">
                <a:solidFill>
                  <a:srgbClr val="A6AAA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6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7410" algn="l" rtl="0" eaLnBrk="0">
              <a:lnSpc>
                <a:spcPct val="97000"/>
              </a:lnSpc>
              <a:spcBef>
                <a:spcPts val="970"/>
              </a:spcBef>
              <a:tabLst>
                <a:tab pos="1224280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3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核心框架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ct val="97000"/>
              </a:lnSpc>
              <a:spcBef>
                <a:spcPts val="845"/>
              </a:spcBef>
              <a:tabLst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1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-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战略设计：子领域，限界上下文，统一语言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67410" indent="6350" algn="l" rtl="0" eaLnBrk="0">
              <a:lnSpc>
                <a:spcPct val="193000"/>
              </a:lnSpc>
              <a:spcBef>
                <a:spcPts val="560"/>
              </a:spcBef>
              <a:tabLst>
                <a:tab pos="1230630" algn="l"/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9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-1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战术设计：聚合，领域事件，</a:t>
            </a:r>
            <a:r>
              <a:rPr sz="2800" kern="0" spc="-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资源库</a:t>
            </a:r>
            <a:r>
              <a:rPr sz="2800" kern="0" spc="-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/</a:t>
            </a:r>
            <a:r>
              <a:rPr sz="2800" kern="0" spc="-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⼯⼚</a:t>
            </a:r>
            <a:r>
              <a:rPr sz="28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</a:t>
            </a: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3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关键实践与案例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67410" indent="6350" algn="l" rtl="0" eaLnBrk="0">
              <a:lnSpc>
                <a:spcPct val="202000"/>
              </a:lnSpc>
              <a:spcBef>
                <a:spcPts val="65"/>
              </a:spcBef>
              <a:tabLst>
                <a:tab pos="1211580" algn="l"/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kern="0" spc="8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800" kern="0" spc="-1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设计原则、事件风暴建模、领域模型设计</a:t>
            </a:r>
            <a:r>
              <a:rPr sz="28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</a:t>
            </a:r>
            <a:r>
              <a:rPr sz="30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3000" kern="0" spc="-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3000" kern="0" spc="14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-16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 </a:t>
            </a:r>
            <a:r>
              <a:rPr sz="3000" kern="0" spc="-1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DDD</a:t>
            </a:r>
            <a:r>
              <a:rPr sz="3000" kern="0" spc="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-16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9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ts val="3615"/>
              </a:lnSpc>
              <a:spcBef>
                <a:spcPts val="840"/>
              </a:spcBef>
              <a:tabLst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800" kern="0" spc="1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</a:t>
            </a:r>
            <a:r>
              <a:rPr sz="2800" kern="0" spc="-3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2800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800" kern="0" spc="-3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</a:t>
            </a:r>
            <a:r>
              <a:rPr sz="2800" kern="0" spc="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800" kern="0" spc="-36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DDD</a:t>
            </a:r>
            <a:r>
              <a:rPr sz="2800" kern="0" spc="-1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：领域模型、代码骨架与测</a:t>
            </a:r>
            <a:r>
              <a:rPr sz="2800" kern="0" spc="-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试用例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73760" algn="l" rtl="0" eaLnBrk="0">
              <a:lnSpc>
                <a:spcPts val="3615"/>
              </a:lnSpc>
              <a:spcBef>
                <a:spcPts val="0"/>
              </a:spcBef>
              <a:tabLst>
                <a:tab pos="1254760" algn="l"/>
              </a:tabLst>
            </a:pPr>
            <a:r>
              <a:rPr sz="2800" strike="sngStrike" kern="0" spc="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800" kern="0" spc="27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</a:t>
            </a:r>
            <a:r>
              <a:rPr sz="2800" kern="0" spc="-2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DDD for</a:t>
            </a:r>
            <a:r>
              <a:rPr sz="28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800" kern="0" spc="-2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2800" kern="0" spc="-29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：为</a:t>
            </a:r>
            <a:r>
              <a:rPr sz="2800" kern="0" spc="5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kern="0" spc="-2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2800" kern="0" spc="1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800" kern="0" spc="-4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明确逻辑输入、简化</a:t>
            </a:r>
            <a:r>
              <a:rPr sz="2800" kern="0" spc="-5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 </a:t>
            </a:r>
            <a:r>
              <a:rPr sz="2800" kern="0" spc="-5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模型训练范围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path 114"/>
          <p:cNvSpPr/>
          <p:nvPr/>
        </p:nvSpPr>
        <p:spPr>
          <a:xfrm>
            <a:off x="134656" y="702991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6" name="path 116"/>
          <p:cNvSpPr/>
          <p:nvPr/>
        </p:nvSpPr>
        <p:spPr>
          <a:xfrm>
            <a:off x="134656" y="523921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8" name="path 118"/>
          <p:cNvSpPr/>
          <p:nvPr/>
        </p:nvSpPr>
        <p:spPr>
          <a:xfrm>
            <a:off x="134656" y="2574497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20"/>
          <p:cNvSpPr/>
          <p:nvPr/>
        </p:nvSpPr>
        <p:spPr>
          <a:xfrm>
            <a:off x="121956" y="797004"/>
            <a:ext cx="8592184" cy="8282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57300" algn="l" rtl="0" eaLnBrk="0">
              <a:lnSpc>
                <a:spcPct val="79000"/>
              </a:lnSpc>
            </a:pPr>
            <a:r>
              <a:rPr sz="7100" kern="0" spc="-27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</a:t>
            </a:r>
            <a:r>
              <a:rPr sz="7100" kern="0" spc="59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100" kern="0" spc="-27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Exam</a:t>
            </a:r>
            <a:endParaRPr sz="71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7410" algn="l" rtl="0" eaLnBrk="0">
              <a:lnSpc>
                <a:spcPts val="4135"/>
              </a:lnSpc>
              <a:spcBef>
                <a:spcPts val="960"/>
              </a:spcBef>
              <a:tabLst>
                <a:tab pos="1226185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9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总评成绩 </a:t>
            </a:r>
            <a:r>
              <a:rPr sz="32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= </a:t>
            </a:r>
            <a:r>
              <a:rPr sz="3200" kern="0" spc="-9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平时成绩</a:t>
            </a:r>
            <a:r>
              <a:rPr sz="3200" kern="0" spc="-9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* 40% + </a:t>
            </a:r>
            <a:r>
              <a:rPr sz="3200" kern="0" spc="-9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期末考</a:t>
            </a:r>
            <a:r>
              <a:rPr sz="3200" kern="0" spc="-10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</a:t>
            </a:r>
            <a:r>
              <a:rPr sz="3200" kern="0" spc="-10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* 60%</a:t>
            </a:r>
            <a:endParaRPr sz="3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67410" algn="l" rtl="0" eaLnBrk="0">
              <a:lnSpc>
                <a:spcPts val="7395"/>
              </a:lnSpc>
              <a:tabLst>
                <a:tab pos="1249680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11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内容占比：架构设计</a:t>
            </a:r>
            <a:r>
              <a:rPr sz="32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50% + </a:t>
            </a:r>
            <a:r>
              <a:rPr sz="3200" kern="0" spc="-11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设计模式</a:t>
            </a:r>
            <a:r>
              <a:rPr sz="3200" kern="0" spc="-11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50%</a:t>
            </a:r>
            <a:endParaRPr sz="3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7410" algn="l" rtl="0" eaLnBrk="0">
              <a:lnSpc>
                <a:spcPct val="97000"/>
              </a:lnSpc>
              <a:spcBef>
                <a:spcPts val="960"/>
              </a:spcBef>
              <a:tabLst>
                <a:tab pos="1223010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1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题型：简答题、设计分析题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67410" algn="l" rtl="0" eaLnBrk="0">
              <a:lnSpc>
                <a:spcPts val="7300"/>
              </a:lnSpc>
              <a:tabLst>
                <a:tab pos="1232535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英文题目、中文或英文答题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67410" algn="l" rtl="0" eaLnBrk="0">
              <a:lnSpc>
                <a:spcPts val="7395"/>
              </a:lnSpc>
              <a:tabLst>
                <a:tab pos="1224280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个别题目可能需画图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7410" algn="l" rtl="0" eaLnBrk="0">
              <a:lnSpc>
                <a:spcPts val="4135"/>
              </a:lnSpc>
              <a:spcBef>
                <a:spcPts val="965"/>
              </a:spcBef>
              <a:tabLst>
                <a:tab pos="1230630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1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基础内容</a:t>
            </a:r>
            <a:r>
              <a:rPr sz="3200" kern="0" spc="-1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60%</a:t>
            </a:r>
            <a:endParaRPr sz="3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9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67410" algn="l" rtl="0" eaLnBrk="0">
              <a:lnSpc>
                <a:spcPts val="4135"/>
              </a:lnSpc>
              <a:tabLst>
                <a:tab pos="1235075" algn="l"/>
              </a:tabLst>
            </a:pPr>
            <a:r>
              <a:rPr sz="3200" kern="0" spc="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200" kern="0" spc="-120" dirty="0">
                <a:solidFill>
                  <a:srgbClr val="3A52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进阶内容</a:t>
            </a:r>
            <a:r>
              <a:rPr sz="3200" kern="0" spc="-120" dirty="0">
                <a:solidFill>
                  <a:srgbClr val="3A525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40%</a:t>
            </a:r>
            <a:endParaRPr sz="3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2" name="path 122"/>
          <p:cNvSpPr/>
          <p:nvPr/>
        </p:nvSpPr>
        <p:spPr>
          <a:xfrm>
            <a:off x="134656" y="8591122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4" name="path 124"/>
          <p:cNvSpPr/>
          <p:nvPr/>
        </p:nvSpPr>
        <p:spPr>
          <a:xfrm>
            <a:off x="134656" y="765211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6" name="path 126"/>
          <p:cNvSpPr/>
          <p:nvPr/>
        </p:nvSpPr>
        <p:spPr>
          <a:xfrm>
            <a:off x="134656" y="6725015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8" name="path 128"/>
          <p:cNvSpPr/>
          <p:nvPr/>
        </p:nvSpPr>
        <p:spPr>
          <a:xfrm>
            <a:off x="134656" y="5786009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0" name="path 130"/>
          <p:cNvSpPr/>
          <p:nvPr/>
        </p:nvSpPr>
        <p:spPr>
          <a:xfrm>
            <a:off x="134656" y="4858909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" name="path 132"/>
          <p:cNvSpPr/>
          <p:nvPr/>
        </p:nvSpPr>
        <p:spPr>
          <a:xfrm>
            <a:off x="134656" y="3919903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" name="path 134"/>
          <p:cNvSpPr/>
          <p:nvPr/>
        </p:nvSpPr>
        <p:spPr>
          <a:xfrm>
            <a:off x="134656" y="2980897"/>
            <a:ext cx="855094" cy="431551"/>
          </a:xfrm>
          <a:custGeom>
            <a:avLst/>
            <a:gdLst/>
            <a:ahLst/>
            <a:cxnLst/>
            <a:rect l="0" t="0" r="0" b="0"/>
            <a:pathLst>
              <a:path w="1346" h="679">
                <a:moveTo>
                  <a:pt x="1340" y="6"/>
                </a:moveTo>
                <a:cubicBezTo>
                  <a:pt x="1340" y="6"/>
                  <a:pt x="1269" y="6"/>
                  <a:pt x="1269" y="6"/>
                </a:cubicBezTo>
                <a:cubicBezTo>
                  <a:pt x="1269" y="6"/>
                  <a:pt x="1269" y="673"/>
                  <a:pt x="1269" y="673"/>
                </a:cubicBezTo>
                <a:cubicBezTo>
                  <a:pt x="1269" y="673"/>
                  <a:pt x="1340" y="673"/>
                  <a:pt x="1340" y="673"/>
                </a:cubicBezTo>
                <a:moveTo>
                  <a:pt x="6" y="339"/>
                </a:moveTo>
                <a:cubicBezTo>
                  <a:pt x="6" y="339"/>
                  <a:pt x="1269" y="339"/>
                  <a:pt x="1269" y="339"/>
                </a:cubicBezTo>
              </a:path>
            </a:pathLst>
          </a:custGeom>
          <a:noFill/>
          <a:ln w="8142" cap="flat">
            <a:solidFill>
              <a:srgbClr val="2A4343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6002</Words>
  <Application>WPS 演示</Application>
  <PresentationFormat/>
  <Paragraphs>350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1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Microsoft YaHei UI</vt:lpstr>
      <vt:lpstr>Segoe UI</vt:lpstr>
      <vt:lpstr>MicrosoftYaHeiUI-Bold</vt:lpstr>
      <vt:lpstr>Segoe Print</vt:lpstr>
      <vt:lpstr>SegoeUI-Bold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softarch2025-review-本</dc:title>
  <dc:creator/>
  <cp:lastModifiedBy>晞梦</cp:lastModifiedBy>
  <cp:revision>10</cp:revision>
  <dcterms:created xsi:type="dcterms:W3CDTF">2025-06-12T02:14:00Z</dcterms:created>
  <dcterms:modified xsi:type="dcterms:W3CDTF">2025-06-14T13:53:52Z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2025-06-13T02:02:40Z</vt:filetime>
  </property>
  <property fmtid="{D5CDD505-2E9C-101B-9397-08002B2CF9AE}" pid="4" name="ICV">
    <vt:lpwstr>970CA8B0D5D748B18F3CCB3D3E8EC169_12</vt:lpwstr>
  </property>
  <property fmtid="{D5CDD505-2E9C-101B-9397-08002B2CF9AE}" pid="5" name="KSOProductBuildVer">
    <vt:lpwstr>2052-12.1.0.21541</vt:lpwstr>
  </property>
</Properties>
</file>