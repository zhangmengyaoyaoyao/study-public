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32"/>
  </p:notesMasterIdLst>
  <p:sldIdLst>
    <p:sldId id="427" r:id="rId2"/>
    <p:sldId id="439" r:id="rId3"/>
    <p:sldId id="440" r:id="rId4"/>
    <p:sldId id="441" r:id="rId5"/>
    <p:sldId id="445" r:id="rId6"/>
    <p:sldId id="446" r:id="rId7"/>
    <p:sldId id="442" r:id="rId8"/>
    <p:sldId id="447" r:id="rId9"/>
    <p:sldId id="448" r:id="rId10"/>
    <p:sldId id="443" r:id="rId11"/>
    <p:sldId id="449" r:id="rId12"/>
    <p:sldId id="450" r:id="rId13"/>
    <p:sldId id="451" r:id="rId14"/>
    <p:sldId id="452" r:id="rId15"/>
    <p:sldId id="453" r:id="rId16"/>
    <p:sldId id="454" r:id="rId17"/>
    <p:sldId id="455" r:id="rId18"/>
    <p:sldId id="456" r:id="rId19"/>
    <p:sldId id="460" r:id="rId20"/>
    <p:sldId id="458" r:id="rId21"/>
    <p:sldId id="461" r:id="rId22"/>
    <p:sldId id="462" r:id="rId23"/>
    <p:sldId id="463" r:id="rId24"/>
    <p:sldId id="444" r:id="rId25"/>
    <p:sldId id="464" r:id="rId26"/>
    <p:sldId id="468" r:id="rId27"/>
    <p:sldId id="465" r:id="rId28"/>
    <p:sldId id="466" r:id="rId29"/>
    <p:sldId id="467" r:id="rId30"/>
    <p:sldId id="435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7575F1"/>
    <a:srgbClr val="90B0D6"/>
    <a:srgbClr val="9B6BFB"/>
    <a:srgbClr val="7469FD"/>
    <a:srgbClr val="AD8CDA"/>
    <a:srgbClr val="6D7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5" autoAdjust="0"/>
    <p:restoredTop sz="74830" autoAdjust="0"/>
  </p:normalViewPr>
  <p:slideViewPr>
    <p:cSldViewPr>
      <p:cViewPr varScale="1">
        <p:scale>
          <a:sx n="76" d="100"/>
          <a:sy n="76" d="100"/>
        </p:scale>
        <p:origin x="957" y="3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F6B3B813-A581-48DC-8633-E3C4F4BDBFEB}" type="datetimeFigureOut">
              <a:rPr lang="zh-CN" altLang="en-US"/>
              <a:pPr>
                <a:defRPr/>
              </a:pPr>
              <a:t>2025/3/18</a:t>
            </a:fld>
            <a:endParaRPr lang="en-US" altLang="zh-CN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2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72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68BBDFF6-09F2-4148-9FBE-EAEC59E6E8F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70128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D5C8545-BBCF-4CE1-B5A0-68AF68001A31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846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Semi-Automatic Ground Environment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3293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四大本质难题肆虐</a:t>
            </a:r>
            <a:r>
              <a:rPr kumimoji="1" lang="mr-IN" altLang="zh-CN" dirty="0"/>
              <a:t>……</a:t>
            </a:r>
            <a:r>
              <a:rPr kumimoji="1" lang="zh-CN" altLang="en-US" dirty="0"/>
              <a:t>危机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6677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2000" dirty="0"/>
              <a:t>设计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开发； 设计文档化；</a:t>
            </a:r>
            <a:r>
              <a:rPr kumimoji="1" lang="en-US" altLang="zh-CN" sz="2000" dirty="0"/>
              <a:t>build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it</a:t>
            </a:r>
            <a:r>
              <a:rPr kumimoji="1" lang="en-US" altLang="zh-CN" sz="2000" baseline="0" dirty="0"/>
              <a:t> twice</a:t>
            </a:r>
            <a:r>
              <a:rPr kumimoji="1" lang="zh-CN" altLang="en-US" sz="2000" baseline="0" dirty="0"/>
              <a:t>， 规划和监控测试，引入客户</a:t>
            </a:r>
            <a:endParaRPr kumimoji="1" lang="en-US" altLang="zh-CN" sz="2000" baseline="0" dirty="0"/>
          </a:p>
          <a:p>
            <a:endParaRPr kumimoji="1" lang="en-US" altLang="zh-CN" sz="2000" baseline="0" dirty="0"/>
          </a:p>
          <a:p>
            <a:r>
              <a:rPr kumimoji="1" lang="en-US" altLang="zh-CN" sz="2000" baseline="0" dirty="0"/>
              <a:t>DOD-Std-2167</a:t>
            </a:r>
            <a:endParaRPr kumimoji="1" lang="zh-CN" altLang="en-US" sz="20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6304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806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8936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BBDFF6-09F2-4148-9FBE-EAEC59E6E8F5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1513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22"/>
          <a:stretch>
            <a:fillRect/>
          </a:stretch>
        </p:blipFill>
        <p:spPr bwMode="auto">
          <a:xfrm>
            <a:off x="0" y="1588"/>
            <a:ext cx="9144000" cy="536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6"/>
          <p:cNvSpPr txBox="1">
            <a:spLocks noChangeArrowheads="1"/>
          </p:cNvSpPr>
          <p:nvPr/>
        </p:nvSpPr>
        <p:spPr bwMode="gray">
          <a:xfrm>
            <a:off x="0" y="5300663"/>
            <a:ext cx="9144000" cy="144462"/>
          </a:xfrm>
          <a:prstGeom prst="rect">
            <a:avLst/>
          </a:prstGeom>
          <a:solidFill>
            <a:srgbClr val="A9C6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8" y="188913"/>
            <a:ext cx="3163887" cy="7223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03648" y="5589240"/>
            <a:ext cx="6553200" cy="126876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 b="1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 dirty="0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077072"/>
            <a:ext cx="9144000" cy="1224137"/>
          </a:xfrm>
          <a:gradFill>
            <a:gsLst>
              <a:gs pos="0">
                <a:srgbClr val="00607A"/>
              </a:gs>
              <a:gs pos="100000">
                <a:srgbClr val="00607A"/>
              </a:gs>
            </a:gsLst>
            <a:lin ang="0" scaled="1"/>
          </a:gradFill>
          <a:effectLst/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2171918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8E"/>
                </a:solidFill>
              </a:defRPr>
            </a:lvl1pPr>
            <a:lvl2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2pPr>
            <a:lvl3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3pPr>
            <a:lvl4pPr>
              <a:defRPr>
                <a:solidFill>
                  <a:srgbClr val="00708E"/>
                </a:solidFill>
                <a:latin typeface="+mn-ea"/>
                <a:ea typeface="+mn-ea"/>
              </a:defRPr>
            </a:lvl4pPr>
            <a:lvl5pPr>
              <a:defRPr>
                <a:solidFill>
                  <a:srgbClr val="00708E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AA6EC-6A09-4E3E-B9B9-F7A83E2801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45914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342CDC-3AA7-4AAD-BDB2-C8F29CA42A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210997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C13FD-12A1-4FD5-AD1F-157FC418A0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6359564"/>
      </p:ext>
    </p:extLst>
  </p:cSld>
  <p:clrMapOvr>
    <a:masterClrMapping/>
  </p:clrMapOvr>
  <p:transition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68AEEA-8DEA-4184-870D-5EE32F364D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928642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9A7CFE-A7A2-4066-A4FA-68E57190DC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246639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8D668B-48D4-47BF-9944-0FAD988E7F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16993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CFEC6D-B80A-44B8-9200-8AFF6F2A7A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491271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45D733-E0EC-4B5B-942C-9E7C23DF65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574660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081425-CCE1-4328-BE81-C2432471A1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57430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90DF6E-8FBB-43CD-8EC6-681543D905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795462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52525"/>
            <a:ext cx="8229600" cy="5248275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81DE08-35D9-4D7A-BB5A-4E131C4B33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2833666"/>
      </p:ext>
    </p:extLst>
  </p:cSld>
  <p:clrMapOvr>
    <a:masterClrMapping/>
  </p:clrMapOvr>
  <p:transition/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solidFill>
            <a:srgbClr val="0060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34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611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  <a:ea typeface="宋体" charset="-122"/>
              </a:defRPr>
            </a:lvl1pPr>
          </a:lstStyle>
          <a:p>
            <a:pPr>
              <a:defRPr/>
            </a:pPr>
            <a:fld id="{CD3807DF-B24E-477E-9A9D-8F9A8A6DED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" name="Text Box 16"/>
          <p:cNvSpPr txBox="1">
            <a:spLocks noChangeArrowheads="1"/>
          </p:cNvSpPr>
          <p:nvPr/>
        </p:nvSpPr>
        <p:spPr bwMode="gray">
          <a:xfrm>
            <a:off x="0" y="838200"/>
            <a:ext cx="9144000" cy="144463"/>
          </a:xfrm>
          <a:prstGeom prst="rect">
            <a:avLst/>
          </a:prstGeom>
          <a:solidFill>
            <a:srgbClr val="A9C6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0288" y="6453188"/>
            <a:ext cx="1579562" cy="3603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63538" indent="-363538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l"/>
        <a:defRPr sz="3200">
          <a:solidFill>
            <a:srgbClr val="00607A"/>
          </a:solidFill>
          <a:latin typeface="+mn-lt"/>
          <a:ea typeface="+mn-ea"/>
          <a:cs typeface="+mn-cs"/>
        </a:defRPr>
      </a:lvl1pPr>
      <a:lvl2pPr marL="715963" indent="-352425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n"/>
        <a:defRPr sz="2800">
          <a:solidFill>
            <a:srgbClr val="00607A"/>
          </a:solidFill>
          <a:latin typeface="+mn-lt"/>
        </a:defRPr>
      </a:lvl2pPr>
      <a:lvl3pPr marL="1079500" indent="-363538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u"/>
        <a:defRPr sz="2400">
          <a:solidFill>
            <a:srgbClr val="00607A"/>
          </a:solidFill>
          <a:latin typeface="+mn-lt"/>
        </a:defRPr>
      </a:lvl3pPr>
      <a:lvl4pPr marL="1431925" indent="-352425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607A"/>
          </a:solidFill>
          <a:latin typeface="+mn-lt"/>
        </a:defRPr>
      </a:lvl4pPr>
      <a:lvl5pPr marL="1795463" indent="-36353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607A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副标题 2"/>
          <p:cNvSpPr>
            <a:spLocks noGrp="1"/>
          </p:cNvSpPr>
          <p:nvPr>
            <p:ph type="subTitle" idx="1"/>
          </p:nvPr>
        </p:nvSpPr>
        <p:spPr>
          <a:xfrm>
            <a:off x="1403350" y="5589588"/>
            <a:ext cx="6553200" cy="12684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zh-CN" altLang="en-US" dirty="0">
                <a:ea typeface="宋体" pitchFamily="2" charset="-122"/>
              </a:rPr>
              <a:t>荣国平</a:t>
            </a:r>
            <a:endParaRPr lang="en-US" altLang="zh-CN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zh-CN" altLang="en-US" dirty="0">
                <a:ea typeface="宋体" pitchFamily="2" charset="-122"/>
              </a:rPr>
              <a:t>南京大学软件学院</a:t>
            </a:r>
            <a:endParaRPr lang="en-US" altLang="zh-CN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zh-CN">
                <a:ea typeface="宋体" pitchFamily="2" charset="-122"/>
              </a:rPr>
              <a:t>2025 </a:t>
            </a:r>
            <a:r>
              <a:rPr lang="zh-CN" altLang="en-US" dirty="0">
                <a:ea typeface="宋体" pitchFamily="2" charset="-122"/>
              </a:rPr>
              <a:t>年 春</a:t>
            </a:r>
            <a:endParaRPr lang="en-US" altLang="zh-CN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endParaRPr lang="zh-CN" altLang="en-US" dirty="0">
              <a:ea typeface="宋体" pitchFamily="2" charset="-122"/>
            </a:endParaRPr>
          </a:p>
        </p:txBody>
      </p:sp>
      <p:sp>
        <p:nvSpPr>
          <p:cNvPr id="3075" name="标题 1"/>
          <p:cNvSpPr>
            <a:spLocks noGrp="1"/>
          </p:cNvSpPr>
          <p:nvPr>
            <p:ph type="ctrTitle" sz="quarter"/>
          </p:nvPr>
        </p:nvSpPr>
        <p:spPr>
          <a:xfrm>
            <a:off x="0" y="4076700"/>
            <a:ext cx="9144000" cy="1223963"/>
          </a:xfrm>
          <a:gradFill rotWithShape="0"/>
        </p:spPr>
        <p:txBody>
          <a:bodyPr/>
          <a:lstStyle/>
          <a:p>
            <a:pPr eaLnBrk="1" hangingPunct="1"/>
            <a:r>
              <a:rPr lang="zh-CN" altLang="en-US" dirty="0">
                <a:ea typeface="宋体" pitchFamily="2" charset="-122"/>
              </a:rPr>
              <a:t>软件质量与管理 第二讲</a:t>
            </a:r>
            <a:br>
              <a:rPr lang="en-US" altLang="zh-CN" dirty="0">
                <a:ea typeface="宋体" pitchFamily="2" charset="-122"/>
              </a:rPr>
            </a:br>
            <a:r>
              <a:rPr kumimoji="1" lang="zh-CN" altLang="en-US" dirty="0"/>
              <a:t>软件过程的历史演变和</a:t>
            </a:r>
            <a:r>
              <a:rPr kumimoji="1" lang="zh-CN" altLang="en-US"/>
              <a:t>经典工作</a:t>
            </a: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再读</a:t>
            </a:r>
            <a:r>
              <a:rPr kumimoji="1" lang="en-US" altLang="zh-CN" dirty="0"/>
              <a:t>《</a:t>
            </a:r>
            <a:r>
              <a:rPr kumimoji="1" lang="zh-CN" altLang="en-US" dirty="0"/>
              <a:t>没有银弹</a:t>
            </a:r>
            <a:r>
              <a:rPr kumimoji="1" lang="en-US" altLang="zh-CN" dirty="0"/>
              <a:t>》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458200" cy="5348287"/>
          </a:xfrm>
        </p:spPr>
        <p:txBody>
          <a:bodyPr/>
          <a:lstStyle/>
          <a:p>
            <a:r>
              <a:rPr kumimoji="1" lang="zh-CN" altLang="en-US" dirty="0"/>
              <a:t>软件开发有很多困难，但是本质难题是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不可见性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复杂性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可变性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一致性</a:t>
            </a:r>
            <a:endParaRPr kumimoji="1" lang="en-US" altLang="zh-CN" dirty="0"/>
          </a:p>
          <a:p>
            <a:r>
              <a:rPr kumimoji="1" lang="zh-CN" altLang="en-US" dirty="0"/>
              <a:t>进一步分析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三个本质难题因项目而异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四大本质难题相互促进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本质难题变化带动软件方法（过程）演变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661481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软件发展三大阶段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" y="3805480"/>
            <a:ext cx="8991600" cy="2442920"/>
          </a:xfrm>
        </p:spPr>
        <p:txBody>
          <a:bodyPr/>
          <a:lstStyle/>
          <a:p>
            <a:r>
              <a:rPr kumimoji="1" lang="zh-CN" altLang="en-US" dirty="0"/>
              <a:t>软硬件一体化阶段（</a:t>
            </a:r>
            <a:r>
              <a:rPr kumimoji="1" lang="en-US" altLang="zh-CN" dirty="0"/>
              <a:t>50</a:t>
            </a:r>
            <a:r>
              <a:rPr kumimoji="1" lang="zh-CN" altLang="en-US" dirty="0"/>
              <a:t>年代</a:t>
            </a:r>
            <a:r>
              <a:rPr kumimoji="1" lang="en-US" altLang="zh-CN" dirty="0"/>
              <a:t>~70</a:t>
            </a:r>
            <a:r>
              <a:rPr kumimoji="1" lang="zh-CN" altLang="en-US" dirty="0"/>
              <a:t>年代）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软件完全依附于硬件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软件作坊</a:t>
            </a:r>
            <a:endParaRPr kumimoji="1" lang="en-US" altLang="zh-CN" dirty="0"/>
          </a:p>
          <a:p>
            <a:r>
              <a:rPr kumimoji="1" lang="zh-CN" altLang="en-US" dirty="0"/>
              <a:t>软件成为独立的产品（</a:t>
            </a:r>
            <a:r>
              <a:rPr kumimoji="1" lang="en-US" altLang="zh-CN" dirty="0"/>
              <a:t>70</a:t>
            </a:r>
            <a:r>
              <a:rPr kumimoji="1" lang="zh-CN" altLang="en-US" dirty="0"/>
              <a:t>年代</a:t>
            </a:r>
            <a:r>
              <a:rPr kumimoji="1" lang="en-US" altLang="zh-CN" dirty="0"/>
              <a:t>~90</a:t>
            </a:r>
            <a:r>
              <a:rPr kumimoji="1" lang="zh-CN" altLang="en-US" dirty="0"/>
              <a:t>年代）</a:t>
            </a:r>
            <a:endParaRPr kumimoji="1" lang="en-US" altLang="zh-CN" dirty="0"/>
          </a:p>
          <a:p>
            <a:r>
              <a:rPr kumimoji="1" lang="zh-CN" altLang="en-US" dirty="0"/>
              <a:t>网络化和服务化（</a:t>
            </a:r>
            <a:r>
              <a:rPr kumimoji="1" lang="en-US" altLang="zh-CN" dirty="0"/>
              <a:t>90</a:t>
            </a:r>
            <a:r>
              <a:rPr kumimoji="1" lang="zh-CN" altLang="en-US" dirty="0"/>
              <a:t>年代中期迄今）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990600"/>
            <a:ext cx="4869509" cy="276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10923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kumimoji="1" lang="zh-CN" altLang="en-US" dirty="0"/>
              <a:t>软件完全依附于硬件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143000"/>
            <a:ext cx="6705600" cy="4191000"/>
          </a:xfrm>
        </p:spPr>
        <p:txBody>
          <a:bodyPr/>
          <a:lstStyle/>
          <a:p>
            <a:r>
              <a:rPr lang="zh-CN" altLang="en-US" dirty="0"/>
              <a:t>软件应用典型特征</a:t>
            </a:r>
            <a:endParaRPr lang="en-US" altLang="zh-CN" dirty="0"/>
          </a:p>
          <a:p>
            <a:pPr lvl="1"/>
            <a:r>
              <a:rPr lang="zh-CN" altLang="en-US" dirty="0"/>
              <a:t>软件支持硬件完成计算任务</a:t>
            </a:r>
            <a:endParaRPr lang="en-US" altLang="zh-CN" dirty="0"/>
          </a:p>
          <a:p>
            <a:pPr lvl="1"/>
            <a:r>
              <a:rPr lang="zh-CN" altLang="en-US" dirty="0"/>
              <a:t>功能单一</a:t>
            </a:r>
            <a:endParaRPr lang="en-US" altLang="zh-CN" dirty="0"/>
          </a:p>
          <a:p>
            <a:pPr lvl="1"/>
            <a:r>
              <a:rPr lang="zh-CN" altLang="en-US" dirty="0"/>
              <a:t>复杂度有限</a:t>
            </a:r>
            <a:endParaRPr lang="en-US" altLang="zh-CN" dirty="0"/>
          </a:p>
          <a:p>
            <a:pPr lvl="1"/>
            <a:r>
              <a:rPr lang="zh-CN" altLang="en-US" dirty="0"/>
              <a:t>几乎不需要需求变更</a:t>
            </a:r>
            <a:endParaRPr lang="en-US" altLang="zh-CN" dirty="0"/>
          </a:p>
          <a:p>
            <a:r>
              <a:rPr lang="zh-CN" altLang="en-US" dirty="0"/>
              <a:t>软件开发典型特征</a:t>
            </a:r>
            <a:endParaRPr lang="en-US" altLang="zh-CN" dirty="0"/>
          </a:p>
          <a:p>
            <a:pPr lvl="1"/>
            <a:r>
              <a:rPr lang="zh-CN" altLang="en-US" dirty="0"/>
              <a:t>硬件太贵</a:t>
            </a:r>
            <a:endParaRPr lang="en-US" altLang="zh-CN" dirty="0"/>
          </a:p>
          <a:p>
            <a:pPr lvl="1"/>
            <a:r>
              <a:rPr lang="zh-CN" altLang="en-US" dirty="0"/>
              <a:t>团队以硬件工程师和数学家为主</a:t>
            </a:r>
            <a:endParaRPr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047282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143000"/>
            <a:ext cx="8035159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3127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96747" y="1447800"/>
            <a:ext cx="8229600" cy="4144962"/>
          </a:xfrm>
        </p:spPr>
        <p:txBody>
          <a:bodyPr/>
          <a:lstStyle/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en-US" altLang="zh-CN" sz="4000" dirty="0"/>
              <a:t>“Measure</a:t>
            </a:r>
            <a:r>
              <a:rPr lang="zh-CN" altLang="en-US" sz="4000" dirty="0"/>
              <a:t> </a:t>
            </a:r>
            <a:r>
              <a:rPr lang="en-US" altLang="zh-CN" sz="4000" dirty="0"/>
              <a:t>twice, cut once”</a:t>
            </a:r>
          </a:p>
        </p:txBody>
      </p:sp>
    </p:spTree>
    <p:extLst>
      <p:ext uri="{BB962C8B-B14F-4D97-AF65-F5344CB8AC3E}">
        <p14:creationId xmlns:p14="http://schemas.microsoft.com/office/powerpoint/2010/main" val="169033137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软件作坊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12838"/>
            <a:ext cx="8229600" cy="5348287"/>
          </a:xfrm>
        </p:spPr>
        <p:txBody>
          <a:bodyPr/>
          <a:lstStyle/>
          <a:p>
            <a:r>
              <a:rPr lang="zh-CN" altLang="en-US" dirty="0"/>
              <a:t>软件应用典型特征</a:t>
            </a:r>
            <a:endParaRPr lang="en-US" altLang="zh-CN" dirty="0"/>
          </a:p>
          <a:p>
            <a:pPr lvl="1"/>
            <a:r>
              <a:rPr kumimoji="1" lang="zh-CN" altLang="en-US" dirty="0"/>
              <a:t>功能简单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规模小</a:t>
            </a:r>
            <a:endParaRPr kumimoji="1" lang="en-US" altLang="zh-CN" dirty="0"/>
          </a:p>
          <a:p>
            <a:r>
              <a:rPr kumimoji="1" lang="zh-CN" altLang="en-US" dirty="0"/>
              <a:t>软件开发典型特征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很多非专业领域的人员涌入软件开发领域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高级程序语言出现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质疑权威文化盛行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479613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96747" y="1447800"/>
            <a:ext cx="8229600" cy="4144962"/>
          </a:xfrm>
        </p:spPr>
        <p:txBody>
          <a:bodyPr/>
          <a:lstStyle/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en-US" altLang="zh-CN" sz="4000" dirty="0"/>
              <a:t>“Code and fix”</a:t>
            </a:r>
          </a:p>
        </p:txBody>
      </p:sp>
    </p:spTree>
    <p:extLst>
      <p:ext uri="{BB962C8B-B14F-4D97-AF65-F5344CB8AC3E}">
        <p14:creationId xmlns:p14="http://schemas.microsoft.com/office/powerpoint/2010/main" val="25951845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软件危机和软件工程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96747" y="1447800"/>
            <a:ext cx="7809053" cy="4114800"/>
          </a:xfrm>
        </p:spPr>
        <p:txBody>
          <a:bodyPr/>
          <a:lstStyle/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en-US" altLang="zh-CN" sz="4000" dirty="0"/>
              <a:t>“Code and fix”</a:t>
            </a:r>
            <a:r>
              <a:rPr lang="zh-CN" altLang="en-US" sz="4000" dirty="0"/>
              <a:t> 不适合大型软件项目开发！</a:t>
            </a:r>
            <a:endParaRPr lang="en-US" altLang="zh-CN" sz="4000" dirty="0"/>
          </a:p>
          <a:p>
            <a:pPr marL="0" indent="0" algn="ctr">
              <a:buNone/>
            </a:pPr>
            <a:endParaRPr lang="en-US" altLang="zh-CN" sz="4000" dirty="0"/>
          </a:p>
        </p:txBody>
      </p:sp>
    </p:spTree>
    <p:extLst>
      <p:ext uri="{BB962C8B-B14F-4D97-AF65-F5344CB8AC3E}">
        <p14:creationId xmlns:p14="http://schemas.microsoft.com/office/powerpoint/2010/main" val="62606651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软件成为独立产品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9100" y="945356"/>
            <a:ext cx="8229600" cy="4998244"/>
          </a:xfrm>
        </p:spPr>
        <p:txBody>
          <a:bodyPr/>
          <a:lstStyle/>
          <a:p>
            <a:r>
              <a:rPr lang="zh-CN" altLang="en-US" dirty="0"/>
              <a:t>软件应用特征</a:t>
            </a:r>
            <a:endParaRPr lang="en-US" altLang="zh-CN" dirty="0"/>
          </a:p>
          <a:p>
            <a:pPr lvl="1"/>
            <a:r>
              <a:rPr lang="zh-CN" altLang="en-US" dirty="0"/>
              <a:t>摆脱了硬件束缚（</a:t>
            </a:r>
            <a:r>
              <a:rPr lang="en-US" altLang="zh-CN" dirty="0"/>
              <a:t>OS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功能强大</a:t>
            </a:r>
            <a:endParaRPr lang="en-US" altLang="zh-CN" dirty="0"/>
          </a:p>
          <a:p>
            <a:pPr lvl="1"/>
            <a:r>
              <a:rPr lang="zh-CN" altLang="en-US" dirty="0"/>
              <a:t>规模和复杂度剧增</a:t>
            </a:r>
            <a:endParaRPr lang="en-US" altLang="zh-CN" dirty="0"/>
          </a:p>
          <a:p>
            <a:pPr lvl="1"/>
            <a:r>
              <a:rPr lang="zh-CN" altLang="en-US" dirty="0"/>
              <a:t>个人电脑出现</a:t>
            </a:r>
            <a:r>
              <a:rPr lang="en-US" altLang="zh-CN" dirty="0"/>
              <a:t>             </a:t>
            </a:r>
            <a:r>
              <a:rPr lang="zh-CN" altLang="en-US" dirty="0"/>
              <a:t>普通人成为软件用户</a:t>
            </a:r>
            <a:endParaRPr lang="en-US" altLang="zh-CN" dirty="0"/>
          </a:p>
          <a:p>
            <a:pPr lvl="2"/>
            <a:r>
              <a:rPr lang="zh-CN" altLang="en-US" dirty="0"/>
              <a:t>需求多变</a:t>
            </a:r>
            <a:endParaRPr lang="en-US" altLang="zh-CN" dirty="0"/>
          </a:p>
          <a:p>
            <a:pPr lvl="2"/>
            <a:r>
              <a:rPr lang="zh-CN" altLang="en-US" dirty="0"/>
              <a:t>兼容性要求</a:t>
            </a:r>
            <a:endParaRPr lang="en-US" altLang="zh-CN" dirty="0"/>
          </a:p>
          <a:p>
            <a:pPr lvl="1"/>
            <a:r>
              <a:rPr lang="zh-CN" altLang="en-US" dirty="0"/>
              <a:t>来自市场的压力</a:t>
            </a:r>
            <a:endParaRPr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cxnSp>
        <p:nvCxnSpPr>
          <p:cNvPr id="6" name="直线箭头连接符 5"/>
          <p:cNvCxnSpPr/>
          <p:nvPr/>
        </p:nvCxnSpPr>
        <p:spPr>
          <a:xfrm>
            <a:off x="3505200" y="3352800"/>
            <a:ext cx="1066800" cy="0"/>
          </a:xfrm>
          <a:prstGeom prst="straightConnector1">
            <a:avLst/>
          </a:prstGeom>
          <a:ln w="139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002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96747" y="1447800"/>
            <a:ext cx="8229600" cy="4144962"/>
          </a:xfrm>
        </p:spPr>
        <p:txBody>
          <a:bodyPr/>
          <a:lstStyle/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3600" dirty="0"/>
              <a:t>方法之一：形式化方法</a:t>
            </a:r>
            <a:endParaRPr lang="en-US" altLang="zh-CN" sz="3600" dirty="0"/>
          </a:p>
          <a:p>
            <a:pPr marL="0" indent="0">
              <a:buNone/>
            </a:pPr>
            <a:r>
              <a:rPr lang="zh-CN" altLang="en-US" sz="3600" dirty="0"/>
              <a:t>方法之二：结构化程序设计和瀑布模型</a:t>
            </a:r>
            <a:endParaRPr lang="en-US" altLang="zh-CN" sz="3600" dirty="0"/>
          </a:p>
          <a:p>
            <a:pPr marL="0" indent="0" algn="ctr">
              <a:buNone/>
            </a:pPr>
            <a:endParaRPr lang="en-US" altLang="zh-CN" sz="4000" dirty="0"/>
          </a:p>
        </p:txBody>
      </p:sp>
    </p:spTree>
    <p:extLst>
      <p:ext uri="{BB962C8B-B14F-4D97-AF65-F5344CB8AC3E}">
        <p14:creationId xmlns:p14="http://schemas.microsoft.com/office/powerpoint/2010/main" val="201890919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043" y="1066800"/>
            <a:ext cx="5877278" cy="4533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279" y="2345892"/>
            <a:ext cx="3266722" cy="245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6655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229600" cy="1919287"/>
          </a:xfrm>
        </p:spPr>
        <p:txBody>
          <a:bodyPr/>
          <a:lstStyle/>
          <a:p>
            <a:r>
              <a:rPr kumimoji="1" lang="zh-CN" altLang="en-US" dirty="0"/>
              <a:t>问题和不足（效率和质量）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形式化在扩展性和可用性方面存在不足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瀑布模型成为一个重文档，慢节奏的过程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819400"/>
            <a:ext cx="55753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31121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4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6705600" cy="471487"/>
          </a:xfrm>
        </p:spPr>
        <p:txBody>
          <a:bodyPr/>
          <a:lstStyle/>
          <a:p>
            <a:r>
              <a:rPr kumimoji="1" lang="zh-CN" altLang="en-US" dirty="0"/>
              <a:t>成熟度模型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81" y="1600200"/>
            <a:ext cx="7315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02405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一些讨论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143000"/>
            <a:ext cx="8229600" cy="5105400"/>
          </a:xfrm>
        </p:spPr>
        <p:txBody>
          <a:bodyPr/>
          <a:lstStyle/>
          <a:p>
            <a:r>
              <a:rPr kumimoji="1" lang="zh-CN" altLang="en-US" dirty="0"/>
              <a:t>如何理解</a:t>
            </a:r>
            <a:r>
              <a:rPr kumimoji="1" lang="en-US" altLang="zh-CN" dirty="0"/>
              <a:t>CMMI</a:t>
            </a:r>
            <a:r>
              <a:rPr kumimoji="1" lang="zh-CN" altLang="en-US" dirty="0"/>
              <a:t>是过程改进模型而非软件过程或者软件过程模型？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如何理解</a:t>
            </a:r>
            <a:r>
              <a:rPr kumimoji="1" lang="en-US" altLang="zh-CN" dirty="0"/>
              <a:t>CMMI</a:t>
            </a:r>
            <a:r>
              <a:rPr kumimoji="1" lang="zh-CN" altLang="en-US" dirty="0"/>
              <a:t>不是过程优劣的标准，也不适合用作公司之间的能力比较？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如何理解</a:t>
            </a:r>
            <a:r>
              <a:rPr kumimoji="1" lang="en-US" altLang="zh-CN" dirty="0"/>
              <a:t>CMMI</a:t>
            </a:r>
            <a:r>
              <a:rPr kumimoji="1" lang="zh-CN" altLang="en-US" dirty="0"/>
              <a:t> </a:t>
            </a:r>
            <a:r>
              <a:rPr kumimoji="1" lang="en-US" altLang="zh-CN" dirty="0"/>
              <a:t>VS. Agile</a:t>
            </a:r>
            <a:r>
              <a:rPr kumimoji="1" lang="zh-CN" altLang="en-US" dirty="0"/>
              <a:t>？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565321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网络化和服务化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286" y="1066800"/>
            <a:ext cx="8229600" cy="2909887"/>
          </a:xfrm>
        </p:spPr>
        <p:txBody>
          <a:bodyPr/>
          <a:lstStyle/>
          <a:p>
            <a:r>
              <a:rPr kumimoji="1" lang="zh-CN" altLang="en-US" dirty="0"/>
              <a:t>软件应用特征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功能更复杂，规模更大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用户数量急剧增加（这会带来什么问题？）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快速演化和需求不确定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分发方式的变化（</a:t>
            </a:r>
            <a:r>
              <a:rPr kumimoji="1" lang="en-US" altLang="zh-CN" dirty="0"/>
              <a:t>SaaS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03449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052513"/>
            <a:ext cx="8458200" cy="5348287"/>
          </a:xfrm>
        </p:spPr>
        <p:txBody>
          <a:bodyPr/>
          <a:lstStyle/>
          <a:p>
            <a:pPr marL="0" indent="0" algn="just">
              <a:buNone/>
            </a:pPr>
            <a:endParaRPr kumimoji="1" lang="en-US" altLang="zh-CN" dirty="0"/>
          </a:p>
          <a:p>
            <a:pPr marL="0" indent="0" algn="just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zh-CN" altLang="en-US" sz="4000" b="1" dirty="0">
                <a:solidFill>
                  <a:srgbClr val="FF0000"/>
                </a:solidFill>
              </a:rPr>
              <a:t>迭代式：大型软件系统的开发过程也是一个逐步学习和交流的过程，软件系统的交付不是一次完成，而是通过多个迭代周期，逐步来完成交付。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484229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039792"/>
            <a:ext cx="4019107" cy="320040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76200" y="1039792"/>
            <a:ext cx="8686800" cy="5056208"/>
          </a:xfrm>
        </p:spPr>
        <p:txBody>
          <a:bodyPr/>
          <a:lstStyle/>
          <a:p>
            <a:r>
              <a:rPr kumimoji="1" lang="zh-CN" altLang="en-US" dirty="0"/>
              <a:t>雪鸟会议和敏捷宣言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个体和互动胜过流程和工具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可以工作的软件胜过详尽的文档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客户合作胜过合同谈判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响应变化胜过遵循计划</a:t>
            </a:r>
            <a:endParaRPr kumimoji="1" lang="en-US" altLang="zh-CN" dirty="0"/>
          </a:p>
          <a:p>
            <a:pPr marL="363538" lvl="1" indent="0">
              <a:buNone/>
            </a:pPr>
            <a:endParaRPr kumimoji="1" lang="en-US" altLang="zh-CN" dirty="0"/>
          </a:p>
          <a:p>
            <a:pPr marL="363538" lvl="1" indent="0">
              <a:buNone/>
            </a:pPr>
            <a:r>
              <a:rPr kumimoji="1" lang="zh-CN" altLang="en-US" i="1" dirty="0">
                <a:solidFill>
                  <a:srgbClr val="FF0000"/>
                </a:solidFill>
              </a:rPr>
              <a:t>“</a:t>
            </a:r>
            <a:r>
              <a:rPr lang="zh-CN" altLang="en-US" i="1" dirty="0">
                <a:solidFill>
                  <a:srgbClr val="FF0000"/>
                </a:solidFill>
              </a:rPr>
              <a:t>也就是说，尽管右项有其价值，</a:t>
            </a:r>
            <a:br>
              <a:rPr lang="zh-CN" altLang="en-US" i="1" dirty="0">
                <a:solidFill>
                  <a:srgbClr val="FF0000"/>
                </a:solidFill>
              </a:rPr>
            </a:br>
            <a:r>
              <a:rPr lang="zh-CN" altLang="en-US" i="1" dirty="0">
                <a:solidFill>
                  <a:srgbClr val="FF0000"/>
                </a:solidFill>
              </a:rPr>
              <a:t>我们更重视左项的价值。</a:t>
            </a:r>
            <a:r>
              <a:rPr lang="en-US" altLang="zh-CN" i="1" dirty="0">
                <a:solidFill>
                  <a:srgbClr val="FF0000"/>
                </a:solidFill>
              </a:rPr>
              <a:t> That is, while there is value in the items on</a:t>
            </a:r>
            <a:br>
              <a:rPr lang="en-US" altLang="zh-CN" i="1" dirty="0">
                <a:solidFill>
                  <a:srgbClr val="FF0000"/>
                </a:solidFill>
              </a:rPr>
            </a:br>
            <a:r>
              <a:rPr lang="en-US" altLang="zh-CN" i="1" dirty="0">
                <a:solidFill>
                  <a:srgbClr val="FF0000"/>
                </a:solidFill>
              </a:rPr>
              <a:t>the right, we value the items on the left more</a:t>
            </a:r>
            <a:r>
              <a:rPr kumimoji="1" lang="zh-CN" altLang="en-US" i="1" dirty="0">
                <a:solidFill>
                  <a:srgbClr val="FF0000"/>
                </a:solidFill>
              </a:rPr>
              <a:t>”</a:t>
            </a:r>
            <a:endParaRPr kumimoji="1" lang="en-US" altLang="zh-CN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87641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典型软件过程和实践（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76200" y="1039792"/>
            <a:ext cx="8686800" cy="5056208"/>
          </a:xfrm>
        </p:spPr>
        <p:txBody>
          <a:bodyPr/>
          <a:lstStyle/>
          <a:p>
            <a:r>
              <a:rPr kumimoji="1" lang="en-US" altLang="zh-CN" dirty="0"/>
              <a:t>XP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eXtreme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Programing</a:t>
            </a:r>
            <a:r>
              <a:rPr kumimoji="1" lang="zh-CN" altLang="en-US" dirty="0"/>
              <a:t>）</a:t>
            </a:r>
            <a:r>
              <a:rPr kumimoji="1" lang="en-US" altLang="zh-CN" dirty="0"/>
              <a:t> </a:t>
            </a:r>
            <a:r>
              <a:rPr kumimoji="1" lang="zh-CN" altLang="en-US" dirty="0"/>
              <a:t>方法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偏重于一些工程实践的描述</a:t>
            </a:r>
            <a:endParaRPr kumimoji="1" lang="en-US" altLang="zh-CN" dirty="0"/>
          </a:p>
          <a:p>
            <a:r>
              <a:rPr kumimoji="1" lang="en-US" altLang="zh-CN" dirty="0"/>
              <a:t>SCRUM</a:t>
            </a:r>
          </a:p>
          <a:p>
            <a:pPr lvl="1"/>
            <a:r>
              <a:rPr kumimoji="1" lang="zh-CN" altLang="en-US" dirty="0"/>
              <a:t>管理框架和管理实践</a:t>
            </a:r>
            <a:endParaRPr kumimoji="1" lang="en-US" altLang="zh-CN" dirty="0"/>
          </a:p>
          <a:p>
            <a:r>
              <a:rPr kumimoji="1" lang="en-US" altLang="zh-CN" dirty="0"/>
              <a:t>Kanban</a:t>
            </a:r>
          </a:p>
          <a:p>
            <a:pPr lvl="1"/>
            <a:r>
              <a:rPr kumimoji="1" lang="zh-CN" altLang="en-US" dirty="0"/>
              <a:t>精益生产（丰田制造法）的具体实现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可视化工作流、限定</a:t>
            </a:r>
            <a:r>
              <a:rPr kumimoji="1" lang="en-US" altLang="zh-CN" dirty="0"/>
              <a:t>WIP</a:t>
            </a:r>
            <a:r>
              <a:rPr kumimoji="1" lang="zh-CN" altLang="en-US" dirty="0"/>
              <a:t>、管理周期时间</a:t>
            </a:r>
            <a:endParaRPr kumimoji="1" lang="en-US" altLang="zh-CN" dirty="0"/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0086858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典型软件过程和实践 （</a:t>
            </a:r>
            <a:r>
              <a:rPr kumimoji="1" lang="en-US" altLang="zh-CN" dirty="0"/>
              <a:t>4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052513"/>
            <a:ext cx="8991600" cy="5348287"/>
          </a:xfrm>
        </p:spPr>
        <p:txBody>
          <a:bodyPr/>
          <a:lstStyle/>
          <a:p>
            <a:r>
              <a:rPr kumimoji="1" lang="zh-CN" altLang="en-US" sz="2800" dirty="0"/>
              <a:t>开源软件开发方法：</a:t>
            </a:r>
            <a:r>
              <a:rPr lang="zh-CN" altLang="zh-CN" sz="2800" dirty="0"/>
              <a:t>是一种基于并行开发模式的软件开发的组织与管理方式 </a:t>
            </a:r>
            <a:endParaRPr kumimoji="1" lang="en-US" altLang="zh-CN" sz="2800" dirty="0"/>
          </a:p>
          <a:p>
            <a:pPr lvl="1"/>
            <a:r>
              <a:rPr lang="zh-CN" altLang="zh-CN" sz="2400" i="1" dirty="0">
                <a:solidFill>
                  <a:srgbClr val="FF0000"/>
                </a:solidFill>
              </a:rPr>
              <a:t>“</a:t>
            </a:r>
            <a:r>
              <a:rPr lang="en-US" altLang="zh-CN" sz="2400" i="1" dirty="0">
                <a:solidFill>
                  <a:srgbClr val="FF0000"/>
                </a:solidFill>
              </a:rPr>
              <a:t>Linus </a:t>
            </a:r>
            <a:r>
              <a:rPr lang="zh-CN" altLang="zh-CN" sz="2400" i="1" dirty="0">
                <a:solidFill>
                  <a:srgbClr val="FF0000"/>
                </a:solidFill>
              </a:rPr>
              <a:t>定律”：“如果有足够多的</a:t>
            </a:r>
            <a:r>
              <a:rPr lang="en-US" altLang="zh-CN" sz="2400" i="1" dirty="0">
                <a:solidFill>
                  <a:srgbClr val="FF0000"/>
                </a:solidFill>
              </a:rPr>
              <a:t>beta</a:t>
            </a:r>
            <a:r>
              <a:rPr lang="zh-CN" altLang="zh-CN" sz="2400" i="1" dirty="0">
                <a:solidFill>
                  <a:srgbClr val="FF0000"/>
                </a:solidFill>
              </a:rPr>
              <a:t>测试者和合作开发者，几乎所有问题都会很快显现，然后自然有人会把它解决。”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lvl="1"/>
            <a:r>
              <a:rPr lang="zh-CN" altLang="zh-CN" sz="2400" i="1" dirty="0">
                <a:solidFill>
                  <a:srgbClr val="FF0000"/>
                </a:solidFill>
              </a:rPr>
              <a:t>“早发布，常发布，倾听用户的反馈 ”、“把你的用户当成开发合作者对待，如果想让代码质量快速提升并有效排错，这是最省心的途径”、“设计上的完美不是没有东西可以再加，而是没有东西可以再减”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/>
              <a:t>代码管理：</a:t>
            </a:r>
            <a:r>
              <a:rPr lang="zh-CN" altLang="zh-CN" sz="2400" dirty="0"/>
              <a:t>严格的代码提交社区审核制度 </a:t>
            </a:r>
            <a:endParaRPr lang="en-US" altLang="zh-CN" sz="2400" dirty="0"/>
          </a:p>
          <a:p>
            <a:r>
              <a:rPr kumimoji="1" lang="zh-CN" altLang="en-US" sz="2800" dirty="0"/>
              <a:t>一些演化</a:t>
            </a:r>
            <a:endParaRPr kumimoji="1" lang="en-US" altLang="zh-CN" sz="2800" dirty="0"/>
          </a:p>
          <a:p>
            <a:pPr lvl="1"/>
            <a:r>
              <a:rPr kumimoji="1" lang="zh-CN" altLang="en-US" dirty="0"/>
              <a:t>内部开源（</a:t>
            </a:r>
            <a:r>
              <a:rPr kumimoji="1" lang="en-US" altLang="zh-CN" dirty="0"/>
              <a:t>inner source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众包</a:t>
            </a:r>
            <a:r>
              <a:rPr kumimoji="1" lang="en-US" altLang="zh-CN" dirty="0"/>
              <a:t>(Crowdsourcing)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11449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kumimoji="1" lang="zh-CN" altLang="en-US" dirty="0"/>
              <a:t>当前软件发展现状</a:t>
            </a:r>
            <a:r>
              <a:rPr kumimoji="1" lang="en-US" altLang="zh-CN" dirty="0"/>
              <a:t>(1)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143000"/>
            <a:ext cx="8229600" cy="4953000"/>
          </a:xfrm>
        </p:spPr>
        <p:txBody>
          <a:bodyPr/>
          <a:lstStyle/>
          <a:p>
            <a:r>
              <a:rPr lang="zh-CN" altLang="en-US" dirty="0"/>
              <a:t>软件应用典型特征</a:t>
            </a:r>
            <a:endParaRPr lang="en-US" altLang="zh-CN" dirty="0"/>
          </a:p>
          <a:p>
            <a:pPr lvl="1"/>
            <a:r>
              <a:rPr lang="zh-CN" altLang="en-US" dirty="0"/>
              <a:t>进一步服务化和网络化（移动是主流）</a:t>
            </a:r>
            <a:endParaRPr lang="en-US" altLang="zh-CN" dirty="0"/>
          </a:p>
          <a:p>
            <a:pPr lvl="1"/>
            <a:r>
              <a:rPr lang="zh-CN" altLang="en-US" dirty="0"/>
              <a:t>用户需求多样性进一步凸显</a:t>
            </a:r>
            <a:endParaRPr lang="en-US" altLang="zh-CN" dirty="0"/>
          </a:p>
          <a:p>
            <a:pPr lvl="1"/>
            <a:r>
              <a:rPr lang="zh-CN" altLang="en-US" dirty="0"/>
              <a:t>软件产品和服务的地位变化</a:t>
            </a:r>
            <a:endParaRPr lang="en-US" altLang="zh-CN" dirty="0"/>
          </a:p>
          <a:p>
            <a:pPr lvl="1"/>
            <a:r>
              <a:rPr lang="zh-CN" altLang="en-US" dirty="0"/>
              <a:t>错综复杂的部署环境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723779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8D668B-48D4-47BF-9944-0FAD988E7FA8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pic>
        <p:nvPicPr>
          <p:cNvPr id="3" name="Picture 2" descr="C:\Users\ronggp\Desktop\素材\pervasive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051132"/>
            <a:ext cx="2514600" cy="2662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C:\Users\ronggp\Desktop\素材\interconnected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073" y="1092022"/>
            <a:ext cx="2434300" cy="2484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438" y="4135017"/>
            <a:ext cx="5328915" cy="231191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555316"/>
            <a:ext cx="3666958" cy="290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1031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当前软件发展现状</a:t>
            </a:r>
            <a:r>
              <a:rPr kumimoji="1" lang="en-US" altLang="zh-CN" dirty="0"/>
              <a:t>(2)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8534400" cy="5348287"/>
          </a:xfrm>
        </p:spPr>
        <p:txBody>
          <a:bodyPr/>
          <a:lstStyle/>
          <a:p>
            <a:r>
              <a:rPr lang="zh-CN" altLang="en-US" dirty="0"/>
              <a:t>软件应用典型特征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近乎苛刻的用户期望</a:t>
            </a:r>
            <a:endParaRPr lang="en-US" altLang="zh-CN" dirty="0"/>
          </a:p>
          <a:p>
            <a:pPr lvl="2"/>
            <a:r>
              <a:rPr lang="zh-CN" altLang="en-US" dirty="0"/>
              <a:t>多：功能丰富，个性化</a:t>
            </a:r>
            <a:endParaRPr lang="en-US" altLang="zh-CN" dirty="0"/>
          </a:p>
          <a:p>
            <a:pPr lvl="2"/>
            <a:r>
              <a:rPr lang="zh-CN" altLang="en-US" dirty="0"/>
              <a:t>快：快速使用，及时更新，快速解决问题</a:t>
            </a:r>
            <a:endParaRPr lang="en-US" altLang="zh-CN" dirty="0"/>
          </a:p>
          <a:p>
            <a:pPr lvl="2"/>
            <a:r>
              <a:rPr lang="zh-CN" altLang="en-US" dirty="0"/>
              <a:t>好：稳定，可靠，安全，可信</a:t>
            </a:r>
            <a:endParaRPr lang="en-US" altLang="zh-CN" dirty="0"/>
          </a:p>
          <a:p>
            <a:pPr lvl="2"/>
            <a:r>
              <a:rPr lang="zh-CN" altLang="en-US" dirty="0"/>
              <a:t>省：用户的获得成本低，最好免费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295" y="4008079"/>
            <a:ext cx="3989209" cy="22447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621" y="2102434"/>
            <a:ext cx="2060379" cy="18069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882642"/>
            <a:ext cx="3429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11567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当前软件发展现状</a:t>
            </a:r>
            <a:r>
              <a:rPr kumimoji="1" lang="en-US" altLang="zh-CN" dirty="0"/>
              <a:t>(3)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052513"/>
            <a:ext cx="8915400" cy="5348287"/>
          </a:xfrm>
        </p:spPr>
        <p:txBody>
          <a:bodyPr/>
          <a:lstStyle/>
          <a:p>
            <a:r>
              <a:rPr kumimoji="1" lang="zh-CN" altLang="en-US" dirty="0"/>
              <a:t>软件开发典型特征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空前强大的开发和部署环境</a:t>
            </a:r>
            <a:r>
              <a:rPr kumimoji="1" lang="en-US" altLang="zh-CN" dirty="0"/>
              <a:t>——XaaS</a:t>
            </a:r>
          </a:p>
          <a:p>
            <a:pPr lvl="2"/>
            <a:r>
              <a:rPr kumimoji="1" lang="en-US" altLang="zh-CN" dirty="0"/>
              <a:t>IaaS</a:t>
            </a:r>
          </a:p>
          <a:p>
            <a:pPr lvl="2"/>
            <a:r>
              <a:rPr kumimoji="1" lang="en-US" altLang="zh-CN" dirty="0"/>
              <a:t>PaaS</a:t>
            </a:r>
          </a:p>
          <a:p>
            <a:pPr lvl="2"/>
            <a:r>
              <a:rPr kumimoji="1" lang="en-US" altLang="zh-CN" dirty="0"/>
              <a:t>SaaS, FaaS</a:t>
            </a:r>
          </a:p>
          <a:p>
            <a:pPr lvl="1"/>
            <a:r>
              <a:rPr kumimoji="1" lang="zh-CN" altLang="en-US" dirty="0"/>
              <a:t>盛行共享和开源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潜在支撑获得了长足进步（</a:t>
            </a:r>
            <a:r>
              <a:rPr kumimoji="1" lang="en-US" altLang="zh-CN" dirty="0"/>
              <a:t>AI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Bigdata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Cloud</a:t>
            </a:r>
            <a:r>
              <a:rPr kumimoji="1" lang="zh-CN" altLang="en-US" dirty="0"/>
              <a:t>，</a:t>
            </a:r>
            <a:r>
              <a:rPr kumimoji="1" lang="en-US" altLang="zh-CN" dirty="0"/>
              <a:t>etc.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791216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典型</a:t>
            </a:r>
            <a:r>
              <a:rPr kumimoji="1" lang="en-US" altLang="zh-CN" dirty="0"/>
              <a:t>DevOps</a:t>
            </a:r>
            <a:r>
              <a:rPr kumimoji="1" lang="zh-CN" altLang="en-US" dirty="0"/>
              <a:t>实践和方法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5486400" cy="4357687"/>
          </a:xfrm>
        </p:spPr>
        <p:txBody>
          <a:bodyPr/>
          <a:lstStyle/>
          <a:p>
            <a:r>
              <a:rPr kumimoji="1" lang="zh-CN" altLang="en-US" sz="2400" dirty="0"/>
              <a:t>方法论基础是敏捷软件开发、精益思想以及看板</a:t>
            </a:r>
            <a:r>
              <a:rPr kumimoji="1" lang="en-US" altLang="zh-CN" sz="2400" dirty="0"/>
              <a:t>Kanban</a:t>
            </a:r>
            <a:r>
              <a:rPr kumimoji="1" lang="zh-CN" altLang="en-US" sz="2400" dirty="0"/>
              <a:t>方法。</a:t>
            </a:r>
          </a:p>
          <a:p>
            <a:r>
              <a:rPr kumimoji="1" lang="zh-CN" altLang="en-US" sz="2400" dirty="0"/>
              <a:t>以领域驱动设计为指导的微服务架构方式</a:t>
            </a:r>
          </a:p>
          <a:p>
            <a:r>
              <a:rPr kumimoji="1" lang="zh-CN" altLang="en-US" sz="2400" dirty="0"/>
              <a:t>大量虚拟化技术的使用</a:t>
            </a:r>
            <a:endParaRPr kumimoji="1" lang="en-US" altLang="zh-CN" sz="2400" dirty="0"/>
          </a:p>
          <a:p>
            <a:r>
              <a:rPr kumimoji="1" lang="zh-CN" altLang="en-US" sz="2400" dirty="0"/>
              <a:t>一切皆服务</a:t>
            </a:r>
            <a:r>
              <a:rPr kumimoji="1" lang="en-US" altLang="zh-CN" sz="2400" dirty="0"/>
              <a:t>XaaS(X as a Service)</a:t>
            </a:r>
            <a:r>
              <a:rPr kumimoji="1" lang="zh-CN" altLang="en-US" sz="2400" dirty="0"/>
              <a:t>的理念指导</a:t>
            </a:r>
          </a:p>
          <a:p>
            <a:r>
              <a:rPr kumimoji="1" lang="zh-CN" altLang="en-US" sz="2400" dirty="0"/>
              <a:t>构建了强大的工具链，支持高水平自动化</a:t>
            </a:r>
            <a:endParaRPr kumimoji="1" lang="en-US" altLang="zh-CN" sz="2400" dirty="0"/>
          </a:p>
          <a:p>
            <a:r>
              <a:rPr kumimoji="1" lang="zh-CN" altLang="en-US" sz="2400" dirty="0"/>
              <a:t>大语言赋能之下的全栈工程师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A4ED07F-0E59-4FE8-87ED-3C352F038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592" y="990600"/>
            <a:ext cx="3244208" cy="3290887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2CEA55F-26D3-43AB-AAE7-793BD3405419}"/>
              </a:ext>
            </a:extLst>
          </p:cNvPr>
          <p:cNvSpPr txBox="1">
            <a:spLocks/>
          </p:cNvSpPr>
          <p:nvPr/>
        </p:nvSpPr>
        <p:spPr bwMode="auto">
          <a:xfrm>
            <a:off x="5943600" y="4344484"/>
            <a:ext cx="2804532" cy="670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3538" indent="-3635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708E"/>
                </a:solidFill>
                <a:latin typeface="+mn-lt"/>
                <a:ea typeface="+mn-ea"/>
                <a:cs typeface="+mn-cs"/>
              </a:defRPr>
            </a:lvl1pPr>
            <a:lvl2pPr marL="715963" indent="-3524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708E"/>
                </a:solidFill>
                <a:latin typeface="+mn-ea"/>
                <a:ea typeface="+mn-ea"/>
              </a:defRPr>
            </a:lvl2pPr>
            <a:lvl3pPr marL="1079500" indent="-3635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708E"/>
                </a:solidFill>
                <a:latin typeface="+mn-ea"/>
                <a:ea typeface="+mn-ea"/>
              </a:defRPr>
            </a:lvl3pPr>
            <a:lvl4pPr marL="1431925" indent="-35242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708E"/>
                </a:solidFill>
                <a:latin typeface="+mn-ea"/>
                <a:ea typeface="+mn-ea"/>
              </a:defRPr>
            </a:lvl4pPr>
            <a:lvl5pPr marL="1795463" indent="-363538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708E"/>
                </a:solidFill>
                <a:latin typeface="+mn-ea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kumimoji="1" lang="en-US" altLang="zh-CN" sz="2400" kern="0" dirty="0">
                <a:solidFill>
                  <a:schemeClr val="tx2"/>
                </a:solidFill>
              </a:rPr>
              <a:t>MOOC</a:t>
            </a:r>
            <a:r>
              <a:rPr kumimoji="1" lang="zh-CN" altLang="en-US" sz="2400" kern="0" dirty="0">
                <a:solidFill>
                  <a:schemeClr val="tx2"/>
                </a:solidFill>
              </a:rPr>
              <a:t>课程网址</a:t>
            </a:r>
          </a:p>
        </p:txBody>
      </p:sp>
    </p:spTree>
    <p:extLst>
      <p:ext uri="{BB962C8B-B14F-4D97-AF65-F5344CB8AC3E}">
        <p14:creationId xmlns:p14="http://schemas.microsoft.com/office/powerpoint/2010/main" val="98140059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0FAE0-AF3A-C4D1-E7F2-819671A1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45E410-37A0-71CC-0990-F92A3F0F1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Measure twice</a:t>
            </a: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cut once</a:t>
            </a: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”描述的是下述哪个软件开发场景：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软件设计；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代码评审；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需求开发；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en-US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V&amp;V</a:t>
            </a:r>
            <a:r>
              <a:rPr lang="zh-CN" altLang="zh-CN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algn="just"/>
            <a:r>
              <a:rPr lang="en-US" altLang="zh-CN" sz="2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kumimoji="1"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34954-7AC2-A64A-3932-71A18A3A8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36731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0FAE0-AF3A-C4D1-E7F2-819671A1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45E410-37A0-71CC-0990-F92A3F0F1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整体来看，我们可以把软件的发展分为三大阶段，以下不属于三大主要阶段的是：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软硬件一体化；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网络化和服务化；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云计算化和云原生；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软件成为独立产品；</a:t>
            </a:r>
          </a:p>
          <a:p>
            <a:pPr lvl="1" algn="just"/>
            <a:r>
              <a:rPr lang="en-US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400" b="1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kumimoji="1" lang="zh-CN" altLang="en-US" sz="28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34954-7AC2-A64A-3932-71A18A3A8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293808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0FAE0-AF3A-C4D1-E7F2-819671A1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45E410-37A0-71CC-0990-F92A3F0F1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以下描述中，不属于软件开发本质困难或者本质挑战的是：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质量难题；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复杂性；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不可见；</a:t>
            </a:r>
          </a:p>
          <a:p>
            <a:pPr marL="695325" lvl="1" indent="-342900" algn="just">
              <a:buFont typeface="+mj-lt"/>
              <a:buAutoNum type="alphaUcPeriod"/>
            </a:pPr>
            <a:r>
              <a:rPr lang="zh-CN" altLang="zh-CN" sz="24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一致性；</a:t>
            </a:r>
          </a:p>
          <a:p>
            <a:endParaRPr kumimoji="1" lang="zh-CN" altLang="en-US" sz="28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34954-7AC2-A64A-3932-71A18A3A8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333721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0FAE0-AF3A-C4D1-E7F2-819671A1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45E410-37A0-71CC-0990-F92A3F0F1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以下描述中，哪一种实践是软硬件一体化阶段的典型实践：</a:t>
            </a:r>
          </a:p>
          <a:p>
            <a:pPr marL="342900" lvl="0" indent="-342900" algn="just">
              <a:buFont typeface="+mj-lt"/>
              <a:buAutoNum type="alphaUcPeriod"/>
            </a:pPr>
            <a:r>
              <a:rPr lang="en-US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Code and Fix</a:t>
            </a: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marL="342900" lvl="0" indent="-342900" algn="just">
              <a:buFont typeface="+mj-lt"/>
              <a:buAutoNum type="alphaUcPeriod"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迭代式开发；</a:t>
            </a:r>
          </a:p>
          <a:p>
            <a:pPr marL="342900" lvl="0" indent="-342900" algn="just">
              <a:buFont typeface="+mj-lt"/>
              <a:buAutoNum type="alphaUcPeriod"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瀑布生命周期模型；</a:t>
            </a:r>
          </a:p>
          <a:p>
            <a:pPr marL="342900" lvl="0" indent="-342900" algn="just">
              <a:buFont typeface="+mj-lt"/>
              <a:buAutoNum type="alphaUcPeriod"/>
            </a:pPr>
            <a:r>
              <a:rPr lang="zh-CN" altLang="zh-CN" sz="2800" b="1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成熟度模型；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34954-7AC2-A64A-3932-71A18A3A8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5AA6EC-6A09-4E3E-B9B9-F7A83E2801B5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15961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itchFamily="2" charset="-122"/>
              </a:rPr>
              <a:t>课程小论文</a:t>
            </a:r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>
          <a:xfrm>
            <a:off x="152400" y="2514600"/>
            <a:ext cx="8534400" cy="3733800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defRPr/>
            </a:pPr>
            <a:r>
              <a:rPr lang="zh-CN" altLang="en-US" sz="2800" dirty="0">
                <a:solidFill>
                  <a:srgbClr val="FF0000"/>
                </a:solidFill>
                <a:ea typeface="宋体" pitchFamily="2" charset="-122"/>
              </a:rPr>
              <a:t>一些补充说明：</a:t>
            </a:r>
            <a:endParaRPr lang="en-US" altLang="zh-CN" sz="2800" dirty="0">
              <a:solidFill>
                <a:srgbClr val="FF0000"/>
              </a:solidFill>
              <a:ea typeface="宋体" pitchFamily="2" charset="-122"/>
            </a:endParaRPr>
          </a:p>
          <a:p>
            <a:pPr marL="877888" lvl="1" indent="-514350" eaLnBrk="1" hangingPunct="1">
              <a:buClr>
                <a:srgbClr val="FF0000"/>
              </a:buClr>
              <a:buFont typeface="+mj-lt"/>
              <a:buAutoNum type="romanUcPeriod"/>
              <a:defRPr/>
            </a:pP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6000</a:t>
            </a:r>
            <a:r>
              <a:rPr lang="zh-CN" altLang="en-US" sz="2400" dirty="0">
                <a:solidFill>
                  <a:srgbClr val="FF0000"/>
                </a:solidFill>
                <a:ea typeface="宋体" pitchFamily="2" charset="-122"/>
              </a:rPr>
              <a:t>字以上</a:t>
            </a:r>
            <a:endParaRPr lang="en-US" altLang="zh-CN" sz="2400" dirty="0">
              <a:solidFill>
                <a:srgbClr val="FF0000"/>
              </a:solidFill>
              <a:ea typeface="宋体" pitchFamily="2" charset="-122"/>
            </a:endParaRPr>
          </a:p>
          <a:p>
            <a:pPr marL="877888" lvl="1" indent="-514350" eaLnBrk="1" hangingPunct="1">
              <a:buClr>
                <a:srgbClr val="FF0000"/>
              </a:buClr>
              <a:buFont typeface="+mj-lt"/>
              <a:buAutoNum type="romanUcPeriod"/>
              <a:defRPr/>
            </a:pPr>
            <a:r>
              <a:rPr lang="zh-CN" altLang="en-US" sz="2400" dirty="0">
                <a:solidFill>
                  <a:srgbClr val="FF0000"/>
                </a:solidFill>
                <a:ea typeface="宋体" pitchFamily="2" charset="-122"/>
              </a:rPr>
              <a:t>性质是奖励分</a:t>
            </a:r>
            <a:endParaRPr lang="en-US" altLang="zh-CN" sz="2400" dirty="0">
              <a:solidFill>
                <a:srgbClr val="FF0000"/>
              </a:solidFill>
              <a:ea typeface="宋体" pitchFamily="2" charset="-122"/>
            </a:endParaRPr>
          </a:p>
          <a:p>
            <a:pPr marL="877888" lvl="1" indent="-514350" eaLnBrk="1" hangingPunct="1">
              <a:buClr>
                <a:srgbClr val="FF0000"/>
              </a:buClr>
              <a:buFont typeface="+mj-lt"/>
              <a:buAutoNum type="romanUcPeriod"/>
              <a:defRPr/>
            </a:pPr>
            <a:r>
              <a:rPr lang="zh-CN" altLang="en-US" sz="2400" dirty="0">
                <a:solidFill>
                  <a:srgbClr val="FF0000"/>
                </a:solidFill>
                <a:ea typeface="宋体" pitchFamily="2" charset="-122"/>
              </a:rPr>
              <a:t>本月底（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31</a:t>
            </a:r>
            <a:r>
              <a:rPr lang="zh-CN" altLang="en-US" sz="2400" dirty="0">
                <a:solidFill>
                  <a:srgbClr val="FF0000"/>
                </a:solidFill>
                <a:ea typeface="宋体" pitchFamily="2" charset="-122"/>
              </a:rPr>
              <a:t>号）截止，过后再提交无效</a:t>
            </a:r>
            <a:endParaRPr lang="en-US" altLang="zh-CN" sz="2400" dirty="0">
              <a:solidFill>
                <a:srgbClr val="FF0000"/>
              </a:solidFill>
              <a:ea typeface="宋体" pitchFamily="2" charset="-122"/>
            </a:endParaRPr>
          </a:p>
          <a:p>
            <a:pPr marL="877888" lvl="1" indent="-514350" eaLnBrk="1" hangingPunct="1">
              <a:buClr>
                <a:srgbClr val="FF0000"/>
              </a:buClr>
              <a:buFont typeface="+mj-lt"/>
              <a:buAutoNum type="romanUcPeriod"/>
              <a:defRPr/>
            </a:pPr>
            <a:r>
              <a:rPr lang="zh-CN" altLang="en-US" b="1" dirty="0">
                <a:solidFill>
                  <a:srgbClr val="FF0000"/>
                </a:solidFill>
                <a:ea typeface="宋体" pitchFamily="2" charset="-122"/>
              </a:rPr>
              <a:t>严禁抄袭，如果使用了大语言模型辅助，请在论文开头就声明！如果被认定学术不端行为，平时成绩为</a:t>
            </a:r>
            <a:r>
              <a:rPr lang="en-US" altLang="zh-CN" b="1" dirty="0">
                <a:solidFill>
                  <a:srgbClr val="FF0000"/>
                </a:solidFill>
                <a:ea typeface="宋体" pitchFamily="2" charset="-122"/>
              </a:rPr>
              <a:t>0</a:t>
            </a:r>
            <a:r>
              <a:rPr lang="zh-CN" altLang="en-US" b="1" dirty="0">
                <a:solidFill>
                  <a:srgbClr val="FF0000"/>
                </a:solidFill>
                <a:ea typeface="宋体" pitchFamily="2" charset="-122"/>
              </a:rPr>
              <a:t>分。</a:t>
            </a:r>
            <a:endParaRPr lang="en-US" altLang="zh-CN" b="1" dirty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0B48FA-3F11-49A7-87EC-8120649FE954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228600" y="1143000"/>
            <a:ext cx="8686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3538" indent="-3635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708E"/>
                </a:solidFill>
                <a:latin typeface="+mn-lt"/>
                <a:ea typeface="+mn-ea"/>
                <a:cs typeface="+mn-cs"/>
              </a:defRPr>
            </a:lvl1pPr>
            <a:lvl2pPr marL="715963" indent="-3524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708E"/>
                </a:solidFill>
                <a:latin typeface="+mn-ea"/>
                <a:ea typeface="+mn-ea"/>
              </a:defRPr>
            </a:lvl2pPr>
            <a:lvl3pPr marL="1079500" indent="-3635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708E"/>
                </a:solidFill>
                <a:latin typeface="+mn-ea"/>
                <a:ea typeface="+mn-ea"/>
              </a:defRPr>
            </a:lvl3pPr>
            <a:lvl4pPr marL="1431925" indent="-35242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708E"/>
                </a:solidFill>
                <a:latin typeface="+mn-ea"/>
                <a:ea typeface="+mn-ea"/>
              </a:defRPr>
            </a:lvl4pPr>
            <a:lvl5pPr marL="1795463" indent="-363538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708E"/>
                </a:solidFill>
                <a:latin typeface="+mn-ea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kumimoji="1" lang="zh-CN" altLang="en-US" kern="0" dirty="0"/>
              <a:t>从软件发展的三大历史阶段以及软件过程的演变当中，我们可以总结出哪些规律性的东西？</a:t>
            </a:r>
            <a:endParaRPr kumimoji="1" lang="en-US" altLang="zh-CN" kern="0" dirty="0"/>
          </a:p>
          <a:p>
            <a:pPr marL="363538" lvl="1" indent="0">
              <a:buFont typeface="Wingdings" pitchFamily="2" charset="2"/>
              <a:buNone/>
            </a:pPr>
            <a:endParaRPr kumimoji="1" lang="en-US" altLang="zh-CN" sz="3600" kern="0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PowerPoint Template">
  <a:themeElements>
    <a:clrScheme name="sample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</Template>
  <TotalTime>9333</TotalTime>
  <Words>1181</Words>
  <Application>Microsoft Office PowerPoint</Application>
  <PresentationFormat>全屏显示(4:3)</PresentationFormat>
  <Paragraphs>215</Paragraphs>
  <Slides>30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等线</vt:lpstr>
      <vt:lpstr>宋体</vt:lpstr>
      <vt:lpstr>Arial</vt:lpstr>
      <vt:lpstr>Calibri</vt:lpstr>
      <vt:lpstr>Mangal</vt:lpstr>
      <vt:lpstr>Times New Roman</vt:lpstr>
      <vt:lpstr>Verdana</vt:lpstr>
      <vt:lpstr>Wingdings</vt:lpstr>
      <vt:lpstr>PowerPoint Template</vt:lpstr>
      <vt:lpstr>软件质量与管理 第二讲 软件过程的历史演变和经典工作</vt:lpstr>
      <vt:lpstr>再读《没有银弹》</vt:lpstr>
      <vt:lpstr>软件发展三大阶段</vt:lpstr>
      <vt:lpstr>软件完全依附于硬件</vt:lpstr>
      <vt:lpstr>典型软件过程和实践（1）</vt:lpstr>
      <vt:lpstr>典型软件过程和实践（2）</vt:lpstr>
      <vt:lpstr>软件作坊</vt:lpstr>
      <vt:lpstr>典型软件过程和实践</vt:lpstr>
      <vt:lpstr>软件危机和软件工程</vt:lpstr>
      <vt:lpstr>软件成为独立产品</vt:lpstr>
      <vt:lpstr>典型软件过程和实践（1）</vt:lpstr>
      <vt:lpstr>典型软件过程和实践（2）</vt:lpstr>
      <vt:lpstr>典型软件过程和实践（3）</vt:lpstr>
      <vt:lpstr>典型软件过程和实践（4）</vt:lpstr>
      <vt:lpstr>一些讨论</vt:lpstr>
      <vt:lpstr>网络化和服务化</vt:lpstr>
      <vt:lpstr>典型软件过程和实践（1）</vt:lpstr>
      <vt:lpstr>典型软件过程和实践（2）</vt:lpstr>
      <vt:lpstr>典型软件过程和实践（3）</vt:lpstr>
      <vt:lpstr>典型软件过程和实践 （4）</vt:lpstr>
      <vt:lpstr>当前软件发展现状(1)</vt:lpstr>
      <vt:lpstr>PowerPoint 演示文稿</vt:lpstr>
      <vt:lpstr>当前软件发展现状(2)</vt:lpstr>
      <vt:lpstr>当前软件发展现状(3)</vt:lpstr>
      <vt:lpstr>典型DevOps实践和方法</vt:lpstr>
      <vt:lpstr>练习题</vt:lpstr>
      <vt:lpstr>练习题</vt:lpstr>
      <vt:lpstr>练习题</vt:lpstr>
      <vt:lpstr>练习题</vt:lpstr>
      <vt:lpstr>课程小论文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ronggp</dc:creator>
  <cp:lastModifiedBy>guoping rong</cp:lastModifiedBy>
  <cp:revision>218</cp:revision>
  <cp:lastPrinted>1601-01-01T00:00:00Z</cp:lastPrinted>
  <dcterms:created xsi:type="dcterms:W3CDTF">1601-01-01T00:00:00Z</dcterms:created>
  <dcterms:modified xsi:type="dcterms:W3CDTF">2025-03-18T00:49:28Z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