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6"/>
  </p:notesMasterIdLst>
  <p:sldIdLst>
    <p:sldId id="427" r:id="rId2"/>
    <p:sldId id="448" r:id="rId3"/>
    <p:sldId id="436" r:id="rId4"/>
    <p:sldId id="451" r:id="rId5"/>
    <p:sldId id="452" r:id="rId6"/>
    <p:sldId id="453" r:id="rId7"/>
    <p:sldId id="454" r:id="rId8"/>
    <p:sldId id="455" r:id="rId9"/>
    <p:sldId id="445" r:id="rId10"/>
    <p:sldId id="446" r:id="rId11"/>
    <p:sldId id="449" r:id="rId12"/>
    <p:sldId id="437" r:id="rId13"/>
    <p:sldId id="447" r:id="rId14"/>
    <p:sldId id="43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4830" autoAdjust="0"/>
  </p:normalViewPr>
  <p:slideViewPr>
    <p:cSldViewPr>
      <p:cViewPr varScale="1">
        <p:scale>
          <a:sx n="74" d="100"/>
          <a:sy n="74" d="100"/>
        </p:scale>
        <p:origin x="501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2D64606-3579-5CE0-B985-F68156F8B9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6456BA4D-A745-4D8F-CD06-5ECAF9BA19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C3A1AD-3CDF-EE46-9B2C-3CF47100B581}" type="datetimeFigureOut">
              <a:rPr lang="zh-CN" altLang="en-US"/>
              <a:pPr>
                <a:defRPr/>
              </a:pPr>
              <a:t>2025/2/18</a:t>
            </a:fld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65C526B-F01A-BF83-5C09-59D688738C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7EC39D12-ED3E-7BD7-79C6-E5B7D6B5BC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FC0D5542-9696-1518-232A-8EBA3AFFDA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86EE88F2-7F93-F18D-5CF4-8BEC4C487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DD7D59-7818-9847-93EF-A2CBA50B49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F81522A7-FC7B-82B9-4838-EF4549D99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备注占位符 2">
            <a:extLst>
              <a:ext uri="{FF2B5EF4-FFF2-40B4-BE49-F238E27FC236}">
                <a16:creationId xmlns:a16="http://schemas.microsoft.com/office/drawing/2014/main" id="{38C13DD4-489A-D818-3DB0-D99CC7E53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BD53CE73-5400-5E45-D9A4-4DF6561FB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101CEA-EFA0-AD44-80A2-490207A0F570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1AE3F853-EABB-2D02-BD02-2F538C6C1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83C0C61E-A7F6-5BC8-26E3-3964F40F1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2BFC3A56-6DD4-04F6-BE1B-047B2EF26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584A73-46A9-1040-AABA-5AFAE598B485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FF2B5EF4-FFF2-40B4-BE49-F238E27FC236}">
                <a16:creationId xmlns:a16="http://schemas.microsoft.com/office/drawing/2014/main" id="{008256B1-5670-72DB-242F-AE45CAEA7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6">
            <a:extLst>
              <a:ext uri="{FF2B5EF4-FFF2-40B4-BE49-F238E27FC236}">
                <a16:creationId xmlns:a16="http://schemas.microsoft.com/office/drawing/2014/main" id="{004F0899-83FC-64E0-5EE0-410479ABD6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27635E-ED87-29AE-66B6-F1946590F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8" y="188913"/>
            <a:ext cx="3163887" cy="7223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417579636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90B22-F82E-2DE9-0B54-59425F9420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93786-1FEA-8C40-B511-6FA3237A49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5685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DDF7BF-3BF0-C3A6-7FE6-1BC6DEB37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73D0F-4AA8-3D43-80A5-66380C7C5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3328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046DE9-C697-3321-B86A-DA8426A6CE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0A58-56D5-EC4C-90EC-E894C3FE0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966173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0BD0B-0024-66E2-14E1-95F32B55B3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F86E-ED3C-1849-9074-EB9ACD0A4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5001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CBA099B-53C6-27E5-6759-768A729D1F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51213-E256-F94E-B6B9-1C6C795A3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0160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780C5C-D562-67A4-5D57-1072085019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E9F09-79CC-D646-BC0F-4882ABC0F3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864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E93CAC-43FC-A60A-D707-F1ED094993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C9DE5-437C-EE44-86EA-6FDF8B905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021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B345D2-6EE8-DE4A-B2D2-42F5DEE7AD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F9D34-A286-2849-848A-15FD3D4724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550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723089-1F04-6096-118C-D8E33C39E8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75192-49AB-9D47-8F65-678B35CA52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3450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614BD8-FD19-E3F8-5CFA-69FC8425FB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30237-54DC-A34C-8CDD-B7FCCA18B3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30246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2EDF57-909C-17CA-695B-60059AD71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F4F5B-CBF6-6741-8EFF-3654FBCE2B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670267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F103A6DE-2928-1087-F7D2-1665559951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519F8-8E50-C033-0480-8E2ED5692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5BCA7C3-E499-76B0-93FB-DCD4895064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50061414-AE47-4C41-B7C5-BC74D7ABA2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8628D915-BEA6-5CBC-B629-9445570EA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>
            <a:extLst>
              <a:ext uri="{FF2B5EF4-FFF2-40B4-BE49-F238E27FC236}">
                <a16:creationId xmlns:a16="http://schemas.microsoft.com/office/drawing/2014/main" id="{5D2C82A5-99F1-7599-3246-2ECF7FEBC09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68BB92-4FC0-3FE5-A153-0199A56C959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380288" y="6453188"/>
            <a:ext cx="1579562" cy="360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dongshao@nju.edu.cn" TargetMode="External"/><Relationship Id="rId2" Type="http://schemas.openxmlformats.org/officeDocument/2006/relationships/hyperlink" Target="https://softeng.nju.edu.cn/faculty/GuopingRo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副标题 2">
            <a:extLst>
              <a:ext uri="{FF2B5EF4-FFF2-40B4-BE49-F238E27FC236}">
                <a16:creationId xmlns:a16="http://schemas.microsoft.com/office/drawing/2014/main" id="{827FBD0B-F00B-B9FC-EC11-81ED6BDF16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ea typeface="宋体" panose="02010600030101010101" pitchFamily="2" charset="-122"/>
              </a:rPr>
              <a:t>荣国平 邵栋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南京大学软件学院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2025</a:t>
            </a:r>
            <a:r>
              <a:rPr lang="zh-CN" altLang="en-US" dirty="0">
                <a:ea typeface="宋体" panose="02010600030101010101" pitchFamily="2" charset="-122"/>
              </a:rPr>
              <a:t> 年 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2" name="标题 1">
            <a:extLst>
              <a:ext uri="{FF2B5EF4-FFF2-40B4-BE49-F238E27FC236}">
                <a16:creationId xmlns:a16="http://schemas.microsoft.com/office/drawing/2014/main" id="{397F0FC0-5478-9A9F-3ABB-4AB65EA2118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软件质量与管理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>
                <a:ea typeface="宋体" panose="02010600030101010101" pitchFamily="2" charset="-122"/>
              </a:rPr>
              <a:t>课程介绍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27A8138-E898-1CA6-D459-92A0FB239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课程动机</a:t>
            </a:r>
            <a:r>
              <a:rPr kumimoji="1" lang="en-US" altLang="zh-CN"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a typeface="宋体" panose="02010600030101010101" pitchFamily="2" charset="-122"/>
              </a:rPr>
              <a:t>为什么要有这门课程？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6DC79D1-7A2E-5888-4DD3-A582D0454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>
                <a:ea typeface="宋体" panose="02010600030101010101" pitchFamily="2" charset="-122"/>
              </a:rPr>
              <a:t>核心课程</a:t>
            </a:r>
            <a:r>
              <a:rPr kumimoji="1" lang="en-US" altLang="zh-CN" sz="2400" dirty="0">
                <a:ea typeface="宋体" panose="02010600030101010101" pitchFamily="2" charset="-122"/>
              </a:rPr>
              <a:t>——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唯一</a:t>
            </a:r>
            <a:r>
              <a:rPr kumimoji="1" lang="zh-CN" altLang="en-US" sz="2400" dirty="0">
                <a:ea typeface="宋体" panose="02010600030101010101" pitchFamily="2" charset="-122"/>
              </a:rPr>
              <a:t>一门系统讲解软件开发管理的课程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r>
              <a:rPr kumimoji="1" lang="zh-CN" altLang="en-US" sz="2400" dirty="0">
                <a:ea typeface="宋体" panose="02010600030101010101" pitchFamily="2" charset="-122"/>
              </a:rPr>
              <a:t> 对于当前本应掌握的知识，需要一些概念的厘清与脉络的梳理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软件项目管理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软件生命周期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软件过程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软件过程管理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敏捷软件开发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CMM/CMMI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瀑布模型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r>
              <a:rPr kumimoji="1" lang="zh-CN" altLang="en-US" sz="2400" dirty="0">
                <a:ea typeface="宋体" panose="02010600030101010101" pitchFamily="2" charset="-122"/>
              </a:rPr>
              <a:t>对于将来的职业生涯和发展，需要有一些必要的准备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SRE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pPr>
              <a:buFont typeface="Wingdings" pitchFamily="2" charset="2"/>
              <a:buNone/>
            </a:pPr>
            <a:endParaRPr kumimoji="1"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2C4F70DD-D153-FD0D-5473-C66CDBEEA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5EC88-6B4D-1A40-A158-DB17BABC5DD3}" type="slidenum">
              <a:rPr lang="en-US" altLang="zh-CN" smtClean="0">
                <a:latin typeface="Verdana" panose="020B0604030504040204" pitchFamily="34" charset="0"/>
              </a:rPr>
              <a:pPr/>
              <a:t>2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17412" name="图片 2">
            <a:extLst>
              <a:ext uri="{FF2B5EF4-FFF2-40B4-BE49-F238E27FC236}">
                <a16:creationId xmlns:a16="http://schemas.microsoft.com/office/drawing/2014/main" id="{58A13BB2-70E8-0E06-9A70-8542BB27F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55850"/>
            <a:ext cx="3505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2E480FAE-A588-38E7-D4D5-523067918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0775" y="46038"/>
            <a:ext cx="6900863" cy="8382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本课程目标</a:t>
            </a:r>
          </a:p>
        </p:txBody>
      </p:sp>
      <p:sp>
        <p:nvSpPr>
          <p:cNvPr id="22530" name="内容占位符 2">
            <a:extLst>
              <a:ext uri="{FF2B5EF4-FFF2-40B4-BE49-F238E27FC236}">
                <a16:creationId xmlns:a16="http://schemas.microsoft.com/office/drawing/2014/main" id="{08D4D6C6-6110-B5DB-FFF8-8B8673A3A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486400"/>
          </a:xfrm>
        </p:spPr>
        <p:txBody>
          <a:bodyPr/>
          <a:lstStyle/>
          <a:p>
            <a:pPr eaLnBrk="1" hangingPunct="1"/>
            <a:r>
              <a:rPr lang="zh-CN" altLang="zh-CN" sz="2400" dirty="0">
                <a:ea typeface="宋体" panose="02010600030101010101" pitchFamily="2" charset="-122"/>
              </a:rPr>
              <a:t>理解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项目管理</a:t>
            </a:r>
            <a:r>
              <a:rPr lang="zh-CN" altLang="zh-CN" sz="2400" dirty="0">
                <a:ea typeface="宋体" panose="02010600030101010101" pitchFamily="2" charset="-122"/>
              </a:rPr>
              <a:t>的基本概念，掌握项目管理的常用方法。例如估算和计划跟踪，配置管理，风险管理等。</a:t>
            </a:r>
          </a:p>
          <a:p>
            <a:pPr eaLnBrk="1" hangingPunct="1"/>
            <a:r>
              <a:rPr lang="zh-CN" altLang="zh-CN" sz="2400" dirty="0">
                <a:ea typeface="宋体" panose="02010600030101010101" pitchFamily="2" charset="-122"/>
              </a:rPr>
              <a:t>掌握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产品质量</a:t>
            </a:r>
            <a:r>
              <a:rPr lang="zh-CN" altLang="zh-CN" sz="2400" dirty="0">
                <a:ea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过程质量</a:t>
            </a:r>
            <a:r>
              <a:rPr lang="zh-CN" altLang="zh-CN" sz="2400" dirty="0">
                <a:ea typeface="宋体" panose="02010600030101010101" pitchFamily="2" charset="-122"/>
              </a:rPr>
              <a:t>的基本概念，理解通过过程质量管理来保障最终产品质量或服务质量的手段。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 sz="2400" dirty="0">
                <a:ea typeface="宋体" panose="02010600030101010101" pitchFamily="2" charset="-122"/>
              </a:rPr>
              <a:t>掌握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软件过程</a:t>
            </a:r>
            <a:r>
              <a:rPr lang="zh-CN" altLang="zh-CN" sz="2400" dirty="0">
                <a:ea typeface="宋体" panose="02010600030101010101" pitchFamily="2" charset="-122"/>
              </a:rPr>
              <a:t>的基本概念，了解常用软件过程方法。理解进行个人级、小组级和组织级软件过程的评价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zh-CN" altLang="zh-CN" sz="2400" dirty="0">
                <a:ea typeface="宋体" panose="02010600030101010101" pitchFamily="2" charset="-122"/>
              </a:rPr>
              <a:t>改进方法。</a:t>
            </a:r>
          </a:p>
          <a:p>
            <a:pPr eaLnBrk="1" hangingPunct="1"/>
            <a:r>
              <a:rPr lang="zh-CN" altLang="zh-CN" sz="2400" dirty="0">
                <a:ea typeface="宋体" panose="02010600030101010101" pitchFamily="2" charset="-122"/>
              </a:rPr>
              <a:t>面临</a:t>
            </a:r>
            <a:r>
              <a:rPr lang="zh-CN" altLang="en-US" sz="2400" dirty="0">
                <a:ea typeface="宋体" panose="02010600030101010101" pitchFamily="2" charset="-122"/>
              </a:rPr>
              <a:t>相对</a:t>
            </a:r>
            <a:r>
              <a:rPr lang="zh-CN" altLang="zh-CN" sz="2400" dirty="0">
                <a:ea typeface="宋体" panose="02010600030101010101" pitchFamily="2" charset="-122"/>
              </a:rPr>
              <a:t>复杂项目的时候，能够选择适用的软件过程，对其进行合理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组合和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裁剪</a:t>
            </a:r>
            <a:r>
              <a:rPr lang="zh-CN" altLang="zh-CN" sz="2400" dirty="0">
                <a:ea typeface="宋体" panose="02010600030101010101" pitchFamily="2" charset="-122"/>
              </a:rPr>
              <a:t>，并在此基础上合理组织和管理项目开发，达到预先设定的</a:t>
            </a:r>
            <a:r>
              <a:rPr lang="zh-CN" altLang="en-US" sz="2400" dirty="0">
                <a:ea typeface="宋体" panose="02010600030101010101" pitchFamily="2" charset="-122"/>
              </a:rPr>
              <a:t>项目目标（工期、质量、成本等）</a:t>
            </a:r>
            <a:r>
              <a:rPr lang="zh-CN" altLang="zh-CN" sz="2400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49AA1C79-9315-A087-036B-C8F6A80613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53F04D-4F3D-C047-93F2-62504A129506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49766F9-9B79-B258-49D2-46ECE74A6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1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17B3349C-6F8A-F5F1-97CB-4F4ECD0A40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763000" cy="45100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1.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软件过程管理</a:t>
            </a:r>
            <a:r>
              <a:rPr kumimoji="1" lang="zh-CN" altLang="en-US" sz="2800" dirty="0">
                <a:ea typeface="宋体" panose="02010600030101010101" pitchFamily="2" charset="-122"/>
              </a:rPr>
              <a:t>和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软件项目管理</a:t>
            </a:r>
            <a:r>
              <a:rPr kumimoji="1" lang="zh-CN" altLang="en-US" sz="2800" dirty="0">
                <a:ea typeface="宋体" panose="02010600030101010101" pitchFamily="2" charset="-122"/>
              </a:rPr>
              <a:t>是不是一回事？如果不是，两者差异是什么？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2. </a:t>
            </a:r>
            <a:r>
              <a:rPr kumimoji="1" lang="zh-CN" altLang="en-US" sz="2800" dirty="0">
                <a:ea typeface="宋体" panose="02010600030101010101" pitchFamily="2" charset="-122"/>
              </a:rPr>
              <a:t>软件估算过程中，项目经验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历史数据的作用是什么？如何把项目经验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历史数据转变成估算结果？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3. </a:t>
            </a:r>
            <a:r>
              <a:rPr kumimoji="1" lang="zh-CN" altLang="en-US" sz="2800" dirty="0">
                <a:ea typeface="宋体" panose="02010600030101010101" pitchFamily="2" charset="-122"/>
              </a:rPr>
              <a:t>估算应该追求的目标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目的究竟是什么？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24CCC512-BCD8-4872-34F5-957CA57DCD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1544C6-98E7-DB4A-9137-FEFB85134E4B}" type="slidenum">
              <a:rPr lang="en-US" altLang="zh-CN" smtClean="0">
                <a:latin typeface="Verdana" panose="020B0604030504040204" pitchFamily="34" charset="0"/>
              </a:rPr>
              <a:pPr/>
              <a:t>4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DF4144D6-62E6-CD9E-B690-99ECD26A7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2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55B7F00D-3264-A0AF-C4BB-FACE9D8E77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6106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4. </a:t>
            </a:r>
            <a:r>
              <a:rPr kumimoji="1" lang="zh-CN" altLang="en-US" sz="2800" dirty="0">
                <a:ea typeface="宋体" panose="02010600030101010101" pitchFamily="2" charset="-122"/>
              </a:rPr>
              <a:t>什么是管理？管理的要素有哪些？如何区分有管理（或者好的管理）还是没有管理（或者不好的管理）？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5. </a:t>
            </a:r>
            <a:r>
              <a:rPr kumimoji="1" lang="zh-CN" altLang="en-US" sz="2800" dirty="0">
                <a:ea typeface="宋体" panose="02010600030101010101" pitchFamily="2" charset="-122"/>
              </a:rPr>
              <a:t>接上一问题，什么叫做软件质量？质量管理需要做哪些事情？要实现什么样的效果？如何检验？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BEA898A9-CC69-36FC-7DCB-9D233C6E3A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45BB28-D33B-9D46-980B-D262BEA69687}" type="slidenum">
              <a:rPr lang="en-US" altLang="zh-CN" smtClean="0">
                <a:latin typeface="Verdana" panose="020B0604030504040204" pitchFamily="34" charset="0"/>
              </a:rPr>
              <a:pPr/>
              <a:t>5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479045E-CB92-F975-458B-94B5530AC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8F25C8DF-2C4A-9623-31CC-BA75F6DE1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458200" cy="5348287"/>
          </a:xfrm>
        </p:spPr>
        <p:txBody>
          <a:bodyPr/>
          <a:lstStyle/>
          <a:p>
            <a:r>
              <a:rPr kumimoji="1" lang="en-US" altLang="zh-CN" sz="2800" dirty="0">
                <a:ea typeface="宋体" panose="02010600030101010101" pitchFamily="2" charset="-122"/>
              </a:rPr>
              <a:t>6. </a:t>
            </a:r>
            <a:r>
              <a:rPr kumimoji="1" lang="zh-CN" altLang="en-US" sz="2800" dirty="0">
                <a:ea typeface="宋体" panose="02010600030101010101" pitchFamily="2" charset="-122"/>
              </a:rPr>
              <a:t>什么是敏捷和敏捷宣言？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客户合作胜于合同谈判，您会不先签订合同或类似文件就正式开始项目吗？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可以工作的代码胜过面面俱到的文档，试试二次开发？现如今，从头开始的软件项目还多吗？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个体和互动胜过流程和工具，您试试跟</a:t>
            </a:r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全栈工程师谈谈？当需要服务数亿或者数千万用户的时候，可以脱离过程，甚至简化过程吗？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响应变化胜过遵循计划，这究竟是甲方的想法还是您的想法？请仔细想一下！</a:t>
            </a:r>
          </a:p>
          <a:p>
            <a:pPr>
              <a:spcBef>
                <a:spcPts val="1272"/>
              </a:spcBef>
            </a:pPr>
            <a:r>
              <a:rPr kumimoji="1" lang="zh-CN" altLang="en-US" sz="2800" dirty="0">
                <a:ea typeface="宋体" panose="02010600030101010101" pitchFamily="2" charset="-122"/>
              </a:rPr>
              <a:t>敏捷宣言并不否认右项价值，但是认为左项价值更大，那么如何判断右项已经做的足够了所以您可以开始重视左项的价值？</a:t>
            </a:r>
          </a:p>
          <a:p>
            <a:endParaRPr kumimoji="1"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5724953A-D96E-EC88-AA5B-E6D69D71FE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BFCFD6-D17C-CB40-A338-399C5DA60521}" type="slidenum">
              <a:rPr lang="en-US" altLang="zh-CN" smtClean="0">
                <a:latin typeface="Verdana" panose="020B0604030504040204" pitchFamily="34" charset="0"/>
              </a:rPr>
              <a:pPr/>
              <a:t>6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3132FA33-7145-4ED9-CA93-D7E863041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4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E63A7712-E417-4F55-1EF2-3C2229B3C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6868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7. </a:t>
            </a:r>
            <a:r>
              <a:rPr kumimoji="1" lang="zh-CN" altLang="en-US" sz="2800" dirty="0">
                <a:ea typeface="宋体" panose="02010600030101010101" pitchFamily="2" charset="-122"/>
              </a:rPr>
              <a:t>从没有度量就没有管理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改进，到软件项目度量毫无意义，到包含</a:t>
            </a:r>
            <a:r>
              <a:rPr kumimoji="1" lang="en-US" altLang="zh-CN" sz="2800" dirty="0">
                <a:ea typeface="宋体" panose="02010600030101010101" pitchFamily="2" charset="-122"/>
              </a:rPr>
              <a:t>2200</a:t>
            </a:r>
            <a:r>
              <a:rPr kumimoji="1" lang="zh-CN" altLang="en-US" sz="2800" dirty="0">
                <a:ea typeface="宋体" panose="02010600030101010101" pitchFamily="2" charset="-122"/>
              </a:rPr>
              <a:t>多指标项的研发效能度量，到研发效能引发各类问题，那究竟要不要度量？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8. </a:t>
            </a:r>
            <a:r>
              <a:rPr kumimoji="1" lang="zh-CN" altLang="en-US" sz="2800" dirty="0">
                <a:ea typeface="宋体" panose="02010600030101010101" pitchFamily="2" charset="-122"/>
              </a:rPr>
              <a:t>从极度反对</a:t>
            </a:r>
            <a:r>
              <a:rPr kumimoji="1" lang="en-US" altLang="zh-CN" sz="2800" dirty="0">
                <a:ea typeface="宋体" panose="02010600030101010101" pitchFamily="2" charset="-122"/>
              </a:rPr>
              <a:t>CMM</a:t>
            </a:r>
            <a:r>
              <a:rPr kumimoji="1" lang="zh-CN" altLang="en-US" sz="2800" dirty="0">
                <a:ea typeface="宋体" panose="02010600030101010101" pitchFamily="2" charset="-122"/>
              </a:rPr>
              <a:t>到出台大量的成熟度模型，这是成熟度模型的问题？还是其他问题？</a:t>
            </a:r>
          </a:p>
        </p:txBody>
      </p:sp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61E17D90-5E5B-6712-9954-97252261B6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7B6CEA-C0E7-4E43-B28C-CCB16FC58FD9}" type="slidenum">
              <a:rPr lang="en-US" altLang="zh-CN" smtClean="0">
                <a:latin typeface="Verdana" panose="020B0604030504040204" pitchFamily="34" charset="0"/>
              </a:rPr>
              <a:pPr/>
              <a:t>7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F4B5A06-ADF4-0812-E887-FD1ED83F7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5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84C1AF2C-7F03-801A-8828-97539EC63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6868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9. </a:t>
            </a:r>
            <a:r>
              <a:rPr kumimoji="1" lang="zh-CN" altLang="en-US" sz="2800" dirty="0">
                <a:ea typeface="宋体" panose="02010600030101010101" pitchFamily="2" charset="-122"/>
              </a:rPr>
              <a:t>定量管理的本质是什么？用数据就是定量管理了？</a:t>
            </a:r>
            <a:r>
              <a:rPr kumimoji="1" lang="en-US" altLang="zh-CN" sz="2800" dirty="0">
                <a:ea typeface="宋体" panose="02010600030101010101" pitchFamily="2" charset="-122"/>
              </a:rPr>
              <a:t>DevOps</a:t>
            </a:r>
            <a:r>
              <a:rPr kumimoji="1" lang="zh-CN" altLang="en-US" sz="2800" dirty="0">
                <a:ea typeface="宋体" panose="02010600030101010101" pitchFamily="2" charset="-122"/>
              </a:rPr>
              <a:t>模式下，还需要定量管理吗？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10. </a:t>
            </a:r>
            <a:r>
              <a:rPr kumimoji="1" lang="zh-CN" altLang="en-US" sz="2800" dirty="0">
                <a:ea typeface="宋体" panose="02010600030101010101" pitchFamily="2" charset="-122"/>
              </a:rPr>
              <a:t>关于工程实践。需求分析究竟要解决什么问题？设计究竟要设计什么？测试的目的是什么？为实现这个目的，测试实践的重点应该是什么？</a:t>
            </a:r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D1E33A2B-5114-7648-B3C1-8F50FBF529D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CF12F1-BFF5-A443-82A6-22DFE0142C0A}" type="slidenum">
              <a:rPr lang="en-US" altLang="zh-CN" smtClean="0">
                <a:latin typeface="Verdana" panose="020B0604030504040204" pitchFamily="34" charset="0"/>
              </a:rPr>
              <a:pPr/>
              <a:t>8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5ADB12FF-1E05-483D-E2D6-DB17486F9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  （</a:t>
            </a:r>
            <a:r>
              <a:rPr kumimoji="1" lang="en-US" altLang="zh-CN">
                <a:ea typeface="宋体" panose="02010600030101010101" pitchFamily="2" charset="-122"/>
              </a:rPr>
              <a:t>1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C69D1A65-AEF3-2432-84C2-C03118461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348288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第一部分 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基本概念、</a:t>
            </a:r>
            <a:r>
              <a:rPr kumimoji="1" lang="zh-CN" altLang="en-US" b="1" dirty="0">
                <a:ea typeface="宋体" panose="02010600030101010101" pitchFamily="2" charset="-122"/>
              </a:rPr>
              <a:t>软件过程的历史演变和经典工作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r>
              <a:rPr kumimoji="1" lang="zh-CN" altLang="en-US" b="1" dirty="0">
                <a:ea typeface="宋体" panose="02010600030101010101" pitchFamily="2" charset="-122"/>
              </a:rPr>
              <a:t>第二部分  技术人员管理和团队组建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kumimoji="1"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课程实践第一阶段（为一个特定项目制订一份项目计划）</a:t>
            </a:r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幻灯片编号占位符 3">
            <a:extLst>
              <a:ext uri="{FF2B5EF4-FFF2-40B4-BE49-F238E27FC236}">
                <a16:creationId xmlns:a16="http://schemas.microsoft.com/office/drawing/2014/main" id="{4EF40C95-F25B-C252-5F1D-B8459F4D2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DD858E-C617-C541-8D83-78CEFB2B8D4D}" type="slidenum">
              <a:rPr lang="en-US" altLang="zh-CN" smtClean="0">
                <a:latin typeface="Verdana" panose="020B0604030504040204" pitchFamily="34" charset="0"/>
              </a:rPr>
              <a:pPr/>
              <a:t>9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906EB4F0-7434-081A-FE5E-7E17BC123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内容安排（</a:t>
            </a:r>
            <a:r>
              <a:rPr kumimoji="1" lang="en-US" altLang="zh-CN">
                <a:ea typeface="宋体" panose="02010600030101010101" pitchFamily="2" charset="-122"/>
              </a:rPr>
              <a:t>2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D76CA768-FE2C-0281-67E2-2FC957EA3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8077200" cy="5348287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第三部分   估算、计划和跟踪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估算方法、计划框架、挣值管理方法</a:t>
            </a:r>
            <a:endParaRPr kumimoji="1" lang="en-US" altLang="zh-CN" dirty="0"/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风险管理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63538" lvl="1" indent="-363538">
              <a:buFont typeface="Wingdings" pitchFamily="2" charset="2"/>
              <a:buChar char="l"/>
            </a:pPr>
            <a:r>
              <a:rPr kumimoji="1" lang="zh-CN" altLang="en-US" sz="3200" b="1" dirty="0">
                <a:latin typeface="+mn-lt"/>
                <a:ea typeface="宋体" panose="02010600030101010101" pitchFamily="2" charset="-122"/>
                <a:cs typeface="+mn-cs"/>
              </a:rPr>
              <a:t>第四部分 敏捷方法</a:t>
            </a:r>
            <a:endParaRPr kumimoji="1" lang="en-US" altLang="zh-CN" sz="3200" b="1" dirty="0">
              <a:latin typeface="+mn-lt"/>
              <a:ea typeface="宋体" panose="02010600030101010101" pitchFamily="2" charset="-122"/>
              <a:cs typeface="+mn-cs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Scrum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：三个角色、三个工件、五个价值观、五个事件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XP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CICD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、重构、简单设计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Kanban</a:t>
            </a: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敏捷软件开发概述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敏捷软件开发和瀑布模型的区别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A284DEC6-9FC2-FF48-6186-CB2F7DF33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E2AB54-8D4A-A64B-B786-F7A807195131}" type="slidenum">
              <a:rPr lang="en-US" altLang="zh-CN" smtClean="0">
                <a:latin typeface="Verdana" panose="020B0604030504040204" pitchFamily="34" charset="0"/>
              </a:rPr>
              <a:pPr/>
              <a:t>10</a:t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33F757A8-3CBA-3172-EFC7-AF57934C7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内容安排（</a:t>
            </a:r>
            <a:r>
              <a:rPr kumimoji="1" lang="en-US" altLang="zh-CN" dirty="0"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205C70B1-4D90-238A-3FDA-F1FB250BB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991600" cy="5348287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第五部分 质量管理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质量是什么？质量管理手段和路线图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b="1" dirty="0">
                <a:ea typeface="宋体" panose="02010600030101010101" pitchFamily="2" charset="-122"/>
              </a:rPr>
              <a:t>第六部分 工程技术管理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需求开发管理、技术方案管理、方案决策、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V&amp;V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第七部分 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支持类活动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ea typeface="宋体" panose="02010600030101010101" pitchFamily="2" charset="-122"/>
              </a:rPr>
              <a:t>配置管理、缺陷预防与根因分析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课程实践第二阶段（完善第一阶段的项目计划）</a:t>
            </a:r>
            <a:endParaRPr kumimoji="1"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E46B3E42-0AAC-B0D0-A46C-F3167D136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58C6E8-468D-0740-916C-311CEE0D2024}" type="slidenum">
              <a:rPr lang="en-US" altLang="zh-CN" smtClean="0">
                <a:latin typeface="Verdana" panose="020B0604030504040204" pitchFamily="34" charset="0"/>
              </a:rPr>
              <a:pPr/>
              <a:t>11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4E6A4B5C-11CD-D6ED-6624-0ADE190A6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课程组织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F6FB99A3-E329-8537-5E82-349959471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91600" cy="5029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课堂上课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平时作业组成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读书笔记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大部分课堂讲座结束前会有安排课堂讨论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，加分奖励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答得好的同学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学期课程实践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期末考试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1" name="灯片编号占位符 3">
            <a:extLst>
              <a:ext uri="{FF2B5EF4-FFF2-40B4-BE49-F238E27FC236}">
                <a16:creationId xmlns:a16="http://schemas.microsoft.com/office/drawing/2014/main" id="{C32E17EF-C2A2-1DB3-1419-62B48A50A6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4F9FDA-A361-5643-8657-D8FD9C44396B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教材和参考书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13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35843" name="图片 5">
            <a:extLst>
              <a:ext uri="{FF2B5EF4-FFF2-40B4-BE49-F238E27FC236}">
                <a16:creationId xmlns:a16="http://schemas.microsoft.com/office/drawing/2014/main" id="{5882E488-C2C7-501A-8FAD-A0EFB3FC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97250"/>
            <a:ext cx="15255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内容占位符 2">
            <a:extLst>
              <a:ext uri="{FF2B5EF4-FFF2-40B4-BE49-F238E27FC236}">
                <a16:creationId xmlns:a16="http://schemas.microsoft.com/office/drawing/2014/main" id="{E50B6CFA-F164-C3C3-EA84-6E6163530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9988"/>
            <a:ext cx="6400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《DevOps</a:t>
            </a:r>
            <a:r>
              <a:rPr lang="zh-CN" altLang="en-US">
                <a:solidFill>
                  <a:srgbClr val="00708E"/>
                </a:solidFill>
              </a:rPr>
              <a:t> 原理、方法与实践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  <a:r>
              <a:rPr lang="zh-CN" altLang="en-US">
                <a:solidFill>
                  <a:srgbClr val="00708E"/>
                </a:solidFill>
              </a:rPr>
              <a:t>（第二版）     机械工业出版社</a:t>
            </a: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sp>
        <p:nvSpPr>
          <p:cNvPr id="35845" name="内容占位符 2">
            <a:extLst>
              <a:ext uri="{FF2B5EF4-FFF2-40B4-BE49-F238E27FC236}">
                <a16:creationId xmlns:a16="http://schemas.microsoft.com/office/drawing/2014/main" id="{6EBD7A03-C8F1-133C-4A39-5A131AC6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79838"/>
            <a:ext cx="6477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</a:t>
            </a:r>
            <a:r>
              <a:rPr lang="zh-CN" altLang="en-US">
                <a:solidFill>
                  <a:srgbClr val="00708E"/>
                </a:solidFill>
              </a:rPr>
              <a:t>软件过程与管理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</a:p>
          <a:p>
            <a:pPr algn="r" eaLnBrk="1" hangingPunct="1">
              <a:buFont typeface="Wingdings" pitchFamily="2" charset="2"/>
              <a:buNone/>
            </a:pPr>
            <a:r>
              <a:rPr lang="zh-CN" altLang="en-US">
                <a:solidFill>
                  <a:srgbClr val="00708E"/>
                </a:solidFill>
              </a:rPr>
              <a:t> 机械工业出版社</a:t>
            </a:r>
            <a:endParaRPr lang="en-US" altLang="zh-CN">
              <a:solidFill>
                <a:srgbClr val="00708E"/>
              </a:solidFill>
            </a:endParaRP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pic>
        <p:nvPicPr>
          <p:cNvPr id="35846" name="内容占位符 3">
            <a:extLst>
              <a:ext uri="{FF2B5EF4-FFF2-40B4-BE49-F238E27FC236}">
                <a16:creationId xmlns:a16="http://schemas.microsoft.com/office/drawing/2014/main" id="{56039CBF-C90E-4BDE-53D3-900A3A96F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88175" y="1131888"/>
            <a:ext cx="1547813" cy="2138362"/>
          </a:xfr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E6F4BD98-4215-5150-EB56-1AD631410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我的联系方式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F4AD88B2-BA2C-C987-F324-5ABAEBE01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763000" cy="19050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None/>
            </a:pPr>
            <a:r>
              <a:rPr lang="zh-CN" altLang="en-US" dirty="0">
                <a:ea typeface="宋体" panose="02010600030101010101" pitchFamily="2" charset="-122"/>
              </a:rPr>
              <a:t>费彝民楼</a:t>
            </a:r>
            <a:r>
              <a:rPr lang="en-US" altLang="zh-CN" dirty="0">
                <a:ea typeface="宋体" panose="02010600030101010101" pitchFamily="2" charset="-122"/>
              </a:rPr>
              <a:t>B-917</a:t>
            </a:r>
          </a:p>
          <a:p>
            <a:pPr marL="0" indent="0" algn="just" eaLnBrk="1" hangingPunct="1"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ronggp@nju.edu.cn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None/>
            </a:pPr>
            <a:r>
              <a:rPr lang="en-US" altLang="zh-CN" dirty="0">
                <a:ea typeface="宋体" panose="02010600030101010101" pitchFamily="2" charset="-122"/>
                <a:hlinkClick r:id="rId2"/>
              </a:rPr>
              <a:t>https://softeng.nju.edu.cn/faculty/GuopingRong/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dirty="0"/>
              <a:t>邵栋</a:t>
            </a:r>
            <a:endParaRPr kumimoji="1" lang="en-US" altLang="zh-CN" dirty="0"/>
          </a:p>
          <a:p>
            <a:pPr marL="0" indent="0" algn="just" eaLnBrk="1" hangingPunct="1">
              <a:buNone/>
            </a:pPr>
            <a:r>
              <a:rPr lang="zh-CN" altLang="en-US" dirty="0">
                <a:ea typeface="宋体" panose="02010600030101010101" pitchFamily="2" charset="-122"/>
              </a:rPr>
              <a:t>费彝民楼</a:t>
            </a:r>
            <a:r>
              <a:rPr lang="en-US" altLang="zh-CN" dirty="0">
                <a:ea typeface="宋体" panose="02010600030101010101" pitchFamily="2" charset="-122"/>
              </a:rPr>
              <a:t>B-809</a:t>
            </a:r>
          </a:p>
          <a:p>
            <a:pPr marL="0" indent="0">
              <a:buNone/>
            </a:pPr>
            <a:r>
              <a:rPr kumimoji="1" lang="en-US" altLang="zh-CN" dirty="0">
                <a:ea typeface="宋体" panose="02010600030101010101" pitchFamily="2" charset="-122"/>
                <a:hlinkClick r:id="rId3"/>
              </a:rPr>
              <a:t>dongshao@nju.edu.cn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397E6A9C-ABC6-763F-9567-D662276B3A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C3167-E0ED-4646-BB85-8171958A8608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课程实践</Template>
  <TotalTime>9367</TotalTime>
  <Words>919</Words>
  <Application>Microsoft Office PowerPoint</Application>
  <PresentationFormat>全屏显示(4:3)</PresentationFormat>
  <Paragraphs>103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Arial</vt:lpstr>
      <vt:lpstr>Calibri</vt:lpstr>
      <vt:lpstr>Verdana</vt:lpstr>
      <vt:lpstr>Wingdings</vt:lpstr>
      <vt:lpstr>PowerPoint Template</vt:lpstr>
      <vt:lpstr>软件质量与管理 课程介绍</vt:lpstr>
      <vt:lpstr>课程动机——为什么要有这门课程？</vt:lpstr>
      <vt:lpstr>本课程目标</vt:lpstr>
      <vt:lpstr>一些启发性问题（1）</vt:lpstr>
      <vt:lpstr>一些启发性问题（2）</vt:lpstr>
      <vt:lpstr>一些启发性问题（3）</vt:lpstr>
      <vt:lpstr>一些启发性问题（4）</vt:lpstr>
      <vt:lpstr>一些启发性问题（5）</vt:lpstr>
      <vt:lpstr>内容安排  （1）</vt:lpstr>
      <vt:lpstr>内容安排（2）</vt:lpstr>
      <vt:lpstr>内容安排（3）</vt:lpstr>
      <vt:lpstr>课程组织</vt:lpstr>
      <vt:lpstr>教材和参考书</vt:lpstr>
      <vt:lpstr>我的联系方式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guoping rong</cp:lastModifiedBy>
  <cp:revision>216</cp:revision>
  <cp:lastPrinted>1601-01-01T00:00:00Z</cp:lastPrinted>
  <dcterms:created xsi:type="dcterms:W3CDTF">1601-01-01T00:00:00Z</dcterms:created>
  <dcterms:modified xsi:type="dcterms:W3CDTF">2025-02-18T00:51:08Z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