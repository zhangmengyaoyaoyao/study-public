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Lst>
  <p:notesMasterIdLst>
    <p:notesMasterId r:id="rId97"/>
  </p:notesMasterIdLst>
  <p:handoutMasterIdLst>
    <p:handoutMasterId r:id="rId98"/>
  </p:handoutMasterIdLst>
  <p:sldIdLst>
    <p:sldId id="337" r:id="rId3"/>
    <p:sldId id="344" r:id="rId4"/>
    <p:sldId id="355" r:id="rId5"/>
    <p:sldId id="356" r:id="rId6"/>
    <p:sldId id="382" r:id="rId7"/>
    <p:sldId id="357" r:id="rId8"/>
    <p:sldId id="358" r:id="rId9"/>
    <p:sldId id="359" r:id="rId10"/>
    <p:sldId id="450" r:id="rId11"/>
    <p:sldId id="350" r:id="rId12"/>
    <p:sldId id="351" r:id="rId13"/>
    <p:sldId id="352" r:id="rId14"/>
    <p:sldId id="353" r:id="rId15"/>
    <p:sldId id="378" r:id="rId16"/>
    <p:sldId id="434" r:id="rId17"/>
    <p:sldId id="467" r:id="rId18"/>
    <p:sldId id="379" r:id="rId19"/>
    <p:sldId id="444" r:id="rId20"/>
    <p:sldId id="445" r:id="rId21"/>
    <p:sldId id="446" r:id="rId22"/>
    <p:sldId id="447" r:id="rId23"/>
    <p:sldId id="448" r:id="rId24"/>
    <p:sldId id="449" r:id="rId25"/>
    <p:sldId id="435" r:id="rId26"/>
    <p:sldId id="436" r:id="rId27"/>
    <p:sldId id="437" r:id="rId28"/>
    <p:sldId id="438" r:id="rId29"/>
    <p:sldId id="439" r:id="rId30"/>
    <p:sldId id="440" r:id="rId31"/>
    <p:sldId id="441" r:id="rId32"/>
    <p:sldId id="442" r:id="rId33"/>
    <p:sldId id="443" r:id="rId34"/>
    <p:sldId id="429" r:id="rId35"/>
    <p:sldId id="430" r:id="rId36"/>
    <p:sldId id="431" r:id="rId37"/>
    <p:sldId id="432" r:id="rId38"/>
    <p:sldId id="433" r:id="rId39"/>
    <p:sldId id="451" r:id="rId40"/>
    <p:sldId id="453" r:id="rId41"/>
    <p:sldId id="454" r:id="rId42"/>
    <p:sldId id="380" r:id="rId43"/>
    <p:sldId id="455" r:id="rId44"/>
    <p:sldId id="456" r:id="rId45"/>
    <p:sldId id="457" r:id="rId46"/>
    <p:sldId id="469" r:id="rId47"/>
    <p:sldId id="381" r:id="rId48"/>
    <p:sldId id="384" r:id="rId49"/>
    <p:sldId id="458" r:id="rId50"/>
    <p:sldId id="459" r:id="rId51"/>
    <p:sldId id="460" r:id="rId52"/>
    <p:sldId id="383" r:id="rId53"/>
    <p:sldId id="385" r:id="rId54"/>
    <p:sldId id="386" r:id="rId55"/>
    <p:sldId id="387" r:id="rId56"/>
    <p:sldId id="413" r:id="rId57"/>
    <p:sldId id="414" r:id="rId58"/>
    <p:sldId id="415" r:id="rId59"/>
    <p:sldId id="416" r:id="rId60"/>
    <p:sldId id="417" r:id="rId61"/>
    <p:sldId id="418" r:id="rId62"/>
    <p:sldId id="419" r:id="rId63"/>
    <p:sldId id="420" r:id="rId64"/>
    <p:sldId id="421" r:id="rId65"/>
    <p:sldId id="423" r:id="rId66"/>
    <p:sldId id="424" r:id="rId67"/>
    <p:sldId id="425" r:id="rId68"/>
    <p:sldId id="426" r:id="rId69"/>
    <p:sldId id="388" r:id="rId70"/>
    <p:sldId id="389" r:id="rId71"/>
    <p:sldId id="390" r:id="rId72"/>
    <p:sldId id="391" r:id="rId73"/>
    <p:sldId id="392" r:id="rId74"/>
    <p:sldId id="393" r:id="rId75"/>
    <p:sldId id="396" r:id="rId76"/>
    <p:sldId id="397" r:id="rId77"/>
    <p:sldId id="398" r:id="rId78"/>
    <p:sldId id="399" r:id="rId79"/>
    <p:sldId id="400" r:id="rId80"/>
    <p:sldId id="401" r:id="rId81"/>
    <p:sldId id="402" r:id="rId82"/>
    <p:sldId id="403" r:id="rId83"/>
    <p:sldId id="404" r:id="rId84"/>
    <p:sldId id="377" r:id="rId85"/>
    <p:sldId id="461" r:id="rId86"/>
    <p:sldId id="462" r:id="rId87"/>
    <p:sldId id="463" r:id="rId88"/>
    <p:sldId id="464" r:id="rId89"/>
    <p:sldId id="465" r:id="rId90"/>
    <p:sldId id="466" r:id="rId91"/>
    <p:sldId id="470" r:id="rId92"/>
    <p:sldId id="471" r:id="rId93"/>
    <p:sldId id="472" r:id="rId94"/>
    <p:sldId id="473" r:id="rId95"/>
    <p:sldId id="340" r:id="rId9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78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muel Garcia" initials="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2C78BD"/>
    <a:srgbClr val="E31857"/>
    <a:srgbClr val="FEB813"/>
    <a:srgbClr val="870078"/>
    <a:srgbClr val="6A005F"/>
    <a:srgbClr val="760068"/>
    <a:srgbClr val="500048"/>
    <a:srgbClr val="A2008F"/>
    <a:srgbClr val="C000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432" autoAdjust="0"/>
    <p:restoredTop sz="78045" autoAdjust="0"/>
  </p:normalViewPr>
  <p:slideViewPr>
    <p:cSldViewPr snapToGrid="0" showGuides="1">
      <p:cViewPr varScale="1">
        <p:scale>
          <a:sx n="162" d="100"/>
          <a:sy n="162" d="100"/>
        </p:scale>
        <p:origin x="232" y="368"/>
      </p:cViewPr>
      <p:guideLst>
        <p:guide orient="horz" pos="2160"/>
        <p:guide pos="3788"/>
      </p:guideLst>
    </p:cSldViewPr>
  </p:slideViewPr>
  <p:notesTextViewPr>
    <p:cViewPr>
      <p:scale>
        <a:sx n="1" d="1"/>
        <a:sy n="1" d="1"/>
      </p:scale>
      <p:origin x="0" y="0"/>
    </p:cViewPr>
  </p:notesTextViewPr>
  <p:sorterViewPr>
    <p:cViewPr>
      <p:scale>
        <a:sx n="120" d="100"/>
        <a:sy n="120" d="100"/>
      </p:scale>
      <p:origin x="0" y="0"/>
    </p:cViewPr>
  </p:sorterViewPr>
  <p:notesViewPr>
    <p:cSldViewPr snapToGrid="0">
      <p:cViewPr varScale="1">
        <p:scale>
          <a:sx n="72" d="100"/>
          <a:sy n="72" d="100"/>
        </p:scale>
        <p:origin x="3012" y="54"/>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presProps" Target="presProps.xml"/><Relationship Id="rId98" Type="http://schemas.openxmlformats.org/officeDocument/2006/relationships/handoutMaster" Target="handoutMasters/handoutMaster1.xml"/><Relationship Id="rId97" Type="http://schemas.openxmlformats.org/officeDocument/2006/relationships/notesMaster" Target="notesMasters/notesMaster1.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2" Type="http://schemas.openxmlformats.org/officeDocument/2006/relationships/commentAuthors" Target="commentAuthors.xml"/><Relationship Id="rId101" Type="http://schemas.openxmlformats.org/officeDocument/2006/relationships/tableStyles" Target="tableStyles.xml"/><Relationship Id="rId100" Type="http://schemas.openxmlformats.org/officeDocument/2006/relationships/viewProps" Target="viewProps.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09047A70-42DD-324A-A3B4-22ABF995778B}" type="doc">
      <dgm:prSet loTypeId="urn:microsoft.com/office/officeart/2005/8/layout/pyramid2" loCatId="list" qsTypeId="urn:microsoft.com/office/officeart/2005/8/quickstyle/simple1" qsCatId="simple" csTypeId="urn:microsoft.com/office/officeart/2005/8/colors/colorful1" csCatId="colorful" phldr="1"/>
      <dgm:spPr/>
      <dgm:t>
        <a:bodyPr/>
        <a:lstStyle/>
        <a:p>
          <a:endParaRPr lang="zh-CN" altLang="en-US"/>
        </a:p>
      </dgm:t>
    </dgm:pt>
    <dgm:pt modelId="{F7BBEB79-FEFA-F04E-8B83-35B130E452F6}">
      <dgm:prSet/>
      <dgm:spPr/>
      <dgm:t>
        <a:bodyPr/>
        <a:lstStyle/>
        <a:p>
          <a:r>
            <a:rPr kumimoji="1" lang="zh-CN" baseline="0" dirty="0"/>
            <a:t>承诺</a:t>
          </a:r>
          <a:endParaRPr lang="zh-CN" dirty="0"/>
        </a:p>
      </dgm:t>
    </dgm:pt>
    <dgm:pt modelId="{63B5D597-F3BA-9244-8829-A9BE574597C3}" cxnId="{A51C8D18-8DD2-0A44-85B3-F9FE896E0D61}" type="parTrans">
      <dgm:prSet/>
      <dgm:spPr/>
      <dgm:t>
        <a:bodyPr/>
        <a:lstStyle/>
        <a:p>
          <a:endParaRPr lang="zh-CN" altLang="en-US"/>
        </a:p>
      </dgm:t>
    </dgm:pt>
    <dgm:pt modelId="{D021F0C2-C54D-FE46-800B-C39E085F49F3}" cxnId="{A51C8D18-8DD2-0A44-85B3-F9FE896E0D61}" type="sibTrans">
      <dgm:prSet/>
      <dgm:spPr/>
      <dgm:t>
        <a:bodyPr/>
        <a:lstStyle/>
        <a:p>
          <a:endParaRPr lang="zh-CN" altLang="en-US"/>
        </a:p>
      </dgm:t>
    </dgm:pt>
    <dgm:pt modelId="{5735B32F-7944-C448-BE94-BABC314FAB40}">
      <dgm:prSet/>
      <dgm:spPr/>
      <dgm:t>
        <a:bodyPr/>
        <a:lstStyle/>
        <a:p>
          <a:r>
            <a:rPr kumimoji="1" lang="zh-CN" baseline="0" dirty="0"/>
            <a:t>专注</a:t>
          </a:r>
          <a:endParaRPr lang="zh-CN" dirty="0"/>
        </a:p>
      </dgm:t>
    </dgm:pt>
    <dgm:pt modelId="{4D912C8D-D9BA-2444-B1F0-C87D1BCECC4D}" cxnId="{B6BF13EB-7170-0B48-A906-C2E6AB894BA3}" type="parTrans">
      <dgm:prSet/>
      <dgm:spPr/>
      <dgm:t>
        <a:bodyPr/>
        <a:lstStyle/>
        <a:p>
          <a:endParaRPr lang="zh-CN" altLang="en-US"/>
        </a:p>
      </dgm:t>
    </dgm:pt>
    <dgm:pt modelId="{EE585301-25F3-2543-8DDE-088AF3B842CD}" cxnId="{B6BF13EB-7170-0B48-A906-C2E6AB894BA3}" type="sibTrans">
      <dgm:prSet/>
      <dgm:spPr/>
      <dgm:t>
        <a:bodyPr/>
        <a:lstStyle/>
        <a:p>
          <a:endParaRPr lang="zh-CN" altLang="en-US"/>
        </a:p>
      </dgm:t>
    </dgm:pt>
    <dgm:pt modelId="{EFEE427A-B310-9845-9200-2D0284840F7B}">
      <dgm:prSet/>
      <dgm:spPr/>
      <dgm:t>
        <a:bodyPr/>
        <a:lstStyle/>
        <a:p>
          <a:r>
            <a:rPr kumimoji="1" lang="zh-CN" baseline="0" dirty="0"/>
            <a:t>开放</a:t>
          </a:r>
          <a:endParaRPr lang="zh-CN" dirty="0"/>
        </a:p>
      </dgm:t>
    </dgm:pt>
    <dgm:pt modelId="{971B82C0-715D-084E-8B6F-45FF160CAB61}" cxnId="{EB270ED8-CCA9-A84B-9560-F3BD7F5FDD82}" type="parTrans">
      <dgm:prSet/>
      <dgm:spPr/>
      <dgm:t>
        <a:bodyPr/>
        <a:lstStyle/>
        <a:p>
          <a:endParaRPr lang="zh-CN" altLang="en-US"/>
        </a:p>
      </dgm:t>
    </dgm:pt>
    <dgm:pt modelId="{B19AEF5D-72BA-2C43-8D90-B901F4EFE734}" cxnId="{EB270ED8-CCA9-A84B-9560-F3BD7F5FDD82}" type="sibTrans">
      <dgm:prSet/>
      <dgm:spPr/>
      <dgm:t>
        <a:bodyPr/>
        <a:lstStyle/>
        <a:p>
          <a:endParaRPr lang="zh-CN" altLang="en-US"/>
        </a:p>
      </dgm:t>
    </dgm:pt>
    <dgm:pt modelId="{B02502B4-0394-CE44-83A8-EE21624B33B8}">
      <dgm:prSet/>
      <dgm:spPr/>
      <dgm:t>
        <a:bodyPr/>
        <a:lstStyle/>
        <a:p>
          <a:r>
            <a:rPr kumimoji="1" lang="zh-CN" baseline="0" dirty="0"/>
            <a:t>尊重</a:t>
          </a:r>
          <a:endParaRPr lang="zh-CN" dirty="0"/>
        </a:p>
      </dgm:t>
    </dgm:pt>
    <dgm:pt modelId="{0D8749E5-AEE7-C14C-B2D9-4EB85617BD0B}" cxnId="{7D30FF0C-7E3C-8045-B7D3-CF40254F807A}" type="parTrans">
      <dgm:prSet/>
      <dgm:spPr/>
      <dgm:t>
        <a:bodyPr/>
        <a:lstStyle/>
        <a:p>
          <a:endParaRPr lang="zh-CN" altLang="en-US"/>
        </a:p>
      </dgm:t>
    </dgm:pt>
    <dgm:pt modelId="{E181B321-168C-2B4C-9E95-FF99B8840B4A}" cxnId="{7D30FF0C-7E3C-8045-B7D3-CF40254F807A}" type="sibTrans">
      <dgm:prSet/>
      <dgm:spPr/>
      <dgm:t>
        <a:bodyPr/>
        <a:lstStyle/>
        <a:p>
          <a:endParaRPr lang="zh-CN" altLang="en-US"/>
        </a:p>
      </dgm:t>
    </dgm:pt>
    <dgm:pt modelId="{6418CDC1-F4DF-274D-8034-064CCBF952D3}">
      <dgm:prSet/>
      <dgm:spPr/>
      <dgm:t>
        <a:bodyPr/>
        <a:lstStyle/>
        <a:p>
          <a:r>
            <a:rPr kumimoji="1" lang="zh-CN" baseline="0" dirty="0"/>
            <a:t>勇气</a:t>
          </a:r>
          <a:endParaRPr lang="zh-CN" dirty="0"/>
        </a:p>
      </dgm:t>
    </dgm:pt>
    <dgm:pt modelId="{548A1EC3-3600-DA44-ADED-7EBE1FFE3B4D}" cxnId="{7E0984B1-AE5B-7F48-B9A0-A687B4AE1FDC}" type="parTrans">
      <dgm:prSet/>
      <dgm:spPr/>
      <dgm:t>
        <a:bodyPr/>
        <a:lstStyle/>
        <a:p>
          <a:endParaRPr lang="zh-CN" altLang="en-US"/>
        </a:p>
      </dgm:t>
    </dgm:pt>
    <dgm:pt modelId="{3A27EE54-DA61-F043-BE59-CAE7AADE3448}" cxnId="{7E0984B1-AE5B-7F48-B9A0-A687B4AE1FDC}" type="sibTrans">
      <dgm:prSet/>
      <dgm:spPr/>
      <dgm:t>
        <a:bodyPr/>
        <a:lstStyle/>
        <a:p>
          <a:endParaRPr lang="zh-CN" altLang="en-US"/>
        </a:p>
      </dgm:t>
    </dgm:pt>
    <dgm:pt modelId="{D1CA4808-E7CC-C84F-81E2-9725AEE96252}" type="pres">
      <dgm:prSet presAssocID="{09047A70-42DD-324A-A3B4-22ABF995778B}" presName="compositeShape" presStyleCnt="0">
        <dgm:presLayoutVars>
          <dgm:dir/>
          <dgm:resizeHandles/>
        </dgm:presLayoutVars>
      </dgm:prSet>
      <dgm:spPr/>
    </dgm:pt>
    <dgm:pt modelId="{4342C05B-05F9-4247-9B96-1D3E1CD0455B}" type="pres">
      <dgm:prSet presAssocID="{09047A70-42DD-324A-A3B4-22ABF995778B}" presName="pyramid" presStyleLbl="node1" presStyleIdx="0" presStyleCnt="1"/>
      <dgm:spPr/>
    </dgm:pt>
    <dgm:pt modelId="{E4C3A77D-08CE-C949-9C6A-2734D9F7CB0F}" type="pres">
      <dgm:prSet presAssocID="{09047A70-42DD-324A-A3B4-22ABF995778B}" presName="theList" presStyleCnt="0"/>
      <dgm:spPr/>
    </dgm:pt>
    <dgm:pt modelId="{E45CB2B4-14D2-5248-96D6-D032ABDB70F1}" type="pres">
      <dgm:prSet presAssocID="{F7BBEB79-FEFA-F04E-8B83-35B130E452F6}" presName="aNode" presStyleLbl="fgAcc1" presStyleIdx="0" presStyleCnt="5">
        <dgm:presLayoutVars>
          <dgm:bulletEnabled val="1"/>
        </dgm:presLayoutVars>
      </dgm:prSet>
      <dgm:spPr/>
    </dgm:pt>
    <dgm:pt modelId="{86C2E65E-95D6-7E46-93B6-E664854ABE14}" type="pres">
      <dgm:prSet presAssocID="{F7BBEB79-FEFA-F04E-8B83-35B130E452F6}" presName="aSpace" presStyleCnt="0"/>
      <dgm:spPr/>
    </dgm:pt>
    <dgm:pt modelId="{A71D156C-759C-B64E-880E-F67519A1385D}" type="pres">
      <dgm:prSet presAssocID="{5735B32F-7944-C448-BE94-BABC314FAB40}" presName="aNode" presStyleLbl="fgAcc1" presStyleIdx="1" presStyleCnt="5">
        <dgm:presLayoutVars>
          <dgm:bulletEnabled val="1"/>
        </dgm:presLayoutVars>
      </dgm:prSet>
      <dgm:spPr/>
    </dgm:pt>
    <dgm:pt modelId="{6E03875F-2271-BD45-A45B-D1EBCF7DFBA7}" type="pres">
      <dgm:prSet presAssocID="{5735B32F-7944-C448-BE94-BABC314FAB40}" presName="aSpace" presStyleCnt="0"/>
      <dgm:spPr/>
    </dgm:pt>
    <dgm:pt modelId="{0AAAC77B-C4B5-3E46-AC2C-14E698C13CF8}" type="pres">
      <dgm:prSet presAssocID="{EFEE427A-B310-9845-9200-2D0284840F7B}" presName="aNode" presStyleLbl="fgAcc1" presStyleIdx="2" presStyleCnt="5">
        <dgm:presLayoutVars>
          <dgm:bulletEnabled val="1"/>
        </dgm:presLayoutVars>
      </dgm:prSet>
      <dgm:spPr/>
    </dgm:pt>
    <dgm:pt modelId="{8E86CC43-D5FD-8044-B0F0-089C9BBD161F}" type="pres">
      <dgm:prSet presAssocID="{EFEE427A-B310-9845-9200-2D0284840F7B}" presName="aSpace" presStyleCnt="0"/>
      <dgm:spPr/>
    </dgm:pt>
    <dgm:pt modelId="{B704A9BC-3597-DB48-BAE0-75816ED101F7}" type="pres">
      <dgm:prSet presAssocID="{B02502B4-0394-CE44-83A8-EE21624B33B8}" presName="aNode" presStyleLbl="fgAcc1" presStyleIdx="3" presStyleCnt="5">
        <dgm:presLayoutVars>
          <dgm:bulletEnabled val="1"/>
        </dgm:presLayoutVars>
      </dgm:prSet>
      <dgm:spPr/>
    </dgm:pt>
    <dgm:pt modelId="{48868E5D-044E-F747-B3C1-848FADCB453A}" type="pres">
      <dgm:prSet presAssocID="{B02502B4-0394-CE44-83A8-EE21624B33B8}" presName="aSpace" presStyleCnt="0"/>
      <dgm:spPr/>
    </dgm:pt>
    <dgm:pt modelId="{1509BD9A-E48A-FF4F-90B6-B0CC0A152F24}" type="pres">
      <dgm:prSet presAssocID="{6418CDC1-F4DF-274D-8034-064CCBF952D3}" presName="aNode" presStyleLbl="fgAcc1" presStyleIdx="4" presStyleCnt="5">
        <dgm:presLayoutVars>
          <dgm:bulletEnabled val="1"/>
        </dgm:presLayoutVars>
      </dgm:prSet>
      <dgm:spPr/>
    </dgm:pt>
    <dgm:pt modelId="{83862D18-6243-4D44-A4E5-2CFC452AF7A5}" type="pres">
      <dgm:prSet presAssocID="{6418CDC1-F4DF-274D-8034-064CCBF952D3}" presName="aSpace" presStyleCnt="0"/>
      <dgm:spPr/>
    </dgm:pt>
  </dgm:ptLst>
  <dgm:cxnLst>
    <dgm:cxn modelId="{BD4EB806-FDEA-2743-951B-9227433C76A5}" type="presOf" srcId="{6418CDC1-F4DF-274D-8034-064CCBF952D3}" destId="{1509BD9A-E48A-FF4F-90B6-B0CC0A152F24}" srcOrd="0" destOrd="0" presId="urn:microsoft.com/office/officeart/2005/8/layout/pyramid2"/>
    <dgm:cxn modelId="{7D30FF0C-7E3C-8045-B7D3-CF40254F807A}" srcId="{09047A70-42DD-324A-A3B4-22ABF995778B}" destId="{B02502B4-0394-CE44-83A8-EE21624B33B8}" srcOrd="3" destOrd="0" parTransId="{0D8749E5-AEE7-C14C-B2D9-4EB85617BD0B}" sibTransId="{E181B321-168C-2B4C-9E95-FF99B8840B4A}"/>
    <dgm:cxn modelId="{A51C8D18-8DD2-0A44-85B3-F9FE896E0D61}" srcId="{09047A70-42DD-324A-A3B4-22ABF995778B}" destId="{F7BBEB79-FEFA-F04E-8B83-35B130E452F6}" srcOrd="0" destOrd="0" parTransId="{63B5D597-F3BA-9244-8829-A9BE574597C3}" sibTransId="{D021F0C2-C54D-FE46-800B-C39E085F49F3}"/>
    <dgm:cxn modelId="{91BF1D3E-F26C-7441-A6B2-106B15FD9E4D}" type="presOf" srcId="{B02502B4-0394-CE44-83A8-EE21624B33B8}" destId="{B704A9BC-3597-DB48-BAE0-75816ED101F7}" srcOrd="0" destOrd="0" presId="urn:microsoft.com/office/officeart/2005/8/layout/pyramid2"/>
    <dgm:cxn modelId="{C7B09646-22D4-4247-88D3-BF9AE57F98B4}" type="presOf" srcId="{EFEE427A-B310-9845-9200-2D0284840F7B}" destId="{0AAAC77B-C4B5-3E46-AC2C-14E698C13CF8}" srcOrd="0" destOrd="0" presId="urn:microsoft.com/office/officeart/2005/8/layout/pyramid2"/>
    <dgm:cxn modelId="{7E0984B1-AE5B-7F48-B9A0-A687B4AE1FDC}" srcId="{09047A70-42DD-324A-A3B4-22ABF995778B}" destId="{6418CDC1-F4DF-274D-8034-064CCBF952D3}" srcOrd="4" destOrd="0" parTransId="{548A1EC3-3600-DA44-ADED-7EBE1FFE3B4D}" sibTransId="{3A27EE54-DA61-F043-BE59-CAE7AADE3448}"/>
    <dgm:cxn modelId="{CB492DC2-1E78-5448-82ED-19B6C6CD9992}" type="presOf" srcId="{F7BBEB79-FEFA-F04E-8B83-35B130E452F6}" destId="{E45CB2B4-14D2-5248-96D6-D032ABDB70F1}" srcOrd="0" destOrd="0" presId="urn:microsoft.com/office/officeart/2005/8/layout/pyramid2"/>
    <dgm:cxn modelId="{64E554C5-FE06-5449-ADDA-B76534023D00}" type="presOf" srcId="{09047A70-42DD-324A-A3B4-22ABF995778B}" destId="{D1CA4808-E7CC-C84F-81E2-9725AEE96252}" srcOrd="0" destOrd="0" presId="urn:microsoft.com/office/officeart/2005/8/layout/pyramid2"/>
    <dgm:cxn modelId="{EB270ED8-CCA9-A84B-9560-F3BD7F5FDD82}" srcId="{09047A70-42DD-324A-A3B4-22ABF995778B}" destId="{EFEE427A-B310-9845-9200-2D0284840F7B}" srcOrd="2" destOrd="0" parTransId="{971B82C0-715D-084E-8B6F-45FF160CAB61}" sibTransId="{B19AEF5D-72BA-2C43-8D90-B901F4EFE734}"/>
    <dgm:cxn modelId="{B6BF13EB-7170-0B48-A906-C2E6AB894BA3}" srcId="{09047A70-42DD-324A-A3B4-22ABF995778B}" destId="{5735B32F-7944-C448-BE94-BABC314FAB40}" srcOrd="1" destOrd="0" parTransId="{4D912C8D-D9BA-2444-B1F0-C87D1BCECC4D}" sibTransId="{EE585301-25F3-2543-8DDE-088AF3B842CD}"/>
    <dgm:cxn modelId="{FB9F18FC-550D-A741-AAEE-4EDE03CF799A}" type="presOf" srcId="{5735B32F-7944-C448-BE94-BABC314FAB40}" destId="{A71D156C-759C-B64E-880E-F67519A1385D}" srcOrd="0" destOrd="0" presId="urn:microsoft.com/office/officeart/2005/8/layout/pyramid2"/>
    <dgm:cxn modelId="{7A3F87E3-A073-994F-8DDB-7F686FF04BBA}" type="presParOf" srcId="{D1CA4808-E7CC-C84F-81E2-9725AEE96252}" destId="{4342C05B-05F9-4247-9B96-1D3E1CD0455B}" srcOrd="0" destOrd="0" presId="urn:microsoft.com/office/officeart/2005/8/layout/pyramid2"/>
    <dgm:cxn modelId="{60999F64-6064-3D4D-9F06-44EEA5244E32}" type="presParOf" srcId="{D1CA4808-E7CC-C84F-81E2-9725AEE96252}" destId="{E4C3A77D-08CE-C949-9C6A-2734D9F7CB0F}" srcOrd="1" destOrd="0" presId="urn:microsoft.com/office/officeart/2005/8/layout/pyramid2"/>
    <dgm:cxn modelId="{28CE9078-53EB-B341-8D2A-29802FBDBC97}" type="presParOf" srcId="{E4C3A77D-08CE-C949-9C6A-2734D9F7CB0F}" destId="{E45CB2B4-14D2-5248-96D6-D032ABDB70F1}" srcOrd="0" destOrd="0" presId="urn:microsoft.com/office/officeart/2005/8/layout/pyramid2"/>
    <dgm:cxn modelId="{6B9D4A54-9601-464D-97BE-66D6BE60B0FB}" type="presParOf" srcId="{E4C3A77D-08CE-C949-9C6A-2734D9F7CB0F}" destId="{86C2E65E-95D6-7E46-93B6-E664854ABE14}" srcOrd="1" destOrd="0" presId="urn:microsoft.com/office/officeart/2005/8/layout/pyramid2"/>
    <dgm:cxn modelId="{0E5ADC81-B2B4-1249-9CC4-2C24AB9B534D}" type="presParOf" srcId="{E4C3A77D-08CE-C949-9C6A-2734D9F7CB0F}" destId="{A71D156C-759C-B64E-880E-F67519A1385D}" srcOrd="2" destOrd="0" presId="urn:microsoft.com/office/officeart/2005/8/layout/pyramid2"/>
    <dgm:cxn modelId="{C86E970C-185E-4F4B-95AD-6C1FF62775DB}" type="presParOf" srcId="{E4C3A77D-08CE-C949-9C6A-2734D9F7CB0F}" destId="{6E03875F-2271-BD45-A45B-D1EBCF7DFBA7}" srcOrd="3" destOrd="0" presId="urn:microsoft.com/office/officeart/2005/8/layout/pyramid2"/>
    <dgm:cxn modelId="{B940A6E0-6ADA-4C42-91F5-DAE48E7293A9}" type="presParOf" srcId="{E4C3A77D-08CE-C949-9C6A-2734D9F7CB0F}" destId="{0AAAC77B-C4B5-3E46-AC2C-14E698C13CF8}" srcOrd="4" destOrd="0" presId="urn:microsoft.com/office/officeart/2005/8/layout/pyramid2"/>
    <dgm:cxn modelId="{9540DB5A-C899-5640-9A74-6998D6A8B9E3}" type="presParOf" srcId="{E4C3A77D-08CE-C949-9C6A-2734D9F7CB0F}" destId="{8E86CC43-D5FD-8044-B0F0-089C9BBD161F}" srcOrd="5" destOrd="0" presId="urn:microsoft.com/office/officeart/2005/8/layout/pyramid2"/>
    <dgm:cxn modelId="{F4BF609B-8D2F-4945-9316-E2E07803DAB2}" type="presParOf" srcId="{E4C3A77D-08CE-C949-9C6A-2734D9F7CB0F}" destId="{B704A9BC-3597-DB48-BAE0-75816ED101F7}" srcOrd="6" destOrd="0" presId="urn:microsoft.com/office/officeart/2005/8/layout/pyramid2"/>
    <dgm:cxn modelId="{613B3419-9D4F-1542-846A-E592710D198C}" type="presParOf" srcId="{E4C3A77D-08CE-C949-9C6A-2734D9F7CB0F}" destId="{48868E5D-044E-F747-B3C1-848FADCB453A}" srcOrd="7" destOrd="0" presId="urn:microsoft.com/office/officeart/2005/8/layout/pyramid2"/>
    <dgm:cxn modelId="{7E7997B9-7D73-6B49-9763-C5B49C266ECE}" type="presParOf" srcId="{E4C3A77D-08CE-C949-9C6A-2734D9F7CB0F}" destId="{1509BD9A-E48A-FF4F-90B6-B0CC0A152F24}" srcOrd="8" destOrd="0" presId="urn:microsoft.com/office/officeart/2005/8/layout/pyramid2"/>
    <dgm:cxn modelId="{E55A5189-3908-0D46-8968-4AC5BFD07933}" type="presParOf" srcId="{E4C3A77D-08CE-C949-9C6A-2734D9F7CB0F}" destId="{83862D18-6243-4D44-A4E5-2CFC452AF7A5}" srcOrd="9" destOrd="0" presId="urn:microsoft.com/office/officeart/2005/8/layout/pyramid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515600" cy="4955264"/>
        <a:chOff x="0" y="0"/>
        <a:chExt cx="10515600" cy="4955264"/>
      </a:xfrm>
    </dsp:grpSpPr>
    <dsp:sp modelId="{4342C05B-05F9-4247-9B96-1D3E1CD0455B}">
      <dsp:nvSpPr>
        <dsp:cNvPr id="3" name="等腰三角形 2"/>
        <dsp:cNvSpPr/>
      </dsp:nvSpPr>
      <dsp:spPr bwMode="white">
        <a:xfrm>
          <a:off x="2408523" y="0"/>
          <a:ext cx="4955264" cy="4955264"/>
        </a:xfrm>
        <a:prstGeom prst="triangle">
          <a:avLst/>
        </a:prstGeom>
      </dsp:spPr>
      <dsp:style>
        <a:lnRef idx="2">
          <a:schemeClr val="lt1"/>
        </a:lnRef>
        <a:fillRef idx="1">
          <a:schemeClr val="accent2"/>
        </a:fillRef>
        <a:effectRef idx="0">
          <a:scrgbClr r="0" g="0" b="0"/>
        </a:effectRef>
        <a:fontRef idx="minor">
          <a:schemeClr val="lt1"/>
        </a:fontRef>
      </dsp:style>
      <dsp:txXfrm>
        <a:off x="2408523" y="0"/>
        <a:ext cx="4955264" cy="4955264"/>
      </dsp:txXfrm>
    </dsp:sp>
    <dsp:sp modelId="{E45CB2B4-14D2-5248-96D6-D032ABDB70F1}">
      <dsp:nvSpPr>
        <dsp:cNvPr id="4" name="圆角矩形 3"/>
        <dsp:cNvSpPr/>
      </dsp:nvSpPr>
      <dsp:spPr bwMode="white">
        <a:xfrm>
          <a:off x="4886155" y="495526"/>
          <a:ext cx="3220922" cy="704749"/>
        </a:xfrm>
        <a:prstGeom prst="roundRect">
          <a:avLst/>
        </a:prstGeom>
      </dsp:spPr>
      <dsp:style>
        <a:lnRef idx="2">
          <a:schemeClr val="accent2"/>
        </a:lnRef>
        <a:fillRef idx="1">
          <a:schemeClr val="lt1">
            <a:alpha val="90000"/>
          </a:schemeClr>
        </a:fillRef>
        <a:effectRef idx="0">
          <a:scrgbClr r="0" g="0" b="0"/>
        </a:effectRef>
        <a:fontRef idx="minor"/>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kumimoji="1" lang="zh-CN" baseline="0" dirty="0">
              <a:solidFill>
                <a:schemeClr val="dk1"/>
              </a:solidFill>
            </a:rPr>
            <a:t>承诺</a:t>
          </a:r>
          <a:endParaRPr lang="zh-CN" dirty="0">
            <a:solidFill>
              <a:schemeClr val="dk1"/>
            </a:solidFill>
          </a:endParaRPr>
        </a:p>
      </dsp:txBody>
      <dsp:txXfrm>
        <a:off x="4886155" y="495526"/>
        <a:ext cx="3220922" cy="704749"/>
      </dsp:txXfrm>
    </dsp:sp>
    <dsp:sp modelId="{A71D156C-759C-B64E-880E-F67519A1385D}">
      <dsp:nvSpPr>
        <dsp:cNvPr id="5" name="圆角矩形 4"/>
        <dsp:cNvSpPr/>
      </dsp:nvSpPr>
      <dsp:spPr bwMode="white">
        <a:xfrm>
          <a:off x="4886155" y="1288369"/>
          <a:ext cx="3220922" cy="704749"/>
        </a:xfrm>
        <a:prstGeom prst="roundRect">
          <a:avLst/>
        </a:prstGeom>
      </dsp:spPr>
      <dsp:style>
        <a:lnRef idx="2">
          <a:schemeClr val="accent3"/>
        </a:lnRef>
        <a:fillRef idx="1">
          <a:schemeClr val="lt1">
            <a:alpha val="90000"/>
          </a:schemeClr>
        </a:fillRef>
        <a:effectRef idx="0">
          <a:scrgbClr r="0" g="0" b="0"/>
        </a:effectRef>
        <a:fontRef idx="minor"/>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kumimoji="1" lang="zh-CN" baseline="0" dirty="0">
              <a:solidFill>
                <a:schemeClr val="dk1"/>
              </a:solidFill>
            </a:rPr>
            <a:t>专注</a:t>
          </a:r>
          <a:endParaRPr lang="zh-CN" dirty="0">
            <a:solidFill>
              <a:schemeClr val="dk1"/>
            </a:solidFill>
          </a:endParaRPr>
        </a:p>
      </dsp:txBody>
      <dsp:txXfrm>
        <a:off x="4886155" y="1288369"/>
        <a:ext cx="3220922" cy="704749"/>
      </dsp:txXfrm>
    </dsp:sp>
    <dsp:sp modelId="{0AAAC77B-C4B5-3E46-AC2C-14E698C13CF8}">
      <dsp:nvSpPr>
        <dsp:cNvPr id="6" name="圆角矩形 5"/>
        <dsp:cNvSpPr/>
      </dsp:nvSpPr>
      <dsp:spPr bwMode="white">
        <a:xfrm>
          <a:off x="4886155" y="2081211"/>
          <a:ext cx="3220922" cy="704749"/>
        </a:xfrm>
        <a:prstGeom prst="roundRect">
          <a:avLst/>
        </a:prstGeom>
      </dsp:spPr>
      <dsp:style>
        <a:lnRef idx="2">
          <a:schemeClr val="accent4"/>
        </a:lnRef>
        <a:fillRef idx="1">
          <a:schemeClr val="lt1">
            <a:alpha val="90000"/>
          </a:schemeClr>
        </a:fillRef>
        <a:effectRef idx="0">
          <a:scrgbClr r="0" g="0" b="0"/>
        </a:effectRef>
        <a:fontRef idx="minor"/>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kumimoji="1" lang="zh-CN" baseline="0" dirty="0">
              <a:solidFill>
                <a:schemeClr val="dk1"/>
              </a:solidFill>
            </a:rPr>
            <a:t>开放</a:t>
          </a:r>
          <a:endParaRPr lang="zh-CN" dirty="0">
            <a:solidFill>
              <a:schemeClr val="dk1"/>
            </a:solidFill>
          </a:endParaRPr>
        </a:p>
      </dsp:txBody>
      <dsp:txXfrm>
        <a:off x="4886155" y="2081211"/>
        <a:ext cx="3220922" cy="704749"/>
      </dsp:txXfrm>
    </dsp:sp>
    <dsp:sp modelId="{B704A9BC-3597-DB48-BAE0-75816ED101F7}">
      <dsp:nvSpPr>
        <dsp:cNvPr id="7" name="圆角矩形 6"/>
        <dsp:cNvSpPr/>
      </dsp:nvSpPr>
      <dsp:spPr bwMode="white">
        <a:xfrm>
          <a:off x="4886155" y="2874053"/>
          <a:ext cx="3220922" cy="704749"/>
        </a:xfrm>
        <a:prstGeom prst="roundRect">
          <a:avLst/>
        </a:prstGeom>
      </dsp:spPr>
      <dsp:style>
        <a:lnRef idx="2">
          <a:schemeClr val="accent5"/>
        </a:lnRef>
        <a:fillRef idx="1">
          <a:schemeClr val="lt1">
            <a:alpha val="90000"/>
          </a:schemeClr>
        </a:fillRef>
        <a:effectRef idx="0">
          <a:scrgbClr r="0" g="0" b="0"/>
        </a:effectRef>
        <a:fontRef idx="minor"/>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kumimoji="1" lang="zh-CN" baseline="0" dirty="0">
              <a:solidFill>
                <a:schemeClr val="dk1"/>
              </a:solidFill>
            </a:rPr>
            <a:t>尊重</a:t>
          </a:r>
          <a:endParaRPr lang="zh-CN" dirty="0">
            <a:solidFill>
              <a:schemeClr val="dk1"/>
            </a:solidFill>
          </a:endParaRPr>
        </a:p>
      </dsp:txBody>
      <dsp:txXfrm>
        <a:off x="4886155" y="2874053"/>
        <a:ext cx="3220922" cy="704749"/>
      </dsp:txXfrm>
    </dsp:sp>
    <dsp:sp modelId="{1509BD9A-E48A-FF4F-90B6-B0CC0A152F24}">
      <dsp:nvSpPr>
        <dsp:cNvPr id="8" name="圆角矩形 7"/>
        <dsp:cNvSpPr/>
      </dsp:nvSpPr>
      <dsp:spPr bwMode="white">
        <a:xfrm>
          <a:off x="4886155" y="3666895"/>
          <a:ext cx="3220922" cy="704749"/>
        </a:xfrm>
        <a:prstGeom prst="roundRect">
          <a:avLst/>
        </a:prstGeom>
      </dsp:spPr>
      <dsp:style>
        <a:lnRef idx="2">
          <a:schemeClr val="accent6"/>
        </a:lnRef>
        <a:fillRef idx="1">
          <a:schemeClr val="lt1">
            <a:alpha val="90000"/>
          </a:schemeClr>
        </a:fillRef>
        <a:effectRef idx="0">
          <a:scrgbClr r="0" g="0" b="0"/>
        </a:effectRef>
        <a:fontRef idx="minor"/>
      </dsp:style>
      <dsp:txBody>
        <a:bodyPr lIns="99060" tIns="99060" rIns="99060" bIns="99060" anchor="ctr"/>
        <a:lstStyle>
          <a:lvl1pPr algn="ctr">
            <a:defRPr sz="2600"/>
          </a:lvl1pPr>
          <a:lvl2pPr marL="228600" indent="-228600" algn="ctr">
            <a:defRPr sz="2000"/>
          </a:lvl2pPr>
          <a:lvl3pPr marL="457200" indent="-228600" algn="ctr">
            <a:defRPr sz="2000"/>
          </a:lvl3pPr>
          <a:lvl4pPr marL="685800" indent="-228600" algn="ctr">
            <a:defRPr sz="2000"/>
          </a:lvl4pPr>
          <a:lvl5pPr marL="914400" indent="-228600" algn="ctr">
            <a:defRPr sz="2000"/>
          </a:lvl5pPr>
          <a:lvl6pPr marL="1143000" indent="-228600" algn="ctr">
            <a:defRPr sz="2000"/>
          </a:lvl6pPr>
          <a:lvl7pPr marL="1371600" indent="-228600" algn="ctr">
            <a:defRPr sz="2000"/>
          </a:lvl7pPr>
          <a:lvl8pPr marL="1600200" indent="-228600" algn="ctr">
            <a:defRPr sz="2000"/>
          </a:lvl8pPr>
          <a:lvl9pPr marL="1828800" indent="-228600" algn="ctr">
            <a:defRPr sz="2000"/>
          </a:lvl9pPr>
        </a:lstStyle>
        <a:p>
          <a:pPr lvl="0">
            <a:lnSpc>
              <a:spcPct val="100000"/>
            </a:lnSpc>
            <a:spcBef>
              <a:spcPct val="0"/>
            </a:spcBef>
            <a:spcAft>
              <a:spcPct val="35000"/>
            </a:spcAft>
          </a:pPr>
          <a:r>
            <a:rPr kumimoji="1" lang="zh-CN" baseline="0" dirty="0">
              <a:solidFill>
                <a:schemeClr val="dk1"/>
              </a:solidFill>
            </a:rPr>
            <a:t>勇气</a:t>
          </a:r>
          <a:endParaRPr lang="zh-CN" dirty="0">
            <a:solidFill>
              <a:schemeClr val="dk1"/>
            </a:solidFill>
          </a:endParaRPr>
        </a:p>
      </dsp:txBody>
      <dsp:txXfrm>
        <a:off x="4886155" y="3666895"/>
        <a:ext cx="3220922" cy="704749"/>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57D45F-9B06-4FD6-B80D-63AF92FC02D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33F7F3-BE4C-4D86-9918-24458AE0A277}"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2F98C7-9395-4E9A-96EC-DE4C39432AA7}"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464DB0-CCE3-4363-801A-A01AADC6398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内页">
    <p:spTree>
      <p:nvGrpSpPr>
        <p:cNvPr id="1" name=""/>
        <p:cNvGrpSpPr/>
        <p:nvPr/>
      </p:nvGrpSpPr>
      <p:grpSpPr>
        <a:xfrm>
          <a:off x="0" y="0"/>
          <a:ext cx="0" cy="0"/>
          <a:chOff x="0" y="0"/>
          <a:chExt cx="0" cy="0"/>
        </a:xfrm>
      </p:grpSpPr>
      <p:sp>
        <p:nvSpPr>
          <p:cNvPr id="9" name="矩形 8"/>
          <p:cNvSpPr/>
          <p:nvPr userDrawn="1"/>
        </p:nvSpPr>
        <p:spPr>
          <a:xfrm>
            <a:off x="11208694" y="6320412"/>
            <a:ext cx="575959" cy="537587"/>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灯片编号占位符 15"/>
          <p:cNvSpPr>
            <a:spLocks noGrp="1"/>
          </p:cNvSpPr>
          <p:nvPr>
            <p:ph type="sldNum" sz="quarter" idx="12"/>
          </p:nvPr>
        </p:nvSpPr>
        <p:spPr>
          <a:xfrm>
            <a:off x="10801349" y="6406644"/>
            <a:ext cx="1390651" cy="365125"/>
          </a:xfrm>
        </p:spPr>
        <p:txBody>
          <a:bodyPr/>
          <a:lstStyle>
            <a:lvl1pPr algn="ctr">
              <a:defRPr sz="2000" b="1">
                <a:solidFill>
                  <a:schemeClr val="bg1"/>
                </a:solidFill>
              </a:defRPr>
            </a:lvl1pPr>
          </a:lstStyle>
          <a:p>
            <a:fld id="{51D91E7F-84B6-4064-9D4E-CC7D244BCA04}" type="slidenum">
              <a:rPr lang="zh-CN" altLang="en-US" smtClean="0"/>
            </a:fld>
            <a:endParaRPr lang="zh-CN" altLang="en-US"/>
          </a:p>
        </p:txBody>
      </p:sp>
      <p:grpSp>
        <p:nvGrpSpPr>
          <p:cNvPr id="13" name="组合 12"/>
          <p:cNvGrpSpPr/>
          <p:nvPr userDrawn="1"/>
        </p:nvGrpSpPr>
        <p:grpSpPr>
          <a:xfrm>
            <a:off x="160768" y="120576"/>
            <a:ext cx="657379" cy="653562"/>
            <a:chOff x="10920675" y="2008140"/>
            <a:chExt cx="576000" cy="576000"/>
          </a:xfrm>
        </p:grpSpPr>
        <p:sp>
          <p:nvSpPr>
            <p:cNvPr id="14" name="矩形 13"/>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矩形 14"/>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7" name="文本占位符 16"/>
          <p:cNvSpPr>
            <a:spLocks noGrp="1"/>
          </p:cNvSpPr>
          <p:nvPr>
            <p:ph type="body" sz="quarter" idx="13"/>
          </p:nvPr>
        </p:nvSpPr>
        <p:spPr>
          <a:xfrm>
            <a:off x="1032184" y="297936"/>
            <a:ext cx="10321616" cy="584775"/>
          </a:xfrm>
        </p:spPr>
        <p:txBody>
          <a:bodyPr wrap="square" anchor="ctr" anchorCtr="0">
            <a:spAutoFit/>
          </a:bodyPr>
          <a:lstStyle>
            <a:lvl1pPr marL="0" indent="0">
              <a:lnSpc>
                <a:spcPct val="100000"/>
              </a:lnSpc>
              <a:spcBef>
                <a:spcPts val="0"/>
              </a:spcBef>
              <a:buNone/>
              <a:defRPr sz="3200" b="1" i="0" baseline="0"/>
            </a:lvl1pPr>
          </a:lstStyle>
          <a:p>
            <a:pPr lvl="0"/>
            <a:r>
              <a:rPr lang="zh-CN" altLang="en-US"/>
              <a:t>单击此处编辑母版文本样式</a:t>
            </a:r>
            <a:endParaRPr lang="zh-CN" altLang="en-US"/>
          </a:p>
        </p:txBody>
      </p:sp>
      <p:sp>
        <p:nvSpPr>
          <p:cNvPr id="10" name="Content Placeholder 2"/>
          <p:cNvSpPr>
            <a:spLocks noGrp="1"/>
          </p:cNvSpPr>
          <p:nvPr>
            <p:ph idx="1"/>
          </p:nvPr>
        </p:nvSpPr>
        <p:spPr>
          <a:xfrm>
            <a:off x="838200" y="1289956"/>
            <a:ext cx="10515600" cy="4887007"/>
          </a:xfrm>
        </p:spPr>
        <p:txBody>
          <a:bodyPr/>
          <a:lstStyle>
            <a:lvl1pPr marL="228600" indent="-228600">
              <a:buFont typeface="Wingdings" panose="05000000000000000000" pitchFamily="2" charset="2"/>
              <a:buChar char="l"/>
              <a:defRPr/>
            </a:lvl1pPr>
            <a:lvl2pPr marL="685800" indent="-228600">
              <a:buFont typeface="Wingdings" panose="05000000000000000000" pitchFamily="2" charset="2"/>
              <a:buChar char="n"/>
              <a:defRPr/>
            </a:lvl2pPr>
            <a:lvl3pPr marL="1143000" indent="-228600">
              <a:buFont typeface="Wingdings" panose="05000000000000000000" pitchFamily="2" charset="2"/>
              <a:buChar char="u"/>
              <a:defRPr/>
            </a:lvl3pPr>
            <a:lvl4pPr marL="1600200" indent="-228600">
              <a:buFont typeface="Wingdings" panose="05000000000000000000" pitchFamily="2" charset="2"/>
              <a:buChar char="Ø"/>
              <a:defRPr/>
            </a:lvl4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
    <p:spTree>
      <p:nvGrpSpPr>
        <p:cNvPr id="1" name=""/>
        <p:cNvGrpSpPr/>
        <p:nvPr/>
      </p:nvGrpSpPr>
      <p:grpSpPr>
        <a:xfrm>
          <a:off x="0" y="0"/>
          <a:ext cx="0" cy="0"/>
          <a:chOff x="0" y="0"/>
          <a:chExt cx="0" cy="0"/>
        </a:xfrm>
      </p:grpSpPr>
      <p:grpSp>
        <p:nvGrpSpPr>
          <p:cNvPr id="6" name="组合 5"/>
          <p:cNvGrpSpPr/>
          <p:nvPr userDrawn="1"/>
        </p:nvGrpSpPr>
        <p:grpSpPr>
          <a:xfrm>
            <a:off x="0" y="2697654"/>
            <a:ext cx="12192000" cy="1462692"/>
            <a:chOff x="0" y="2878638"/>
            <a:chExt cx="9144000" cy="1034852"/>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2878638"/>
              <a:ext cx="9144000" cy="729343"/>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grpSp>
        <p:nvGrpSpPr>
          <p:cNvPr id="10" name="组合 9"/>
          <p:cNvGrpSpPr/>
          <p:nvPr userDrawn="1"/>
        </p:nvGrpSpPr>
        <p:grpSpPr>
          <a:xfrm>
            <a:off x="10934299" y="1892024"/>
            <a:ext cx="693020" cy="653562"/>
            <a:chOff x="10920675" y="2008140"/>
            <a:chExt cx="576000" cy="576000"/>
          </a:xfrm>
        </p:grpSpPr>
        <p:sp>
          <p:nvSpPr>
            <p:cNvPr id="11" name="矩形 10"/>
            <p:cNvSpPr/>
            <p:nvPr/>
          </p:nvSpPr>
          <p:spPr>
            <a:xfrm>
              <a:off x="11172675" y="2260140"/>
              <a:ext cx="324000" cy="324000"/>
            </a:xfrm>
            <a:prstGeom prst="rect">
              <a:avLst/>
            </a:prstGeom>
            <a:solidFill>
              <a:srgbClr val="8700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矩形 11"/>
            <p:cNvSpPr/>
            <p:nvPr/>
          </p:nvSpPr>
          <p:spPr>
            <a:xfrm>
              <a:off x="10920675" y="2008140"/>
              <a:ext cx="252000" cy="252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sp>
        <p:nvSpPr>
          <p:cNvPr id="14" name="Freeform 5"/>
          <p:cNvSpPr>
            <a:spLocks noEditPoints="1"/>
          </p:cNvSpPr>
          <p:nvPr userDrawn="1"/>
        </p:nvSpPr>
        <p:spPr bwMode="auto">
          <a:xfrm>
            <a:off x="11026467" y="2954360"/>
            <a:ext cx="600852" cy="516114"/>
          </a:xfrm>
          <a:custGeom>
            <a:avLst/>
            <a:gdLst>
              <a:gd name="T0" fmla="*/ 17 w 68"/>
              <a:gd name="T1" fmla="*/ 26 h 60"/>
              <a:gd name="T2" fmla="*/ 33 w 68"/>
              <a:gd name="T3" fmla="*/ 31 h 60"/>
              <a:gd name="T4" fmla="*/ 33 w 68"/>
              <a:gd name="T5" fmla="*/ 31 h 60"/>
              <a:gd name="T6" fmla="*/ 49 w 68"/>
              <a:gd name="T7" fmla="*/ 26 h 60"/>
              <a:gd name="T8" fmla="*/ 34 w 68"/>
              <a:gd name="T9" fmla="*/ 18 h 60"/>
              <a:gd name="T10" fmla="*/ 59 w 68"/>
              <a:gd name="T11" fmla="*/ 16 h 60"/>
              <a:gd name="T12" fmla="*/ 55 w 68"/>
              <a:gd name="T13" fmla="*/ 23 h 60"/>
              <a:gd name="T14" fmla="*/ 56 w 68"/>
              <a:gd name="T15" fmla="*/ 15 h 60"/>
              <a:gd name="T16" fmla="*/ 56 w 68"/>
              <a:gd name="T17" fmla="*/ 12 h 60"/>
              <a:gd name="T18" fmla="*/ 52 w 68"/>
              <a:gd name="T19" fmla="*/ 23 h 60"/>
              <a:gd name="T20" fmla="*/ 68 w 68"/>
              <a:gd name="T21" fmla="*/ 32 h 60"/>
              <a:gd name="T22" fmla="*/ 68 w 68"/>
              <a:gd name="T23" fmla="*/ 34 h 60"/>
              <a:gd name="T24" fmla="*/ 67 w 68"/>
              <a:gd name="T25" fmla="*/ 34 h 60"/>
              <a:gd name="T26" fmla="*/ 29 w 68"/>
              <a:gd name="T27" fmla="*/ 50 h 60"/>
              <a:gd name="T28" fmla="*/ 68 w 68"/>
              <a:gd name="T29" fmla="*/ 45 h 60"/>
              <a:gd name="T30" fmla="*/ 30 w 68"/>
              <a:gd name="T31" fmla="*/ 60 h 60"/>
              <a:gd name="T32" fmla="*/ 28 w 68"/>
              <a:gd name="T33" fmla="*/ 59 h 60"/>
              <a:gd name="T34" fmla="*/ 3 w 68"/>
              <a:gd name="T35" fmla="*/ 25 h 60"/>
              <a:gd name="T36" fmla="*/ 14 w 68"/>
              <a:gd name="T37" fmla="*/ 23 h 60"/>
              <a:gd name="T38" fmla="*/ 1 w 68"/>
              <a:gd name="T39" fmla="*/ 10 h 60"/>
              <a:gd name="T40" fmla="*/ 32 w 68"/>
              <a:gd name="T41" fmla="*/ 0 h 60"/>
              <a:gd name="T42" fmla="*/ 65 w 68"/>
              <a:gd name="T43" fmla="*/ 9 h 60"/>
              <a:gd name="T44" fmla="*/ 59 w 68"/>
              <a:gd name="T45" fmla="*/ 14 h 60"/>
              <a:gd name="T46" fmla="*/ 59 w 68"/>
              <a:gd name="T47" fmla="*/ 16 h 60"/>
              <a:gd name="T48" fmla="*/ 58 w 68"/>
              <a:gd name="T49" fmla="*/ 9 h 60"/>
              <a:gd name="T50" fmla="*/ 33 w 68"/>
              <a:gd name="T51" fmla="*/ 4 h 60"/>
              <a:gd name="T52" fmla="*/ 33 w 68"/>
              <a:gd name="T53" fmla="*/ 8 h 60"/>
              <a:gd name="T54" fmla="*/ 54 w 68"/>
              <a:gd name="T55" fmla="*/ 10 h 60"/>
              <a:gd name="T56" fmla="*/ 32 w 68"/>
              <a:gd name="T57" fmla="*/ 53 h 60"/>
              <a:gd name="T58" fmla="*/ 67 w 68"/>
              <a:gd name="T59" fmla="*/ 42 h 60"/>
              <a:gd name="T60" fmla="*/ 32 w 68"/>
              <a:gd name="T61" fmla="*/ 49 h 60"/>
              <a:gd name="T62" fmla="*/ 67 w 68"/>
              <a:gd name="T63" fmla="*/ 40 h 60"/>
              <a:gd name="T64" fmla="*/ 32 w 68"/>
              <a:gd name="T65" fmla="*/ 49 h 60"/>
              <a:gd name="T66" fmla="*/ 32 w 68"/>
              <a:gd name="T67" fmla="*/ 47 h 60"/>
              <a:gd name="T68" fmla="*/ 67 w 68"/>
              <a:gd name="T69" fmla="*/ 3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8" h="60">
                <a:moveTo>
                  <a:pt x="17" y="14"/>
                </a:moveTo>
                <a:cubicBezTo>
                  <a:pt x="17" y="26"/>
                  <a:pt x="17" y="26"/>
                  <a:pt x="17" y="26"/>
                </a:cubicBezTo>
                <a:cubicBezTo>
                  <a:pt x="17" y="26"/>
                  <a:pt x="18" y="27"/>
                  <a:pt x="18" y="27"/>
                </a:cubicBezTo>
                <a:cubicBezTo>
                  <a:pt x="22" y="28"/>
                  <a:pt x="29" y="31"/>
                  <a:pt x="33" y="31"/>
                </a:cubicBezTo>
                <a:cubicBezTo>
                  <a:pt x="33" y="31"/>
                  <a:pt x="33" y="31"/>
                  <a:pt x="33" y="31"/>
                </a:cubicBezTo>
                <a:cubicBezTo>
                  <a:pt x="33" y="31"/>
                  <a:pt x="33" y="31"/>
                  <a:pt x="33" y="31"/>
                </a:cubicBezTo>
                <a:cubicBezTo>
                  <a:pt x="36" y="31"/>
                  <a:pt x="39" y="30"/>
                  <a:pt x="41" y="30"/>
                </a:cubicBezTo>
                <a:cubicBezTo>
                  <a:pt x="45" y="29"/>
                  <a:pt x="47" y="27"/>
                  <a:pt x="49" y="26"/>
                </a:cubicBezTo>
                <a:cubicBezTo>
                  <a:pt x="49" y="14"/>
                  <a:pt x="49" y="14"/>
                  <a:pt x="49" y="14"/>
                </a:cubicBezTo>
                <a:cubicBezTo>
                  <a:pt x="34" y="18"/>
                  <a:pt x="34" y="18"/>
                  <a:pt x="34" y="18"/>
                </a:cubicBezTo>
                <a:cubicBezTo>
                  <a:pt x="17" y="14"/>
                  <a:pt x="17" y="14"/>
                  <a:pt x="17" y="14"/>
                </a:cubicBezTo>
                <a:close/>
                <a:moveTo>
                  <a:pt x="59" y="16"/>
                </a:moveTo>
                <a:cubicBezTo>
                  <a:pt x="61" y="23"/>
                  <a:pt x="61" y="23"/>
                  <a:pt x="61" y="23"/>
                </a:cubicBezTo>
                <a:cubicBezTo>
                  <a:pt x="59" y="25"/>
                  <a:pt x="57" y="25"/>
                  <a:pt x="55" y="23"/>
                </a:cubicBezTo>
                <a:cubicBezTo>
                  <a:pt x="56" y="16"/>
                  <a:pt x="56" y="16"/>
                  <a:pt x="56" y="16"/>
                </a:cubicBezTo>
                <a:cubicBezTo>
                  <a:pt x="56" y="16"/>
                  <a:pt x="56" y="16"/>
                  <a:pt x="56" y="15"/>
                </a:cubicBezTo>
                <a:cubicBezTo>
                  <a:pt x="56" y="15"/>
                  <a:pt x="56" y="14"/>
                  <a:pt x="56" y="14"/>
                </a:cubicBezTo>
                <a:cubicBezTo>
                  <a:pt x="56" y="12"/>
                  <a:pt x="56" y="12"/>
                  <a:pt x="56" y="12"/>
                </a:cubicBezTo>
                <a:cubicBezTo>
                  <a:pt x="52" y="13"/>
                  <a:pt x="52" y="13"/>
                  <a:pt x="52" y="13"/>
                </a:cubicBezTo>
                <a:cubicBezTo>
                  <a:pt x="52" y="23"/>
                  <a:pt x="52" y="23"/>
                  <a:pt x="52" y="23"/>
                </a:cubicBezTo>
                <a:cubicBezTo>
                  <a:pt x="68" y="30"/>
                  <a:pt x="68" y="30"/>
                  <a:pt x="68" y="30"/>
                </a:cubicBezTo>
                <a:cubicBezTo>
                  <a:pt x="68" y="32"/>
                  <a:pt x="68" y="32"/>
                  <a:pt x="68" y="32"/>
                </a:cubicBezTo>
                <a:cubicBezTo>
                  <a:pt x="68" y="34"/>
                  <a:pt x="68" y="34"/>
                  <a:pt x="68" y="34"/>
                </a:cubicBezTo>
                <a:cubicBezTo>
                  <a:pt x="68" y="34"/>
                  <a:pt x="68" y="34"/>
                  <a:pt x="68" y="34"/>
                </a:cubicBezTo>
                <a:cubicBezTo>
                  <a:pt x="68" y="34"/>
                  <a:pt x="68" y="34"/>
                  <a:pt x="68" y="34"/>
                </a:cubicBezTo>
                <a:cubicBezTo>
                  <a:pt x="67" y="34"/>
                  <a:pt x="67" y="34"/>
                  <a:pt x="67" y="34"/>
                </a:cubicBezTo>
                <a:cubicBezTo>
                  <a:pt x="30" y="44"/>
                  <a:pt x="30" y="44"/>
                  <a:pt x="30" y="44"/>
                </a:cubicBezTo>
                <a:cubicBezTo>
                  <a:pt x="29" y="46"/>
                  <a:pt x="29" y="48"/>
                  <a:pt x="29" y="50"/>
                </a:cubicBezTo>
                <a:cubicBezTo>
                  <a:pt x="29" y="52"/>
                  <a:pt x="29" y="54"/>
                  <a:pt x="30" y="56"/>
                </a:cubicBezTo>
                <a:cubicBezTo>
                  <a:pt x="68" y="45"/>
                  <a:pt x="68" y="45"/>
                  <a:pt x="68" y="45"/>
                </a:cubicBezTo>
                <a:cubicBezTo>
                  <a:pt x="68" y="48"/>
                  <a:pt x="68" y="48"/>
                  <a:pt x="68" y="48"/>
                </a:cubicBezTo>
                <a:cubicBezTo>
                  <a:pt x="30" y="60"/>
                  <a:pt x="30" y="60"/>
                  <a:pt x="30" y="60"/>
                </a:cubicBezTo>
                <a:cubicBezTo>
                  <a:pt x="29" y="60"/>
                  <a:pt x="29" y="60"/>
                  <a:pt x="29" y="60"/>
                </a:cubicBezTo>
                <a:cubicBezTo>
                  <a:pt x="28" y="59"/>
                  <a:pt x="28" y="59"/>
                  <a:pt x="28" y="59"/>
                </a:cubicBezTo>
                <a:cubicBezTo>
                  <a:pt x="3" y="38"/>
                  <a:pt x="3" y="38"/>
                  <a:pt x="3" y="38"/>
                </a:cubicBezTo>
                <a:cubicBezTo>
                  <a:pt x="2" y="34"/>
                  <a:pt x="1" y="30"/>
                  <a:pt x="3" y="25"/>
                </a:cubicBezTo>
                <a:cubicBezTo>
                  <a:pt x="3" y="25"/>
                  <a:pt x="3" y="25"/>
                  <a:pt x="3" y="25"/>
                </a:cubicBezTo>
                <a:cubicBezTo>
                  <a:pt x="14" y="23"/>
                  <a:pt x="14" y="23"/>
                  <a:pt x="14" y="23"/>
                </a:cubicBezTo>
                <a:cubicBezTo>
                  <a:pt x="14" y="13"/>
                  <a:pt x="14" y="13"/>
                  <a:pt x="14" y="13"/>
                </a:cubicBezTo>
                <a:cubicBezTo>
                  <a:pt x="1" y="10"/>
                  <a:pt x="1" y="10"/>
                  <a:pt x="1" y="10"/>
                </a:cubicBezTo>
                <a:cubicBezTo>
                  <a:pt x="0" y="8"/>
                  <a:pt x="0" y="8"/>
                  <a:pt x="0" y="8"/>
                </a:cubicBezTo>
                <a:cubicBezTo>
                  <a:pt x="32" y="0"/>
                  <a:pt x="32" y="0"/>
                  <a:pt x="32" y="0"/>
                </a:cubicBezTo>
                <a:cubicBezTo>
                  <a:pt x="65" y="7"/>
                  <a:pt x="65" y="7"/>
                  <a:pt x="65" y="7"/>
                </a:cubicBezTo>
                <a:cubicBezTo>
                  <a:pt x="65" y="9"/>
                  <a:pt x="65" y="9"/>
                  <a:pt x="65" y="9"/>
                </a:cubicBezTo>
                <a:cubicBezTo>
                  <a:pt x="59" y="11"/>
                  <a:pt x="59" y="11"/>
                  <a:pt x="59" y="11"/>
                </a:cubicBezTo>
                <a:cubicBezTo>
                  <a:pt x="59" y="14"/>
                  <a:pt x="59" y="14"/>
                  <a:pt x="59" y="14"/>
                </a:cubicBezTo>
                <a:cubicBezTo>
                  <a:pt x="59" y="14"/>
                  <a:pt x="59" y="15"/>
                  <a:pt x="59" y="15"/>
                </a:cubicBezTo>
                <a:cubicBezTo>
                  <a:pt x="59" y="16"/>
                  <a:pt x="59" y="16"/>
                  <a:pt x="59" y="16"/>
                </a:cubicBezTo>
                <a:close/>
                <a:moveTo>
                  <a:pt x="54" y="10"/>
                </a:moveTo>
                <a:cubicBezTo>
                  <a:pt x="58" y="9"/>
                  <a:pt x="58" y="9"/>
                  <a:pt x="58" y="9"/>
                </a:cubicBezTo>
                <a:cubicBezTo>
                  <a:pt x="36" y="5"/>
                  <a:pt x="36" y="5"/>
                  <a:pt x="36" y="5"/>
                </a:cubicBezTo>
                <a:cubicBezTo>
                  <a:pt x="36" y="4"/>
                  <a:pt x="34" y="4"/>
                  <a:pt x="33" y="4"/>
                </a:cubicBezTo>
                <a:cubicBezTo>
                  <a:pt x="31" y="4"/>
                  <a:pt x="29" y="5"/>
                  <a:pt x="29" y="6"/>
                </a:cubicBezTo>
                <a:cubicBezTo>
                  <a:pt x="29" y="7"/>
                  <a:pt x="31" y="8"/>
                  <a:pt x="33" y="8"/>
                </a:cubicBezTo>
                <a:cubicBezTo>
                  <a:pt x="34" y="8"/>
                  <a:pt x="35" y="8"/>
                  <a:pt x="36" y="7"/>
                </a:cubicBezTo>
                <a:cubicBezTo>
                  <a:pt x="54" y="10"/>
                  <a:pt x="54" y="10"/>
                  <a:pt x="54" y="10"/>
                </a:cubicBezTo>
                <a:close/>
                <a:moveTo>
                  <a:pt x="32" y="52"/>
                </a:moveTo>
                <a:cubicBezTo>
                  <a:pt x="32" y="53"/>
                  <a:pt x="32" y="53"/>
                  <a:pt x="32" y="53"/>
                </a:cubicBezTo>
                <a:cubicBezTo>
                  <a:pt x="67" y="43"/>
                  <a:pt x="67" y="43"/>
                  <a:pt x="67" y="43"/>
                </a:cubicBezTo>
                <a:cubicBezTo>
                  <a:pt x="67" y="42"/>
                  <a:pt x="67" y="42"/>
                  <a:pt x="67" y="42"/>
                </a:cubicBezTo>
                <a:cubicBezTo>
                  <a:pt x="32" y="52"/>
                  <a:pt x="32" y="52"/>
                  <a:pt x="32" y="52"/>
                </a:cubicBezTo>
                <a:close/>
                <a:moveTo>
                  <a:pt x="32" y="49"/>
                </a:moveTo>
                <a:cubicBezTo>
                  <a:pt x="32" y="49"/>
                  <a:pt x="32" y="49"/>
                  <a:pt x="32" y="49"/>
                </a:cubicBezTo>
                <a:cubicBezTo>
                  <a:pt x="67" y="40"/>
                  <a:pt x="67" y="40"/>
                  <a:pt x="67" y="40"/>
                </a:cubicBezTo>
                <a:cubicBezTo>
                  <a:pt x="67" y="39"/>
                  <a:pt x="67" y="39"/>
                  <a:pt x="67" y="39"/>
                </a:cubicBezTo>
                <a:cubicBezTo>
                  <a:pt x="32" y="49"/>
                  <a:pt x="32" y="49"/>
                  <a:pt x="32" y="49"/>
                </a:cubicBezTo>
                <a:close/>
                <a:moveTo>
                  <a:pt x="31" y="46"/>
                </a:moveTo>
                <a:cubicBezTo>
                  <a:pt x="32" y="47"/>
                  <a:pt x="32" y="47"/>
                  <a:pt x="32" y="47"/>
                </a:cubicBezTo>
                <a:cubicBezTo>
                  <a:pt x="67" y="37"/>
                  <a:pt x="67" y="37"/>
                  <a:pt x="67" y="37"/>
                </a:cubicBezTo>
                <a:cubicBezTo>
                  <a:pt x="67" y="36"/>
                  <a:pt x="67" y="36"/>
                  <a:pt x="67" y="36"/>
                </a:cubicBezTo>
                <a:lnTo>
                  <a:pt x="31" y="46"/>
                </a:lnTo>
                <a:close/>
              </a:path>
            </a:pathLst>
          </a:custGeom>
          <a:solidFill>
            <a:schemeClr val="bg1"/>
          </a:solidFill>
          <a:ln>
            <a:noFill/>
          </a:ln>
        </p:spPr>
        <p:txBody>
          <a:bodyPr vert="horz" wrap="square" lIns="68580" tIns="34290" rIns="68580" bIns="34290" numCol="1" anchor="t" anchorCtr="0" compatLnSpc="1"/>
          <a:lstStyle/>
          <a:p>
            <a:endParaRPr lang="zh-CN" altLang="en-US" sz="1350"/>
          </a:p>
        </p:txBody>
      </p:sp>
      <p:pic>
        <p:nvPicPr>
          <p:cNvPr id="15" name="图片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1362" y="2429346"/>
            <a:ext cx="1596121" cy="1999307"/>
          </a:xfrm>
          <a:prstGeom prst="rect">
            <a:avLst/>
          </a:prstGeom>
        </p:spPr>
      </p:pic>
      <p:sp>
        <p:nvSpPr>
          <p:cNvPr id="20" name="文本占位符 19"/>
          <p:cNvSpPr>
            <a:spLocks noGrp="1"/>
          </p:cNvSpPr>
          <p:nvPr>
            <p:ph type="body" sz="quarter" idx="10"/>
          </p:nvPr>
        </p:nvSpPr>
        <p:spPr>
          <a:xfrm>
            <a:off x="2587484" y="2695225"/>
            <a:ext cx="8438981" cy="1030876"/>
          </a:xfrm>
        </p:spPr>
        <p:txBody>
          <a:bodyPr anchor="ctr"/>
          <a:lstStyle>
            <a:lvl1pPr marL="0" indent="0" algn="ctr">
              <a:lnSpc>
                <a:spcPct val="100000"/>
              </a:lnSpc>
              <a:spcBef>
                <a:spcPts val="0"/>
              </a:spcBef>
              <a:buNone/>
              <a:defRPr b="1" i="0" baseline="0">
                <a:solidFill>
                  <a:schemeClr val="bg1"/>
                </a:solidFill>
              </a:defRPr>
            </a:lvl1pPr>
          </a:lstStyle>
          <a:p>
            <a:pPr lvl="0"/>
            <a:r>
              <a:rPr lang="zh-CN" altLang="en-US"/>
              <a:t>单击此处编辑母版文本样式</a:t>
            </a:r>
            <a:endParaRPr lang="zh-CN" altLang="en-US"/>
          </a:p>
        </p:txBody>
      </p:sp>
      <p:sp>
        <p:nvSpPr>
          <p:cNvPr id="21" name="文本占位符 19"/>
          <p:cNvSpPr>
            <a:spLocks noGrp="1"/>
          </p:cNvSpPr>
          <p:nvPr>
            <p:ph type="body" sz="quarter" idx="11"/>
          </p:nvPr>
        </p:nvSpPr>
        <p:spPr>
          <a:xfrm>
            <a:off x="2587484" y="3738042"/>
            <a:ext cx="8438981" cy="422304"/>
          </a:xfrm>
        </p:spPr>
        <p:txBody>
          <a:bodyPr anchor="ctr">
            <a:normAutofit/>
          </a:bodyPr>
          <a:lstStyle>
            <a:lvl1pPr marL="0" indent="0" algn="ctr">
              <a:lnSpc>
                <a:spcPct val="100000"/>
              </a:lnSpc>
              <a:spcBef>
                <a:spcPts val="0"/>
              </a:spcBef>
              <a:buNone/>
              <a:defRPr sz="1800" baseline="0">
                <a:solidFill>
                  <a:schemeClr val="bg1"/>
                </a:solidFill>
              </a:defRPr>
            </a:lvl1pPr>
          </a:lstStyle>
          <a:p>
            <a:pPr lvl="0"/>
            <a:r>
              <a:rPr lang="zh-CN" altLang="en-US"/>
              <a:t>单击此处编辑母版文本样式</a:t>
            </a:r>
            <a:endParaRPr lang="zh-CN" altLang="en-US"/>
          </a:p>
        </p:txBody>
      </p:sp>
      <p:sp>
        <p:nvSpPr>
          <p:cNvPr id="23" name="文本占位符 22"/>
          <p:cNvSpPr>
            <a:spLocks noGrp="1"/>
          </p:cNvSpPr>
          <p:nvPr>
            <p:ph type="body" sz="quarter" idx="12"/>
          </p:nvPr>
        </p:nvSpPr>
        <p:spPr>
          <a:xfrm>
            <a:off x="6658709" y="4846566"/>
            <a:ext cx="5148903" cy="914400"/>
          </a:xfrm>
        </p:spPr>
        <p:txBody>
          <a:bodyPr>
            <a:normAutofit/>
          </a:bodyPr>
          <a:lstStyle>
            <a:lvl1pPr marL="0" indent="0" algn="r">
              <a:lnSpc>
                <a:spcPct val="100000"/>
              </a:lnSpc>
              <a:spcBef>
                <a:spcPts val="0"/>
              </a:spcBef>
              <a:buNone/>
              <a:defRPr sz="1800"/>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sp>
        <p:nvSpPr>
          <p:cNvPr id="7" name="矩形 6"/>
          <p:cNvSpPr/>
          <p:nvPr userDrawn="1"/>
        </p:nvSpPr>
        <p:spPr>
          <a:xfrm>
            <a:off x="0" y="0"/>
            <a:ext cx="3216275" cy="6858000"/>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文本框 7"/>
          <p:cNvSpPr txBox="1"/>
          <p:nvPr userDrawn="1"/>
        </p:nvSpPr>
        <p:spPr>
          <a:xfrm>
            <a:off x="0" y="3152001"/>
            <a:ext cx="3216275" cy="553998"/>
          </a:xfrm>
          <a:prstGeom prst="rect">
            <a:avLst/>
          </a:prstGeom>
          <a:noFill/>
        </p:spPr>
        <p:txBody>
          <a:bodyPr wrap="square" rtlCol="0">
            <a:spAutoFit/>
          </a:bodyPr>
          <a:lstStyle/>
          <a:p>
            <a:pPr algn="r"/>
            <a:r>
              <a:rPr lang="en-US" altLang="zh-CN" sz="3000" b="1" dirty="0">
                <a:solidFill>
                  <a:schemeClr val="bg1"/>
                </a:solidFill>
                <a:cs typeface="Times New Roman" panose="02020603050405020304" pitchFamily="18" charset="0"/>
              </a:rPr>
              <a:t>CONTENTS</a:t>
            </a:r>
            <a:endParaRPr lang="zh-CN" altLang="en-US" sz="3000" b="1" dirty="0">
              <a:solidFill>
                <a:schemeClr val="bg1"/>
              </a:solidFill>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致谢">
    <p:spTree>
      <p:nvGrpSpPr>
        <p:cNvPr id="1" name=""/>
        <p:cNvGrpSpPr/>
        <p:nvPr/>
      </p:nvGrpSpPr>
      <p:grpSpPr>
        <a:xfrm>
          <a:off x="0" y="0"/>
          <a:ext cx="0" cy="0"/>
          <a:chOff x="0" y="0"/>
          <a:chExt cx="0" cy="0"/>
        </a:xfrm>
      </p:grpSpPr>
      <p:grpSp>
        <p:nvGrpSpPr>
          <p:cNvPr id="6" name="组合 5"/>
          <p:cNvGrpSpPr/>
          <p:nvPr userDrawn="1"/>
        </p:nvGrpSpPr>
        <p:grpSpPr>
          <a:xfrm>
            <a:off x="0" y="851038"/>
            <a:ext cx="12192000" cy="875445"/>
            <a:chOff x="0" y="3019996"/>
            <a:chExt cx="9144000" cy="893494"/>
          </a:xfrm>
        </p:grpSpPr>
        <p:sp>
          <p:nvSpPr>
            <p:cNvPr id="7" name="矩形 6"/>
            <p:cNvSpPr/>
            <p:nvPr/>
          </p:nvSpPr>
          <p:spPr>
            <a:xfrm>
              <a:off x="0" y="3607982"/>
              <a:ext cx="9144000" cy="305508"/>
            </a:xfrm>
            <a:prstGeom prst="rect">
              <a:avLst/>
            </a:prstGeom>
            <a:solidFill>
              <a:srgbClr val="453D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nvSpPr>
          <p:spPr>
            <a:xfrm>
              <a:off x="0" y="3019996"/>
              <a:ext cx="9144000" cy="587986"/>
            </a:xfrm>
            <a:prstGeom prst="rect">
              <a:avLst/>
            </a:prstGeom>
            <a:solidFill>
              <a:srgbClr val="6A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23829" y="629102"/>
            <a:ext cx="1051611" cy="1321787"/>
          </a:xfrm>
          <a:prstGeom prst="rect">
            <a:avLst/>
          </a:prstGeom>
        </p:spPr>
      </p:pic>
      <p:sp>
        <p:nvSpPr>
          <p:cNvPr id="13" name="文本框 12"/>
          <p:cNvSpPr txBox="1"/>
          <p:nvPr userDrawn="1"/>
        </p:nvSpPr>
        <p:spPr>
          <a:xfrm>
            <a:off x="4054413" y="2828835"/>
            <a:ext cx="4083169" cy="1200329"/>
          </a:xfrm>
          <a:prstGeom prst="rect">
            <a:avLst/>
          </a:prstGeom>
          <a:noFill/>
        </p:spPr>
        <p:txBody>
          <a:bodyPr wrap="none" rtlCol="0">
            <a:spAutoFit/>
          </a:bodyPr>
          <a:lstStyle/>
          <a:p>
            <a:r>
              <a:rPr lang="en-US" altLang="zh-CN" sz="7200" b="1" dirty="0">
                <a:solidFill>
                  <a:srgbClr val="6A005F"/>
                </a:solidFill>
              </a:rPr>
              <a:t>THANKS</a:t>
            </a:r>
            <a:endParaRPr lang="zh-CN" altLang="en-US" sz="7200" b="1" dirty="0">
              <a:solidFill>
                <a:srgbClr val="6A005F"/>
              </a:solidFill>
            </a:endParaRPr>
          </a:p>
        </p:txBody>
      </p:sp>
      <p:pic>
        <p:nvPicPr>
          <p:cNvPr id="14" name="图片 1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341617" y="6006962"/>
            <a:ext cx="1508760" cy="477982"/>
          </a:xfrm>
          <a:prstGeom prst="rect">
            <a:avLst/>
          </a:prstGeom>
        </p:spPr>
      </p:pic>
      <p:sp>
        <p:nvSpPr>
          <p:cNvPr id="17" name="文本占位符 16"/>
          <p:cNvSpPr>
            <a:spLocks noGrp="1"/>
          </p:cNvSpPr>
          <p:nvPr>
            <p:ph type="body" sz="quarter" idx="10"/>
          </p:nvPr>
        </p:nvSpPr>
        <p:spPr>
          <a:xfrm>
            <a:off x="1875440" y="851037"/>
            <a:ext cx="9844611" cy="576108"/>
          </a:xfrm>
        </p:spPr>
        <p:txBody>
          <a:bodyPr anchor="ctr">
            <a:normAutofit/>
          </a:bodyPr>
          <a:lstStyle>
            <a:lvl1pPr marL="0" indent="0" algn="ctr">
              <a:lnSpc>
                <a:spcPct val="100000"/>
              </a:lnSpc>
              <a:spcBef>
                <a:spcPts val="0"/>
              </a:spcBef>
              <a:buNone/>
              <a:defRPr sz="2000" b="1" i="0" baseline="0">
                <a:solidFill>
                  <a:schemeClr val="bg1"/>
                </a:solidFill>
              </a:defRPr>
            </a:lvl1pPr>
          </a:lstStyle>
          <a:p>
            <a:pPr lvl="0"/>
            <a:r>
              <a:rPr lang="zh-CN" altLang="en-US"/>
              <a:t>单击此处编辑母版文本样式</a:t>
            </a:r>
            <a:endParaRPr lang="zh-CN" altLang="en-US"/>
          </a:p>
        </p:txBody>
      </p:sp>
      <p:sp>
        <p:nvSpPr>
          <p:cNvPr id="18" name="文本占位符 16"/>
          <p:cNvSpPr>
            <a:spLocks noGrp="1"/>
          </p:cNvSpPr>
          <p:nvPr>
            <p:ph type="body" sz="quarter" idx="11"/>
          </p:nvPr>
        </p:nvSpPr>
        <p:spPr>
          <a:xfrm>
            <a:off x="1875440" y="1427146"/>
            <a:ext cx="9844611" cy="299337"/>
          </a:xfrm>
        </p:spPr>
        <p:txBody>
          <a:bodyPr anchor="ctr">
            <a:noAutofit/>
          </a:bodyPr>
          <a:lstStyle>
            <a:lvl1pPr marL="0" indent="0" algn="ctr">
              <a:lnSpc>
                <a:spcPct val="100000"/>
              </a:lnSpc>
              <a:spcBef>
                <a:spcPts val="0"/>
              </a:spcBef>
              <a:buNone/>
              <a:defRPr sz="1600" b="0" i="0" baseline="0">
                <a:solidFill>
                  <a:schemeClr val="bg1"/>
                </a:solidFill>
              </a:defRPr>
            </a:lvl1pPr>
          </a:lstStyle>
          <a:p>
            <a:pPr lvl="0"/>
            <a:r>
              <a:rPr lang="zh-CN" altLang="en-US"/>
              <a:t>单击此处编辑母版文本样式</a:t>
            </a:r>
            <a:endParaRPr lang="zh-CN" altLang="en-US"/>
          </a:p>
        </p:txBody>
      </p:sp>
      <p:sp>
        <p:nvSpPr>
          <p:cNvPr id="20" name="文本占位符 19"/>
          <p:cNvSpPr>
            <a:spLocks noGrp="1"/>
          </p:cNvSpPr>
          <p:nvPr>
            <p:ph type="body" sz="quarter" idx="12"/>
          </p:nvPr>
        </p:nvSpPr>
        <p:spPr>
          <a:xfrm>
            <a:off x="3373886" y="4589847"/>
            <a:ext cx="5444225" cy="1083341"/>
          </a:xfrm>
        </p:spPr>
        <p:txBody>
          <a:bodyPr>
            <a:normAutofit/>
          </a:bodyPr>
          <a:lstStyle>
            <a:lvl1pPr marL="0" indent="0">
              <a:lnSpc>
                <a:spcPct val="100000"/>
              </a:lnSpc>
              <a:spcBef>
                <a:spcPts val="0"/>
              </a:spcBef>
              <a:buNone/>
              <a:defRPr sz="1600">
                <a:solidFill>
                  <a:srgbClr val="6A005F"/>
                </a:solidFill>
              </a:defRPr>
            </a:lvl1pPr>
          </a:lstStyle>
          <a:p>
            <a:pPr lvl="0"/>
            <a:r>
              <a:rPr lang="zh-CN" altLang="en-US"/>
              <a:t>单击此处编辑母版文本样式</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CACE84-866A-C549-9C7F-F20C55C69120}" type="datetime1">
              <a:rPr lang="zh-CN" altLang="en-US" smtClean="0"/>
            </a:fld>
            <a:endParaRPr lang="zh-CN" alt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ltLang="zh-CN"/>
              <a:t>Dong Shao</a:t>
            </a:r>
            <a:endParaRPr lang="zh-CN" altLang="en-US"/>
          </a:p>
        </p:txBody>
      </p:sp>
      <p:sp>
        <p:nvSpPr>
          <p:cNvPr id="6"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D91E7F-84B6-4064-9D4E-CC7D244BCA0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4="http://schemas.microsoft.com/office/powerpoint/2010/main" Requires="p14">
      <p:transition p14:dur="150">
        <p:fade/>
      </p:transition>
    </mc:Choice>
    <mc:Fallback>
      <p:transition>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1.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tif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1.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3.tif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5.png"/><Relationship Id="rId1" Type="http://schemas.openxmlformats.org/officeDocument/2006/relationships/image" Target="../media/image1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18.png"/><Relationship Id="rId1" Type="http://schemas.openxmlformats.org/officeDocument/2006/relationships/image" Target="../media/image1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2.png"/></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5.pn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6.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8.png"/><Relationship Id="rId1" Type="http://schemas.openxmlformats.org/officeDocument/2006/relationships/image" Target="../media/image27.png"/></Relationships>
</file>

<file path=ppt/slides/_rels/slide73.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9.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0.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t>Scrum</a:t>
            </a:r>
            <a:endParaRPr lang="zh-CN" altLang="en-US" dirty="0"/>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en-US" altLang="zh-CN" dirty="0"/>
              <a:t>Scrum</a:t>
            </a:r>
            <a:r>
              <a:rPr lang="zh-CN" altLang="en-US" dirty="0"/>
              <a:t>框架的全球企业应用现状</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背景：全面 </a:t>
            </a:r>
            <a:r>
              <a:rPr kumimoji="1" lang="en-US" altLang="zh-CN" dirty="0"/>
              <a:t>VUCA</a:t>
            </a:r>
            <a:r>
              <a:rPr kumimoji="1" lang="zh-CN" altLang="en-US" dirty="0"/>
              <a:t>（易变、不确定、复杂、模糊）时代</a:t>
            </a:r>
            <a:endParaRPr kumimoji="1" lang="en-US" altLang="zh-CN" dirty="0"/>
          </a:p>
          <a:p>
            <a:r>
              <a:rPr kumimoji="1" lang="zh-CN" altLang="en-US" dirty="0"/>
              <a:t>行业渗透：华为、腾讯、</a:t>
            </a:r>
            <a:r>
              <a:rPr kumimoji="1" lang="en-US" altLang="zh-CN" dirty="0"/>
              <a:t>Google</a:t>
            </a:r>
            <a:r>
              <a:rPr kumimoji="1" lang="zh-CN" altLang="en-US" dirty="0"/>
              <a:t>、</a:t>
            </a:r>
            <a:r>
              <a:rPr kumimoji="1" lang="en-US" altLang="zh-CN" dirty="0"/>
              <a:t>Amazon</a:t>
            </a:r>
            <a:r>
              <a:rPr kumimoji="1" lang="zh-CN" altLang="en-US" dirty="0"/>
              <a:t>、</a:t>
            </a:r>
            <a:r>
              <a:rPr kumimoji="1" lang="en-US" altLang="zh-CN" dirty="0"/>
              <a:t>SAP</a:t>
            </a:r>
            <a:r>
              <a:rPr kumimoji="1" lang="zh-CN" altLang="en-US" dirty="0"/>
              <a:t>等科技</a:t>
            </a:r>
            <a:r>
              <a:rPr kumimoji="1" lang="en-US" altLang="zh-CN" dirty="0"/>
              <a:t>/</a:t>
            </a:r>
            <a:r>
              <a:rPr kumimoji="1" lang="zh-CN" altLang="en-US" dirty="0"/>
              <a:t>制造</a:t>
            </a:r>
            <a:r>
              <a:rPr kumimoji="1" lang="en-US" altLang="zh-CN" dirty="0"/>
              <a:t>/</a:t>
            </a:r>
            <a:r>
              <a:rPr kumimoji="1" lang="zh-CN" altLang="en-US" dirty="0"/>
              <a:t>金融领域头部企业</a:t>
            </a:r>
            <a:endParaRPr kumimoji="1" lang="zh-CN" altLang="en-US" dirty="0"/>
          </a:p>
          <a:p>
            <a:r>
              <a:rPr kumimoji="1" lang="zh-CN" altLang="en-US" dirty="0"/>
              <a:t>例子</a:t>
            </a:r>
            <a:endParaRPr kumimoji="1" lang="zh-CN" altLang="en-US" dirty="0"/>
          </a:p>
          <a:p>
            <a:pPr lvl="1"/>
            <a:r>
              <a:rPr kumimoji="1" lang="zh-CN" altLang="en-US" dirty="0"/>
              <a:t>美国银行用</a:t>
            </a:r>
            <a:r>
              <a:rPr kumimoji="1" lang="en-US" altLang="zh-CN" dirty="0"/>
              <a:t>Scrum</a:t>
            </a:r>
            <a:r>
              <a:rPr kumimoji="1" lang="zh-CN" altLang="en-US" dirty="0"/>
              <a:t>重组信用卡系统开发，原本需要半年的审批流程压缩到</a:t>
            </a:r>
            <a:r>
              <a:rPr kumimoji="1" lang="en-US" altLang="zh-CN" dirty="0"/>
              <a:t>3</a:t>
            </a:r>
            <a:r>
              <a:rPr kumimoji="1" lang="zh-CN" altLang="en-US" dirty="0"/>
              <a:t>周。</a:t>
            </a:r>
            <a:endParaRPr kumimoji="1" lang="zh-CN" altLang="en-US" dirty="0"/>
          </a:p>
          <a:p>
            <a:pPr lvl="1"/>
            <a:r>
              <a:rPr kumimoji="1" lang="zh-CN" altLang="en-US" dirty="0"/>
              <a:t>西门子医疗在</a:t>
            </a:r>
            <a:r>
              <a:rPr kumimoji="1" lang="en-US" altLang="zh-CN" dirty="0"/>
              <a:t>CT</a:t>
            </a:r>
            <a:r>
              <a:rPr kumimoji="1" lang="zh-CN" altLang="en-US" dirty="0"/>
              <a:t>机研发中，用</a:t>
            </a:r>
            <a:r>
              <a:rPr kumimoji="1" lang="en-US" altLang="zh-CN" dirty="0"/>
              <a:t>Scrum</a:t>
            </a:r>
            <a:r>
              <a:rPr kumimoji="1" lang="zh-CN" altLang="en-US" dirty="0"/>
              <a:t>协调德国工程师和上海工厂，通过两周一次的</a:t>
            </a:r>
            <a:r>
              <a:rPr kumimoji="1" lang="en-US" altLang="zh-CN" dirty="0"/>
              <a:t>"</a:t>
            </a:r>
            <a:r>
              <a:rPr kumimoji="1" lang="zh-CN" altLang="en-US" dirty="0"/>
              <a:t>冲刺评审会</a:t>
            </a:r>
            <a:r>
              <a:rPr kumimoji="1" lang="en-US" altLang="zh-CN" dirty="0"/>
              <a:t>"</a:t>
            </a:r>
            <a:r>
              <a:rPr kumimoji="1" lang="zh-CN" altLang="en-US" dirty="0"/>
              <a:t>，把设计到量产的周期缩短</a:t>
            </a:r>
            <a:r>
              <a:rPr kumimoji="1" lang="en-US" altLang="zh-CN" dirty="0"/>
              <a:t>40%</a:t>
            </a:r>
            <a:r>
              <a:rPr kumimoji="1" lang="zh-CN" altLang="en-US" dirty="0"/>
              <a:t>。</a:t>
            </a:r>
            <a:endParaRPr kumimoji="1" lang="zh-CN" altLang="en-US" dirty="0"/>
          </a:p>
          <a:p>
            <a:pPr lvl="1"/>
            <a:r>
              <a:rPr kumimoji="1" lang="en-US" altLang="zh-CN" dirty="0"/>
              <a:t>(</a:t>
            </a:r>
            <a:r>
              <a:rPr kumimoji="1" lang="zh-CN" altLang="en-US" dirty="0"/>
              <a:t>几乎所有互联网企业）</a:t>
            </a:r>
            <a:r>
              <a:rPr kumimoji="1" lang="en-US" altLang="zh-CN" dirty="0"/>
              <a:t>…</a:t>
            </a:r>
            <a:endParaRPr kumimoji="1" lang="en-US" altLang="zh-CN"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en-US" altLang="zh-CN" dirty="0"/>
              <a:t>Scrum</a:t>
            </a:r>
            <a:r>
              <a:rPr lang="zh-CN" altLang="en-US" dirty="0"/>
              <a:t>方法论演进历程</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zh-CN" altLang="en-US" dirty="0"/>
              <a:t>概念起源：</a:t>
            </a:r>
            <a:r>
              <a:rPr kumimoji="1" lang="en-US" altLang="zh-CN" dirty="0"/>
              <a:t>1986</a:t>
            </a:r>
            <a:r>
              <a:rPr kumimoji="1" lang="zh-CN" altLang="en-US" dirty="0"/>
              <a:t>年竹内弘高</a:t>
            </a:r>
            <a:r>
              <a:rPr kumimoji="1" lang="en-US" altLang="zh-CN" dirty="0"/>
              <a:t>《</a:t>
            </a:r>
            <a:r>
              <a:rPr kumimoji="1" lang="zh-CN" altLang="en-US" dirty="0"/>
              <a:t>新型新产品开发策略</a:t>
            </a:r>
            <a:r>
              <a:rPr kumimoji="1" lang="en-US" altLang="zh-CN" dirty="0"/>
              <a:t>》</a:t>
            </a:r>
            <a:r>
              <a:rPr kumimoji="1" lang="zh-CN" altLang="en-US" dirty="0"/>
              <a:t>首次提出</a:t>
            </a:r>
            <a:r>
              <a:rPr kumimoji="1" lang="en-US" altLang="zh-CN" dirty="0"/>
              <a:t>"Scrum"</a:t>
            </a:r>
            <a:r>
              <a:rPr kumimoji="1" lang="zh-CN" altLang="en-US" dirty="0"/>
              <a:t>术语</a:t>
            </a:r>
            <a:endParaRPr kumimoji="1" lang="en-US" altLang="zh-CN" dirty="0"/>
          </a:p>
          <a:p>
            <a:pPr lvl="1"/>
            <a:r>
              <a:rPr lang="en-US" altLang="zh-CN" sz="2400" dirty="0"/>
              <a:t>1986</a:t>
            </a:r>
            <a:r>
              <a:rPr lang="zh-CN" altLang="en-US" sz="2400" dirty="0"/>
              <a:t>年，“</a:t>
            </a:r>
            <a:r>
              <a:rPr lang="en-GB" altLang="zh-CN" sz="2400" dirty="0"/>
              <a:t>The New New product Development Game”  </a:t>
            </a:r>
            <a:r>
              <a:rPr lang="zh-CN" altLang="en-US" sz="2400" dirty="0"/>
              <a:t>竹内弘高和野中郁次郎阐述了一种新的整体性的方法 ，该方法能够提高商业新产品开发的速度和灵活性：他们将这种新的整体性方法与橄榄球相比较，前者各阶段相互重叠，并且由一个跨职能团队在不同的阶段完成整个过程，而团队“作为一个整体前进，把球传来传去”。</a:t>
            </a:r>
            <a:endParaRPr lang="zh-CN" altLang="en-US" sz="2400" dirty="0"/>
          </a:p>
          <a:p>
            <a:pPr lvl="1"/>
            <a:r>
              <a:rPr lang="en-GB" altLang="zh-CN" sz="2400" dirty="0"/>
              <a:t>Scrum</a:t>
            </a:r>
            <a:r>
              <a:rPr lang="zh-CN" altLang="en-US" sz="2400" dirty="0"/>
              <a:t>在英语是橄榄球运动中争球的意思。</a:t>
            </a:r>
            <a:endParaRPr kumimoji="1" lang="zh-CN" altLang="en-US" dirty="0"/>
          </a:p>
          <a:p>
            <a:r>
              <a:rPr kumimoji="1" lang="zh-CN" altLang="en-US" dirty="0"/>
              <a:t>框架形成：</a:t>
            </a:r>
            <a:r>
              <a:rPr kumimoji="1" lang="en-US" altLang="zh-CN" dirty="0"/>
              <a:t>1995</a:t>
            </a:r>
            <a:r>
              <a:rPr kumimoji="1" lang="zh-CN" altLang="en-US" dirty="0"/>
              <a:t>年</a:t>
            </a:r>
            <a:r>
              <a:rPr kumimoji="1" lang="en-US" altLang="zh-CN" dirty="0"/>
              <a:t>Jeff Sutherland</a:t>
            </a:r>
            <a:r>
              <a:rPr kumimoji="1" lang="zh-CN" altLang="en-US" dirty="0"/>
              <a:t>团队在</a:t>
            </a:r>
            <a:r>
              <a:rPr kumimoji="1" lang="en-US" altLang="zh-CN" dirty="0"/>
              <a:t>Easel</a:t>
            </a:r>
            <a:r>
              <a:rPr kumimoji="1" lang="zh-CN" altLang="en-US" dirty="0"/>
              <a:t>公司完成首个完整实践</a:t>
            </a:r>
            <a:r>
              <a:rPr kumimoji="1" lang="en-US" altLang="zh-CN" dirty="0"/>
              <a:t>,</a:t>
            </a:r>
            <a:r>
              <a:rPr kumimoji="1" lang="zh-CN" altLang="en-US" dirty="0"/>
              <a:t>在奥斯汀举办的</a:t>
            </a:r>
            <a:r>
              <a:rPr kumimoji="1" lang="en-US" altLang="zh-CN" dirty="0"/>
              <a:t>OOPSLA 95</a:t>
            </a:r>
            <a:r>
              <a:rPr kumimoji="1" lang="zh-CN" altLang="en-US" dirty="0"/>
              <a:t>上，</a:t>
            </a:r>
            <a:r>
              <a:rPr kumimoji="1" lang="en-US" altLang="zh-CN" dirty="0"/>
              <a:t>Sutherland</a:t>
            </a:r>
            <a:r>
              <a:rPr kumimoji="1" lang="zh-CN" altLang="en-US" dirty="0"/>
              <a:t>和</a:t>
            </a:r>
            <a:r>
              <a:rPr kumimoji="1" lang="en-US" altLang="zh-CN" dirty="0" err="1"/>
              <a:t>Schwaber</a:t>
            </a:r>
            <a:r>
              <a:rPr kumimoji="1" lang="zh-CN" altLang="en-US" dirty="0"/>
              <a:t>联合发表了论文首次提出了</a:t>
            </a:r>
            <a:r>
              <a:rPr kumimoji="1" lang="en-US" altLang="zh-CN" dirty="0"/>
              <a:t>Scrum</a:t>
            </a:r>
            <a:r>
              <a:rPr kumimoji="1" lang="zh-CN" altLang="en-US" dirty="0"/>
              <a:t>概念。</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en-GB" altLang="zh-CN" dirty="0"/>
              <a:t>Scrum</a:t>
            </a:r>
            <a:r>
              <a:rPr kumimoji="1" lang="zh-CN" altLang="en-US" dirty="0"/>
              <a:t>定义</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en-US" altLang="zh-CN" dirty="0"/>
              <a:t>Scrum </a:t>
            </a:r>
            <a:r>
              <a:rPr kumimoji="1" lang="zh-CN" altLang="en-US" dirty="0"/>
              <a:t>不是构建产品的一种过程或一项技术</a:t>
            </a:r>
            <a:r>
              <a:rPr kumimoji="1" lang="en-US" altLang="zh-CN" dirty="0"/>
              <a:t>,</a:t>
            </a:r>
            <a:r>
              <a:rPr kumimoji="1" lang="zh-CN" altLang="en-US" dirty="0"/>
              <a:t>而是一个框架</a:t>
            </a:r>
            <a:r>
              <a:rPr kumimoji="1" lang="en-US" altLang="zh-CN" dirty="0"/>
              <a:t>,</a:t>
            </a:r>
            <a:r>
              <a:rPr kumimoji="1" lang="zh-CN" altLang="en-US" dirty="0"/>
              <a:t>在这个框架里可以应用各种流程和技术。</a:t>
            </a:r>
            <a:r>
              <a:rPr kumimoji="1" lang="en-US" altLang="zh-CN" dirty="0"/>
              <a:t>Scrum </a:t>
            </a:r>
            <a:r>
              <a:rPr kumimoji="1" lang="zh-CN" altLang="en-US" dirty="0"/>
              <a:t>能使产品管理和开发实践的相对功效显现出来</a:t>
            </a:r>
            <a:r>
              <a:rPr kumimoji="1" lang="en-US" altLang="zh-CN" dirty="0"/>
              <a:t>,</a:t>
            </a:r>
            <a:r>
              <a:rPr kumimoji="1" lang="zh-CN" altLang="en-US" dirty="0"/>
              <a:t>以便随时改进。</a:t>
            </a:r>
            <a:endParaRPr kumimoji="1" lang="zh-CN" altLang="en-US" dirty="0"/>
          </a:p>
          <a:p>
            <a:r>
              <a:rPr kumimoji="1" lang="zh-CN" altLang="en-US" dirty="0"/>
              <a:t>“</a:t>
            </a:r>
            <a:r>
              <a:rPr kumimoji="1" lang="en-US" altLang="zh-CN" dirty="0"/>
              <a:t>Scrum</a:t>
            </a:r>
            <a:r>
              <a:rPr kumimoji="1" lang="zh-CN" altLang="en-US" dirty="0"/>
              <a:t>是一个基于团队进行复杂系统和产品开发的框架 ”</a:t>
            </a:r>
            <a:r>
              <a:rPr kumimoji="1" lang="en-US" altLang="zh-CN" dirty="0"/>
              <a:t>-Scrum</a:t>
            </a:r>
            <a:r>
              <a:rPr kumimoji="1" lang="zh-CN" altLang="en-US" dirty="0"/>
              <a:t>联盟 </a:t>
            </a:r>
            <a:endParaRPr kumimoji="1" lang="zh-CN" altLang="en-US" dirty="0"/>
          </a:p>
          <a:p>
            <a:r>
              <a:rPr kumimoji="1" lang="en-US" altLang="zh-CN" dirty="0"/>
              <a:t>Scrum </a:t>
            </a:r>
            <a:r>
              <a:rPr kumimoji="1" lang="zh-CN" altLang="en-US" dirty="0"/>
              <a:t>框架包括 </a:t>
            </a:r>
            <a:r>
              <a:rPr kumimoji="1" lang="en-US" altLang="zh-CN" dirty="0"/>
              <a:t>Scrum </a:t>
            </a:r>
            <a:r>
              <a:rPr kumimoji="1" lang="zh-CN" altLang="en-US" dirty="0"/>
              <a:t>团队及其相关的角色、事件、工件和规则。框架中的每个模块都有一个特定的目的</a:t>
            </a:r>
            <a:r>
              <a:rPr kumimoji="1" lang="en-US" altLang="zh-CN" dirty="0"/>
              <a:t>,</a:t>
            </a:r>
            <a:r>
              <a:rPr kumimoji="1" lang="zh-CN" altLang="en-US" dirty="0"/>
              <a:t>对 </a:t>
            </a:r>
            <a:r>
              <a:rPr kumimoji="1" lang="en-US" altLang="zh-CN" dirty="0"/>
              <a:t>Scrum </a:t>
            </a:r>
            <a:r>
              <a:rPr kumimoji="1" lang="zh-CN" altLang="en-US" dirty="0"/>
              <a:t>的成功和使用都至关重要。 </a:t>
            </a:r>
            <a:endParaRPr kumimoji="1" lang="zh-CN" altLang="en-US" dirty="0"/>
          </a:p>
          <a:p>
            <a:r>
              <a:rPr kumimoji="1" lang="zh-CN" altLang="en-US" dirty="0"/>
              <a:t>“据其定义，</a:t>
            </a:r>
            <a:r>
              <a:rPr kumimoji="1" lang="en-US" altLang="zh-CN" dirty="0"/>
              <a:t>Scrum</a:t>
            </a:r>
            <a:r>
              <a:rPr kumimoji="1" lang="zh-CN" altLang="en-US" dirty="0"/>
              <a:t>事实上并未谈及软件。 </a:t>
            </a:r>
            <a:r>
              <a:rPr kumimoji="1" lang="en-US" altLang="zh-CN" dirty="0"/>
              <a:t>Scrum</a:t>
            </a:r>
            <a:r>
              <a:rPr kumimoji="1" lang="zh-CN" altLang="en-US" dirty="0"/>
              <a:t>所涉乃是非软件项曰亦可使用的工作管理和团队动力学。 ”</a:t>
            </a:r>
            <a:r>
              <a:rPr kumimoji="1" lang="en-US" altLang="zh-CN" dirty="0"/>
              <a:t>----- Jeff McKenna </a:t>
            </a:r>
            <a:endParaRPr kumimoji="1" lang="en-US" altLang="zh-CN" dirty="0"/>
          </a:p>
          <a:p>
            <a:endParaRPr kumimoji="1" lang="en-US" altLang="zh-CN"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51715"/>
            <a:ext cx="10321616" cy="1077218"/>
          </a:xfrm>
        </p:spPr>
        <p:txBody>
          <a:bodyPr/>
          <a:lstStyle/>
          <a:p>
            <a:r>
              <a:rPr lang="en-GB" altLang="zh-CN" dirty="0"/>
              <a:t>Scrum</a:t>
            </a:r>
            <a:r>
              <a:rPr lang="zh-CN" altLang="en-US" dirty="0"/>
              <a:t>以整体的形式存在，才能作为其他技术、方法论和实践的容器良好运作 </a:t>
            </a:r>
            <a:endParaRPr kumimoji="1" lang="zh-CN" altLang="en-US" dirty="0"/>
          </a:p>
        </p:txBody>
      </p:sp>
      <p:pic>
        <p:nvPicPr>
          <p:cNvPr id="5" name="Picture 4" descr="What is Scrum? | Scrum.or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935192" y="1245836"/>
            <a:ext cx="10321615" cy="5160808"/>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p:cNvSpPr txBox="1"/>
          <p:nvPr/>
        </p:nvSpPr>
        <p:spPr>
          <a:xfrm>
            <a:off x="1536700" y="5257800"/>
            <a:ext cx="1384300" cy="368300"/>
          </a:xfrm>
          <a:prstGeom prst="rect">
            <a:avLst/>
          </a:prstGeom>
          <a:noFill/>
        </p:spPr>
        <p:txBody>
          <a:bodyPr wrap="square" rtlCol="0">
            <a:spAutoFit/>
          </a:bodyPr>
          <a:p>
            <a:r>
              <a:rPr lang="zh-CN" altLang="en-US"/>
              <a:t>产品</a:t>
            </a:r>
            <a:r>
              <a:rPr lang="zh-CN" altLang="en-US"/>
              <a:t>订单</a:t>
            </a:r>
            <a:endParaRPr lang="zh-CN" altLang="en-US"/>
          </a:p>
        </p:txBody>
      </p:sp>
      <p:sp>
        <p:nvSpPr>
          <p:cNvPr id="6" name="文本框 5"/>
          <p:cNvSpPr txBox="1"/>
          <p:nvPr/>
        </p:nvSpPr>
        <p:spPr>
          <a:xfrm>
            <a:off x="4184650" y="5168900"/>
            <a:ext cx="1384300" cy="368300"/>
          </a:xfrm>
          <a:prstGeom prst="rect">
            <a:avLst/>
          </a:prstGeom>
          <a:noFill/>
        </p:spPr>
        <p:txBody>
          <a:bodyPr wrap="square" rtlCol="0">
            <a:spAutoFit/>
          </a:bodyPr>
          <a:p>
            <a:r>
              <a:rPr lang="zh-CN" altLang="en-US"/>
              <a:t>冲刺订单</a:t>
            </a:r>
            <a:endParaRPr lang="zh-CN" altLang="en-US"/>
          </a:p>
        </p:txBody>
      </p:sp>
      <p:sp>
        <p:nvSpPr>
          <p:cNvPr id="7" name="矩形 6"/>
          <p:cNvSpPr/>
          <p:nvPr/>
        </p:nvSpPr>
        <p:spPr>
          <a:xfrm>
            <a:off x="3105150" y="3975100"/>
            <a:ext cx="1085850" cy="844550"/>
          </a:xfrm>
          <a:prstGeom prst="rect">
            <a:avLst/>
          </a:prstGeom>
          <a:ln w="28575">
            <a:solidFill>
              <a:srgbClr val="C0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8" name="矩形 7"/>
          <p:cNvSpPr/>
          <p:nvPr/>
        </p:nvSpPr>
        <p:spPr>
          <a:xfrm>
            <a:off x="5403850" y="1733550"/>
            <a:ext cx="1219200" cy="844550"/>
          </a:xfrm>
          <a:prstGeom prst="rect">
            <a:avLst/>
          </a:prstGeom>
          <a:ln w="28575">
            <a:solidFill>
              <a:srgbClr val="C0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9" name="矩形 8"/>
          <p:cNvSpPr/>
          <p:nvPr/>
        </p:nvSpPr>
        <p:spPr>
          <a:xfrm>
            <a:off x="10170795" y="3975100"/>
            <a:ext cx="1085850" cy="844550"/>
          </a:xfrm>
          <a:prstGeom prst="rect">
            <a:avLst/>
          </a:prstGeom>
          <a:ln w="28575">
            <a:solidFill>
              <a:srgbClr val="C0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0" name="矩形 9"/>
          <p:cNvSpPr/>
          <p:nvPr/>
        </p:nvSpPr>
        <p:spPr>
          <a:xfrm>
            <a:off x="7391400" y="2578100"/>
            <a:ext cx="1085850" cy="844550"/>
          </a:xfrm>
          <a:prstGeom prst="rect">
            <a:avLst/>
          </a:prstGeom>
          <a:ln w="28575">
            <a:solidFill>
              <a:srgbClr val="C0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1" name="矩形 10"/>
          <p:cNvSpPr/>
          <p:nvPr/>
        </p:nvSpPr>
        <p:spPr>
          <a:xfrm>
            <a:off x="7747000" y="4978400"/>
            <a:ext cx="1085850" cy="425450"/>
          </a:xfrm>
          <a:prstGeom prst="rect">
            <a:avLst/>
          </a:prstGeom>
          <a:ln w="28575">
            <a:solidFill>
              <a:srgbClr val="C00000"/>
            </a:solidFill>
          </a:ln>
        </p:spPr>
        <p:style>
          <a:lnRef idx="3">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12" name="文本框 11"/>
          <p:cNvSpPr txBox="1"/>
          <p:nvPr/>
        </p:nvSpPr>
        <p:spPr>
          <a:xfrm>
            <a:off x="7847965" y="4978400"/>
            <a:ext cx="901700" cy="368300"/>
          </a:xfrm>
          <a:prstGeom prst="rect">
            <a:avLst/>
          </a:prstGeom>
          <a:noFill/>
        </p:spPr>
        <p:txBody>
          <a:bodyPr wrap="square" rtlCol="0">
            <a:spAutoFit/>
          </a:bodyPr>
          <a:p>
            <a:r>
              <a:rPr lang="en-US" altLang="zh-CN">
                <a:solidFill>
                  <a:srgbClr val="C00000"/>
                </a:solidFill>
              </a:rPr>
              <a:t>Scrum</a:t>
            </a:r>
            <a:endParaRPr lang="en-US" altLang="zh-CN">
              <a:solidFill>
                <a:srgbClr val="C00000"/>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 </a:t>
            </a:r>
            <a:r>
              <a:rPr kumimoji="1" lang="en-US" altLang="zh-CN" dirty="0"/>
              <a:t>Guide</a:t>
            </a:r>
            <a:r>
              <a:rPr kumimoji="1" lang="zh-CN" altLang="en-US" dirty="0"/>
              <a:t> </a:t>
            </a:r>
            <a:r>
              <a:rPr kumimoji="1" lang="en-US" altLang="zh-CN" dirty="0"/>
              <a:t>2020.11</a:t>
            </a:r>
            <a:r>
              <a:rPr kumimoji="1" lang="zh-CN" altLang="en-US" dirty="0"/>
              <a:t> </a:t>
            </a:r>
            <a:r>
              <a:rPr kumimoji="1" lang="en-US" altLang="zh-CN" dirty="0"/>
              <a:t>by</a:t>
            </a:r>
            <a:r>
              <a:rPr kumimoji="1" lang="zh-CN" altLang="en-US" dirty="0"/>
              <a:t> </a:t>
            </a:r>
            <a:r>
              <a:rPr kumimoji="1" lang="en-US" altLang="zh-CN" dirty="0"/>
              <a:t>Ken </a:t>
            </a:r>
            <a:r>
              <a:rPr kumimoji="1" lang="en-US" altLang="zh-CN" dirty="0" err="1"/>
              <a:t>Schwaber</a:t>
            </a:r>
            <a:r>
              <a:rPr kumimoji="1" lang="en-US" altLang="zh-CN" dirty="0"/>
              <a:t> &amp; Jeff Sutherland</a:t>
            </a:r>
            <a:endParaRPr kumimoji="1" lang="zh-CN" altLang="en-US" dirty="0"/>
          </a:p>
        </p:txBody>
      </p:sp>
      <p:sp>
        <p:nvSpPr>
          <p:cNvPr id="4" name="内容占位符 3"/>
          <p:cNvSpPr>
            <a:spLocks noGrp="1"/>
          </p:cNvSpPr>
          <p:nvPr>
            <p:ph idx="1"/>
          </p:nvPr>
        </p:nvSpPr>
        <p:spPr/>
        <p:txBody>
          <a:bodyPr>
            <a:normAutofit/>
          </a:bodyPr>
          <a:lstStyle/>
          <a:p>
            <a:r>
              <a:rPr kumimoji="1" lang="en-US" altLang="zh-CN" dirty="0"/>
              <a:t>Scrum </a:t>
            </a:r>
            <a:r>
              <a:rPr kumimoji="1" lang="zh-CN" altLang="en-US" dirty="0"/>
              <a:t>是一个轻量的框架，它通过提供针对复杂问题的自适应解决方案来帮助人们、团队和组织创造价值。</a:t>
            </a:r>
            <a:endParaRPr kumimoji="1" lang="zh-CN" altLang="en-US" dirty="0"/>
          </a:p>
          <a:p>
            <a:r>
              <a:rPr kumimoji="1" lang="zh-CN" altLang="en-US" dirty="0"/>
              <a:t>简而言之，</a:t>
            </a:r>
            <a:r>
              <a:rPr kumimoji="1" lang="en-US" altLang="zh-CN" dirty="0"/>
              <a:t>Scrum </a:t>
            </a:r>
            <a:r>
              <a:rPr kumimoji="1" lang="zh-CN" altLang="en-US" dirty="0"/>
              <a:t>需要 </a:t>
            </a:r>
            <a:r>
              <a:rPr kumimoji="1" lang="en-US" altLang="zh-CN" dirty="0"/>
              <a:t>Scrum Master </a:t>
            </a:r>
            <a:r>
              <a:rPr kumimoji="1" lang="zh-CN" altLang="en-US" dirty="0"/>
              <a:t>营造一个环境，从而：</a:t>
            </a:r>
            <a:endParaRPr kumimoji="1" lang="zh-CN" altLang="en-US" dirty="0"/>
          </a:p>
          <a:p>
            <a:pPr lvl="1"/>
            <a:r>
              <a:rPr kumimoji="1" lang="en-US" altLang="zh-CN" dirty="0"/>
              <a:t>1.</a:t>
            </a:r>
            <a:r>
              <a:rPr kumimoji="1" lang="zh-CN" altLang="en-US" dirty="0"/>
              <a:t>一名 </a:t>
            </a:r>
            <a:r>
              <a:rPr kumimoji="1" lang="en-US" altLang="zh-CN" dirty="0"/>
              <a:t>Product Owner </a:t>
            </a:r>
            <a:r>
              <a:rPr kumimoji="1" lang="zh-CN" altLang="en-US" dirty="0"/>
              <a:t>将解决复杂问题所需的工作整理成一份 </a:t>
            </a:r>
            <a:r>
              <a:rPr kumimoji="1" lang="en-US" altLang="zh-CN" dirty="0"/>
              <a:t>Product Backlog</a:t>
            </a:r>
            <a:r>
              <a:rPr kumimoji="1" lang="zh-CN" altLang="en-US" dirty="0"/>
              <a:t>。</a:t>
            </a:r>
            <a:endParaRPr kumimoji="1" lang="en-US" altLang="zh-CN" dirty="0"/>
          </a:p>
          <a:p>
            <a:pPr lvl="1"/>
            <a:r>
              <a:rPr kumimoji="1" lang="en-US" altLang="zh-CN" dirty="0"/>
              <a:t>2. Scrum Team </a:t>
            </a:r>
            <a:r>
              <a:rPr kumimoji="1" lang="zh-CN" altLang="en-US" dirty="0"/>
              <a:t>在 一个 </a:t>
            </a:r>
            <a:r>
              <a:rPr kumimoji="1" lang="en-US" altLang="zh-CN" dirty="0"/>
              <a:t>Sprint </a:t>
            </a:r>
            <a:r>
              <a:rPr kumimoji="1" lang="zh-CN" altLang="en-US" dirty="0"/>
              <a:t>期间将选择的工作转化为价值的 </a:t>
            </a:r>
            <a:r>
              <a:rPr kumimoji="1" lang="en-US" altLang="zh-CN" dirty="0"/>
              <a:t>Increment</a:t>
            </a:r>
            <a:r>
              <a:rPr kumimoji="1" lang="zh-CN" altLang="en-US" dirty="0"/>
              <a:t>。</a:t>
            </a:r>
            <a:endParaRPr kumimoji="1" lang="en-US" altLang="zh-CN" dirty="0"/>
          </a:p>
          <a:p>
            <a:pPr lvl="1"/>
            <a:r>
              <a:rPr kumimoji="1" lang="en-US" altLang="zh-CN" dirty="0"/>
              <a:t>3. Scrum Team </a:t>
            </a:r>
            <a:r>
              <a:rPr kumimoji="1" lang="zh-CN" altLang="en-US" dirty="0"/>
              <a:t>和利益攸关者检视结果并为下一个 </a:t>
            </a:r>
            <a:r>
              <a:rPr kumimoji="1" lang="en-US" altLang="zh-CN" dirty="0"/>
              <a:t>Sprint </a:t>
            </a:r>
            <a:r>
              <a:rPr kumimoji="1" lang="zh-CN" altLang="en-US" dirty="0"/>
              <a:t>进行调整。</a:t>
            </a:r>
            <a:endParaRPr kumimoji="1" lang="en-US" altLang="zh-CN" dirty="0"/>
          </a:p>
          <a:p>
            <a:pPr lvl="1"/>
            <a:r>
              <a:rPr kumimoji="1" lang="en-US" altLang="zh-CN" dirty="0"/>
              <a:t>4. </a:t>
            </a:r>
            <a:r>
              <a:rPr kumimoji="1" lang="zh-CN" altLang="en-US" dirty="0"/>
              <a:t>重复</a:t>
            </a:r>
            <a:endParaRPr kumimoji="1" lang="en-US" altLang="zh-CN"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 </a:t>
            </a:r>
            <a:r>
              <a:rPr kumimoji="1" lang="en-US" altLang="zh-CN" dirty="0"/>
              <a:t>33355</a:t>
            </a:r>
            <a:r>
              <a:rPr kumimoji="1" lang="zh-CN" altLang="en-US" dirty="0"/>
              <a:t>（或 </a:t>
            </a:r>
            <a:r>
              <a:rPr kumimoji="1" lang="en-US" altLang="zh-CN" dirty="0"/>
              <a:t>3355</a:t>
            </a:r>
            <a:r>
              <a:rPr kumimoji="1" lang="zh-CN" altLang="en-US" dirty="0"/>
              <a:t>）</a:t>
            </a:r>
            <a:endParaRPr kumimoji="1" lang="zh-CN" altLang="en-US" dirty="0"/>
          </a:p>
        </p:txBody>
      </p:sp>
      <p:sp>
        <p:nvSpPr>
          <p:cNvPr id="4" name="内容占位符 3"/>
          <p:cNvSpPr>
            <a:spLocks noGrp="1"/>
          </p:cNvSpPr>
          <p:nvPr>
            <p:ph idx="1"/>
          </p:nvPr>
        </p:nvSpPr>
        <p:spPr/>
        <p:txBody>
          <a:bodyPr>
            <a:normAutofit fontScale="62500" lnSpcReduction="20000"/>
          </a:bodyPr>
          <a:lstStyle/>
          <a:p>
            <a:r>
              <a:rPr kumimoji="1" lang="zh-CN" altLang="en-US" dirty="0"/>
              <a:t>三大支柱</a:t>
            </a:r>
            <a:endParaRPr kumimoji="1" lang="zh-CN" altLang="en-US" dirty="0"/>
          </a:p>
          <a:p>
            <a:pPr lvl="1"/>
            <a:r>
              <a:rPr kumimoji="1" lang="zh-CN" altLang="en-US" dirty="0"/>
              <a:t>透明、检视、适应</a:t>
            </a:r>
            <a:endParaRPr kumimoji="1" lang="zh-CN" altLang="en-US" dirty="0"/>
          </a:p>
          <a:p>
            <a:r>
              <a:rPr kumimoji="1" lang="zh-CN" altLang="en-US" dirty="0"/>
              <a:t>五个价值</a:t>
            </a:r>
            <a:endParaRPr kumimoji="1" lang="zh-CN" altLang="en-US" dirty="0"/>
          </a:p>
          <a:p>
            <a:pPr lvl="1"/>
            <a:r>
              <a:rPr kumimoji="1" lang="zh-CN" altLang="en-US" dirty="0"/>
              <a:t>承诺、专注、开放、尊重和勇气</a:t>
            </a:r>
            <a:endParaRPr kumimoji="1" lang="zh-CN" altLang="en-US" dirty="0"/>
          </a:p>
          <a:p>
            <a:r>
              <a:rPr kumimoji="1" lang="zh-CN" altLang="en-US" dirty="0"/>
              <a:t>三个角色</a:t>
            </a:r>
            <a:endParaRPr kumimoji="1" lang="zh-CN" altLang="en-US" dirty="0"/>
          </a:p>
          <a:p>
            <a:pPr lvl="1"/>
            <a:r>
              <a:rPr kumimoji="1" lang="zh-CN" altLang="en-US" dirty="0"/>
              <a:t>开发人员、</a:t>
            </a:r>
            <a:r>
              <a:rPr kumimoji="1" lang="en-US" altLang="zh-CN" dirty="0"/>
              <a:t>PO</a:t>
            </a:r>
            <a:r>
              <a:rPr kumimoji="1" lang="zh-CN" altLang="en-US" dirty="0"/>
              <a:t>、</a:t>
            </a:r>
            <a:r>
              <a:rPr kumimoji="1" lang="en-US" altLang="zh-CN" dirty="0"/>
              <a:t>Scrum Master</a:t>
            </a:r>
            <a:endParaRPr kumimoji="1" lang="en-US" altLang="zh-CN" dirty="0"/>
          </a:p>
          <a:p>
            <a:r>
              <a:rPr kumimoji="1" lang="zh-CN" altLang="en-US" dirty="0"/>
              <a:t>三个工件</a:t>
            </a:r>
            <a:endParaRPr kumimoji="1" lang="zh-CN" altLang="en-US" dirty="0"/>
          </a:p>
          <a:p>
            <a:pPr lvl="1"/>
            <a:r>
              <a:rPr kumimoji="1" lang="zh-CN" altLang="en-US" dirty="0"/>
              <a:t>产品 </a:t>
            </a:r>
            <a:r>
              <a:rPr kumimoji="1" lang="en-US" altLang="zh-CN" dirty="0"/>
              <a:t>Backlog</a:t>
            </a:r>
            <a:r>
              <a:rPr kumimoji="1" lang="zh-CN" altLang="en-US" dirty="0"/>
              <a:t>、</a:t>
            </a:r>
            <a:r>
              <a:rPr kumimoji="1" lang="en-US" altLang="zh-CN" dirty="0"/>
              <a:t>Sprint Backlog</a:t>
            </a:r>
            <a:r>
              <a:rPr kumimoji="1" lang="zh-CN" altLang="en-US" dirty="0"/>
              <a:t>、增量</a:t>
            </a:r>
            <a:endParaRPr kumimoji="1" lang="zh-CN" altLang="en-US" dirty="0"/>
          </a:p>
          <a:p>
            <a:r>
              <a:rPr kumimoji="1" lang="zh-CN" altLang="en-US" dirty="0"/>
              <a:t>五个事件</a:t>
            </a:r>
            <a:endParaRPr kumimoji="1" lang="zh-CN" altLang="en-US" dirty="0"/>
          </a:p>
          <a:p>
            <a:pPr lvl="1"/>
            <a:r>
              <a:rPr kumimoji="1" lang="en-US" altLang="zh-CN" dirty="0"/>
              <a:t>Sprint</a:t>
            </a:r>
            <a:endParaRPr kumimoji="1" lang="en-US" altLang="zh-CN" dirty="0"/>
          </a:p>
          <a:p>
            <a:pPr lvl="1"/>
            <a:r>
              <a:rPr kumimoji="1" lang="en-US" altLang="zh-CN" dirty="0"/>
              <a:t>Sprint </a:t>
            </a:r>
            <a:r>
              <a:rPr kumimoji="1" lang="zh-CN" altLang="en-US" dirty="0"/>
              <a:t>计划会议</a:t>
            </a:r>
            <a:endParaRPr kumimoji="1" lang="zh-CN" altLang="en-US" dirty="0"/>
          </a:p>
          <a:p>
            <a:pPr lvl="1"/>
            <a:r>
              <a:rPr kumimoji="1" lang="zh-CN" altLang="en-US" dirty="0"/>
              <a:t>每日 </a:t>
            </a:r>
            <a:r>
              <a:rPr kumimoji="1" lang="en-US" altLang="zh-CN" dirty="0"/>
              <a:t>Scrum </a:t>
            </a:r>
            <a:r>
              <a:rPr kumimoji="1" lang="zh-CN" altLang="en-US" dirty="0"/>
              <a:t>会议</a:t>
            </a:r>
            <a:endParaRPr kumimoji="1" lang="zh-CN" altLang="en-US" dirty="0"/>
          </a:p>
          <a:p>
            <a:pPr lvl="1"/>
            <a:r>
              <a:rPr kumimoji="1" lang="en-US" altLang="zh-CN" dirty="0"/>
              <a:t>Sprint </a:t>
            </a:r>
            <a:r>
              <a:rPr kumimoji="1" lang="zh-CN" altLang="en-US" dirty="0"/>
              <a:t>评审会议</a:t>
            </a:r>
            <a:endParaRPr kumimoji="1" lang="zh-CN" altLang="en-US" dirty="0"/>
          </a:p>
          <a:p>
            <a:pPr lvl="1"/>
            <a:r>
              <a:rPr kumimoji="1" lang="en-US" altLang="zh-CN" dirty="0"/>
              <a:t>Sprint </a:t>
            </a:r>
            <a:r>
              <a:rPr kumimoji="1" lang="zh-CN" altLang="en-US" dirty="0"/>
              <a:t>回顾会议</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 </a:t>
            </a:r>
            <a:r>
              <a:rPr kumimoji="1" lang="zh-CN" altLang="en-US" dirty="0"/>
              <a:t>理论</a:t>
            </a:r>
            <a:endParaRPr kumimoji="1" lang="zh-CN" altLang="en-US" dirty="0"/>
          </a:p>
        </p:txBody>
      </p:sp>
      <p:sp>
        <p:nvSpPr>
          <p:cNvPr id="4" name="内容占位符 3"/>
          <p:cNvSpPr>
            <a:spLocks noGrp="1"/>
          </p:cNvSpPr>
          <p:nvPr>
            <p:ph idx="1"/>
          </p:nvPr>
        </p:nvSpPr>
        <p:spPr/>
        <p:txBody>
          <a:bodyPr/>
          <a:lstStyle/>
          <a:p>
            <a:r>
              <a:rPr kumimoji="1" lang="en-US" altLang="zh-CN" dirty="0"/>
              <a:t>Scrum </a:t>
            </a:r>
            <a:r>
              <a:rPr kumimoji="1" lang="zh-CN" altLang="en-US" dirty="0"/>
              <a:t>基于经验主义和精益思维。 </a:t>
            </a:r>
            <a:r>
              <a:rPr kumimoji="1" lang="zh-CN" altLang="en-US" dirty="0">
                <a:solidFill>
                  <a:srgbClr val="FF0000"/>
                </a:solidFill>
              </a:rPr>
              <a:t>经验主义主张知识源自实际经验以及根据当前观察到的事物作出的判断所获得。</a:t>
            </a:r>
            <a:r>
              <a:rPr kumimoji="1" lang="zh-CN" altLang="en-US" dirty="0"/>
              <a:t>精益思维减少浪费，专注于根本（第一性思维）。</a:t>
            </a:r>
            <a:endParaRPr kumimoji="1" lang="en-US" altLang="zh-CN" dirty="0"/>
          </a:p>
          <a:p>
            <a:r>
              <a:rPr kumimoji="1" lang="en-US" altLang="zh-CN" dirty="0"/>
              <a:t>Scrum </a:t>
            </a:r>
            <a:r>
              <a:rPr kumimoji="1" lang="zh-CN" altLang="en-US" dirty="0"/>
              <a:t>将 </a:t>
            </a:r>
            <a:r>
              <a:rPr kumimoji="1" lang="en-US" altLang="zh-CN" dirty="0"/>
              <a:t>4 </a:t>
            </a:r>
            <a:r>
              <a:rPr kumimoji="1" lang="zh-CN" altLang="en-US" dirty="0"/>
              <a:t>个正式事件组合在一起以在一个</a:t>
            </a:r>
            <a:r>
              <a:rPr kumimoji="1" lang="zh-CN" altLang="en-US" dirty="0">
                <a:solidFill>
                  <a:srgbClr val="FF0000"/>
                </a:solidFill>
              </a:rPr>
              <a:t>容器型事件 </a:t>
            </a:r>
            <a:r>
              <a:rPr kumimoji="1" lang="en-US" altLang="zh-CN" dirty="0">
                <a:solidFill>
                  <a:srgbClr val="FF0000"/>
                </a:solidFill>
              </a:rPr>
              <a:t>Sprint </a:t>
            </a:r>
            <a:r>
              <a:rPr kumimoji="1" lang="zh-CN" altLang="en-US" dirty="0"/>
              <a:t>中进行检视和适应。这些事件之所以起作用，是因为它们实现了基于经验主义的 </a:t>
            </a:r>
            <a:r>
              <a:rPr kumimoji="1" lang="en-US" altLang="zh-CN" dirty="0"/>
              <a:t>Scrum </a:t>
            </a:r>
            <a:r>
              <a:rPr kumimoji="1" lang="zh-CN" altLang="en-US" dirty="0"/>
              <a:t>的三个支柱：透明、检视和适应。</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经验主义</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经验主义（</a:t>
            </a:r>
            <a:r>
              <a:rPr kumimoji="1" lang="en-US" altLang="zh-CN" dirty="0"/>
              <a:t>Empiricism</a:t>
            </a:r>
            <a:r>
              <a:rPr kumimoji="1" lang="zh-CN" altLang="en-US" dirty="0"/>
              <a:t>）是哲学认识论中的一个核心流派，主张人类知识的根本来源是实际经验，而非先天的观念或纯粹的理性推理。</a:t>
            </a:r>
            <a:endParaRPr kumimoji="1" lang="en-US" altLang="zh-CN" dirty="0"/>
          </a:p>
          <a:p>
            <a:r>
              <a:rPr kumimoji="1" lang="zh-CN" altLang="en-US" dirty="0"/>
              <a:t>经验主义强调通过</a:t>
            </a:r>
            <a:r>
              <a:rPr kumimoji="1" lang="zh-CN" altLang="en-US" dirty="0">
                <a:solidFill>
                  <a:srgbClr val="FF0000"/>
                </a:solidFill>
              </a:rPr>
              <a:t>观察具体现象，再通过归纳法（从个别案例推导普遍规律）形成知识。</a:t>
            </a:r>
            <a:endParaRPr kumimoji="1" lang="en-US" altLang="zh-CN" dirty="0">
              <a:solidFill>
                <a:srgbClr val="FF0000"/>
              </a:solidFill>
            </a:endParaRPr>
          </a:p>
          <a:p>
            <a:r>
              <a:rPr kumimoji="1" lang="zh-CN" altLang="en-US" dirty="0"/>
              <a:t>经验主义深刻影响了现代科学方法，强调证据、实验和可验证性。例如：</a:t>
            </a:r>
            <a:endParaRPr kumimoji="1" lang="zh-CN" altLang="en-US" dirty="0"/>
          </a:p>
          <a:p>
            <a:pPr lvl="1"/>
            <a:r>
              <a:rPr kumimoji="1" lang="zh-CN" altLang="en-US" dirty="0"/>
              <a:t>医学通过临床试验验证药物效果，</a:t>
            </a:r>
            <a:endParaRPr kumimoji="1" lang="zh-CN" altLang="en-US" dirty="0"/>
          </a:p>
          <a:p>
            <a:pPr lvl="1"/>
            <a:r>
              <a:rPr kumimoji="1" lang="zh-CN" altLang="en-US" dirty="0"/>
              <a:t>物理学通过观测数据建立理论模型。</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4" name="内容占位符 3"/>
          <p:cNvSpPr>
            <a:spLocks noGrp="1"/>
          </p:cNvSpPr>
          <p:nvPr>
            <p:ph idx="1"/>
          </p:nvPr>
        </p:nvSpPr>
        <p:spPr>
          <a:xfrm>
            <a:off x="838200" y="1138333"/>
            <a:ext cx="10515600" cy="5633435"/>
          </a:xfrm>
        </p:spPr>
        <p:txBody>
          <a:bodyPr>
            <a:normAutofit fontScale="85000" lnSpcReduction="20000"/>
          </a:bodyPr>
          <a:lstStyle/>
          <a:p>
            <a:r>
              <a:rPr kumimoji="1" lang="zh-CN" altLang="en-US" dirty="0">
                <a:solidFill>
                  <a:srgbClr val="FF0000"/>
                </a:solidFill>
              </a:rPr>
              <a:t>透明</a:t>
            </a:r>
            <a:r>
              <a:rPr kumimoji="1" lang="zh-CN" altLang="en-US" dirty="0"/>
              <a:t>：浮现（</a:t>
            </a:r>
            <a:r>
              <a:rPr kumimoji="1" lang="en-US" altLang="zh-CN" dirty="0"/>
              <a:t>emergent</a:t>
            </a:r>
            <a:r>
              <a:rPr kumimoji="1" lang="zh-CN" altLang="en-US" dirty="0"/>
              <a:t>）的过程和工作必须对执行工作的人员和接受工作的人员都是可见的。在 </a:t>
            </a:r>
            <a:r>
              <a:rPr kumimoji="1" lang="en-US" altLang="zh-CN" dirty="0"/>
              <a:t>Scrum </a:t>
            </a:r>
            <a:r>
              <a:rPr kumimoji="1" lang="zh-CN" altLang="en-US" dirty="0"/>
              <a:t>中，重要的决策是基于其 </a:t>
            </a:r>
            <a:r>
              <a:rPr kumimoji="1" lang="en-US" altLang="zh-CN" dirty="0"/>
              <a:t>3 </a:t>
            </a:r>
            <a:r>
              <a:rPr kumimoji="1" lang="zh-CN" altLang="en-US" dirty="0"/>
              <a:t>个正式工件的感知状态。透明度较低的工件可能导致做出降低价值并增加风险的决策。透明使检视成为可能。没有透明的检视会产生误导和浪费。</a:t>
            </a:r>
            <a:endParaRPr kumimoji="1" lang="en-US" altLang="zh-CN" dirty="0"/>
          </a:p>
          <a:p>
            <a:r>
              <a:rPr kumimoji="1" lang="zh-CN" altLang="en-US" dirty="0">
                <a:solidFill>
                  <a:srgbClr val="FF0000"/>
                </a:solidFill>
              </a:rPr>
              <a:t>检视</a:t>
            </a:r>
            <a:r>
              <a:rPr kumimoji="1" lang="zh-CN" altLang="en-US" dirty="0"/>
              <a:t>：</a:t>
            </a:r>
            <a:r>
              <a:rPr kumimoji="1" lang="en-US" altLang="zh-CN" dirty="0"/>
              <a:t>Scrum </a:t>
            </a:r>
            <a:r>
              <a:rPr kumimoji="1" lang="zh-CN" altLang="en-US" dirty="0"/>
              <a:t>工件和实现商定目标的进展必须经常地和勤勉地检视，以便发现潜在的不良的差异或问题。为了帮助检视，</a:t>
            </a:r>
            <a:r>
              <a:rPr kumimoji="1" lang="en-US" altLang="zh-CN" dirty="0"/>
              <a:t>Scrum </a:t>
            </a:r>
            <a:r>
              <a:rPr kumimoji="1" lang="zh-CN" altLang="en-US" dirty="0"/>
              <a:t>以 </a:t>
            </a:r>
            <a:r>
              <a:rPr kumimoji="1" lang="en-US" altLang="zh-CN" dirty="0"/>
              <a:t>5 </a:t>
            </a:r>
            <a:r>
              <a:rPr kumimoji="1" lang="zh-CN" altLang="en-US" dirty="0"/>
              <a:t>个事件的形式提供了稳定的节奏。检视使适应成为可能。没有适应的检视是毫无意义的。</a:t>
            </a:r>
            <a:r>
              <a:rPr kumimoji="1" lang="en-US" altLang="zh-CN" dirty="0"/>
              <a:t>Scrum </a:t>
            </a:r>
            <a:r>
              <a:rPr kumimoji="1" lang="zh-CN" altLang="en-US" dirty="0"/>
              <a:t>事件旨在激发改变。</a:t>
            </a:r>
            <a:endParaRPr kumimoji="1" lang="en-US" altLang="zh-CN" dirty="0"/>
          </a:p>
          <a:p>
            <a:r>
              <a:rPr kumimoji="1" lang="zh-CN" altLang="en-US" dirty="0">
                <a:solidFill>
                  <a:srgbClr val="FF0000"/>
                </a:solidFill>
              </a:rPr>
              <a:t>调整</a:t>
            </a:r>
            <a:r>
              <a:rPr kumimoji="1" lang="zh-CN" altLang="en-US" dirty="0"/>
              <a:t>：如果过程的任何方面超出可接受的范围或所得的产品不可接受，就必须对当下的过程或过程处理的内容加以调整。 调整工作必须尽快执行以最小化进一步的偏差。</a:t>
            </a:r>
            <a:endParaRPr kumimoji="1" lang="zh-CN" altLang="en-US" dirty="0"/>
          </a:p>
        </p:txBody>
      </p:sp>
      <p:sp>
        <p:nvSpPr>
          <p:cNvPr id="5" name="文本占位符 2"/>
          <p:cNvSpPr>
            <a:spLocks noGrp="1"/>
          </p:cNvSpPr>
          <p:nvPr>
            <p:ph type="body" sz="quarter" idx="13"/>
          </p:nvPr>
        </p:nvSpPr>
        <p:spPr>
          <a:xfrm>
            <a:off x="1032184" y="297936"/>
            <a:ext cx="10321616" cy="584775"/>
          </a:xfrm>
        </p:spPr>
        <p:txBody>
          <a:bodyPr/>
          <a:lstStyle/>
          <a:p>
            <a:r>
              <a:rPr kumimoji="1" lang="zh-CN" altLang="en-US" dirty="0"/>
              <a:t>三个支柱</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 </a:t>
            </a:r>
            <a:r>
              <a:rPr kumimoji="1" lang="zh-CN" altLang="en-US" dirty="0"/>
              <a:t>价值观</a:t>
            </a:r>
            <a:endParaRPr kumimoji="1" lang="zh-CN" altLang="en-US" dirty="0"/>
          </a:p>
        </p:txBody>
      </p:sp>
      <p:graphicFrame>
        <p:nvGraphicFramePr>
          <p:cNvPr id="7" name="内容占位符 6"/>
          <p:cNvGraphicFramePr>
            <a:graphicFrameLocks noGrp="1"/>
          </p:cNvGraphicFramePr>
          <p:nvPr>
            <p:ph idx="1"/>
          </p:nvPr>
        </p:nvGraphicFramePr>
        <p:xfrm>
          <a:off x="838200" y="1221699"/>
          <a:ext cx="10515600" cy="495526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 Team</a:t>
            </a:r>
            <a:endParaRPr kumimoji="1" lang="zh-CN" altLang="en-US" dirty="0"/>
          </a:p>
        </p:txBody>
      </p:sp>
      <p:sp>
        <p:nvSpPr>
          <p:cNvPr id="4" name="内容占位符 3"/>
          <p:cNvSpPr>
            <a:spLocks noGrp="1"/>
          </p:cNvSpPr>
          <p:nvPr>
            <p:ph idx="1"/>
          </p:nvPr>
        </p:nvSpPr>
        <p:spPr/>
        <p:txBody>
          <a:bodyPr>
            <a:normAutofit/>
          </a:bodyPr>
          <a:lstStyle/>
          <a:p>
            <a:r>
              <a:rPr kumimoji="1" lang="en-US" altLang="zh-CN" dirty="0"/>
              <a:t>Scrum Team </a:t>
            </a:r>
            <a:r>
              <a:rPr kumimoji="1" lang="zh-CN" altLang="en-US" dirty="0"/>
              <a:t>由一名 </a:t>
            </a:r>
            <a:r>
              <a:rPr kumimoji="1" lang="en-US" altLang="zh-CN" dirty="0"/>
              <a:t>Scrum Master</a:t>
            </a:r>
            <a:r>
              <a:rPr kumimoji="1" lang="zh-CN" altLang="en-US" dirty="0"/>
              <a:t>，一名 </a:t>
            </a:r>
            <a:r>
              <a:rPr kumimoji="1" lang="en-US" altLang="zh-CN" dirty="0"/>
              <a:t>Product</a:t>
            </a:r>
            <a:r>
              <a:rPr kumimoji="1" lang="zh-CN" altLang="en-US" dirty="0"/>
              <a:t> </a:t>
            </a:r>
            <a:r>
              <a:rPr kumimoji="1" lang="en-US" altLang="zh-CN" dirty="0"/>
              <a:t>Owner </a:t>
            </a:r>
            <a:r>
              <a:rPr kumimoji="1" lang="zh-CN" altLang="en-US" dirty="0"/>
              <a:t>和 </a:t>
            </a:r>
            <a:r>
              <a:rPr kumimoji="1" lang="en-US" altLang="zh-CN" dirty="0"/>
              <a:t>Developers </a:t>
            </a:r>
            <a:r>
              <a:rPr kumimoji="1" lang="zh-CN" altLang="en-US" dirty="0"/>
              <a:t>组成。在 </a:t>
            </a:r>
            <a:r>
              <a:rPr kumimoji="1" lang="en-US" altLang="zh-CN" dirty="0"/>
              <a:t>Scrum Team </a:t>
            </a:r>
            <a:r>
              <a:rPr kumimoji="1" lang="zh-CN" altLang="en-US" dirty="0"/>
              <a:t>中，没有子团队或层次结构。</a:t>
            </a:r>
            <a:endParaRPr kumimoji="1" lang="en-US" altLang="zh-CN" dirty="0"/>
          </a:p>
          <a:p>
            <a:r>
              <a:rPr kumimoji="1" lang="en-US" altLang="zh-CN" dirty="0"/>
              <a:t>Scrum Team </a:t>
            </a:r>
            <a:r>
              <a:rPr kumimoji="1" lang="zh-CN" altLang="en-US" dirty="0"/>
              <a:t>规模足够小以保持灵活，同时足够大以便可以在 一个 </a:t>
            </a:r>
            <a:r>
              <a:rPr kumimoji="1" lang="en-US" altLang="zh-CN" dirty="0"/>
              <a:t>Sprint </a:t>
            </a:r>
            <a:r>
              <a:rPr kumimoji="1" lang="zh-CN" altLang="en-US" dirty="0"/>
              <a:t>中完成重要的工作，通常只有 </a:t>
            </a:r>
            <a:r>
              <a:rPr kumimoji="1" lang="en-US" altLang="zh-CN" dirty="0"/>
              <a:t>10 </a:t>
            </a:r>
            <a:r>
              <a:rPr kumimoji="1" lang="zh-CN" altLang="en-US" dirty="0"/>
              <a:t>人或更少。总的来说，我们发现较小的团队沟通更好，效率更高。</a:t>
            </a:r>
            <a:endParaRPr kumimoji="1" lang="en-US" altLang="zh-CN" dirty="0"/>
          </a:p>
          <a:p>
            <a:r>
              <a:rPr kumimoji="1" lang="zh-CN" altLang="en-US" dirty="0"/>
              <a:t>如果 </a:t>
            </a:r>
            <a:r>
              <a:rPr kumimoji="1" lang="en-US" altLang="zh-CN" dirty="0"/>
              <a:t>Scrum Team </a:t>
            </a:r>
            <a:r>
              <a:rPr kumimoji="1" lang="zh-CN" altLang="en-US" dirty="0"/>
              <a:t>变得太大，则应考虑将他们重组为多个具有凝聚力的 </a:t>
            </a:r>
            <a:r>
              <a:rPr kumimoji="1" lang="en-US" altLang="zh-CN" dirty="0"/>
              <a:t>Scrum Team</a:t>
            </a:r>
            <a:r>
              <a:rPr kumimoji="1" lang="zh-CN" altLang="en-US" dirty="0"/>
              <a:t>，每个团队都专注于同一产品。</a:t>
            </a:r>
            <a:endParaRPr kumimoji="1" lang="en-US" altLang="zh-CN"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跨职能的</a:t>
            </a:r>
            <a:r>
              <a:rPr kumimoji="1" lang="en-US" altLang="zh-CN" dirty="0"/>
              <a:t>Scrum Team</a:t>
            </a:r>
            <a:endParaRPr kumimoji="1" lang="zh-CN" altLang="en-US" dirty="0"/>
          </a:p>
        </p:txBody>
      </p:sp>
      <p:sp>
        <p:nvSpPr>
          <p:cNvPr id="4" name="内容占位符 3"/>
          <p:cNvSpPr>
            <a:spLocks noGrp="1"/>
          </p:cNvSpPr>
          <p:nvPr>
            <p:ph idx="1"/>
          </p:nvPr>
        </p:nvSpPr>
        <p:spPr/>
        <p:txBody>
          <a:bodyPr>
            <a:normAutofit fontScale="92500"/>
          </a:bodyPr>
          <a:lstStyle/>
          <a:p>
            <a:r>
              <a:rPr kumimoji="1" lang="en-US" altLang="zh-CN" dirty="0"/>
              <a:t>Scrum Team </a:t>
            </a:r>
            <a:r>
              <a:rPr kumimoji="1" lang="zh-CN" altLang="en-US" dirty="0"/>
              <a:t>是跨职能的（</a:t>
            </a:r>
            <a:r>
              <a:rPr kumimoji="1" lang="en-US" altLang="zh-CN" dirty="0"/>
              <a:t>cross-functional</a:t>
            </a:r>
            <a:r>
              <a:rPr kumimoji="1" lang="zh-CN" altLang="en-US" dirty="0"/>
              <a:t>），这意味着团队成员具有在每个 </a:t>
            </a:r>
            <a:r>
              <a:rPr kumimoji="1" lang="en-US" altLang="zh-CN" dirty="0"/>
              <a:t>Sprint </a:t>
            </a:r>
            <a:r>
              <a:rPr kumimoji="1" lang="zh-CN" altLang="en-US" dirty="0"/>
              <a:t>中创造价值而所需的全部技能。</a:t>
            </a:r>
            <a:endParaRPr kumimoji="1" lang="en-US" altLang="zh-CN" dirty="0"/>
          </a:p>
          <a:p>
            <a:pPr lvl="1"/>
            <a:r>
              <a:rPr kumimoji="1" lang="zh-CN" altLang="en-US" dirty="0">
                <a:solidFill>
                  <a:srgbClr val="FF0000"/>
                </a:solidFill>
              </a:rPr>
              <a:t>完整技能闭环：具备端到端交付价值所需全部能力</a:t>
            </a:r>
            <a:endParaRPr kumimoji="1" lang="en-US" altLang="zh-CN" dirty="0">
              <a:solidFill>
                <a:srgbClr val="FF0000"/>
              </a:solidFill>
            </a:endParaRPr>
          </a:p>
          <a:p>
            <a:pPr marL="685800" lvl="2">
              <a:buFont typeface="Wingdings" panose="05000000000000000000" pitchFamily="2" charset="2"/>
              <a:buChar char="l"/>
            </a:pPr>
            <a:r>
              <a:rPr kumimoji="1" lang="zh-CN" altLang="en-US" sz="2400" dirty="0"/>
              <a:t>这意味着它不依赖于跟其他团队的工作交接，也不用等待其他团队的工作。</a:t>
            </a:r>
            <a:endParaRPr kumimoji="1" lang="en-US" altLang="zh-CN" sz="2400" dirty="0"/>
          </a:p>
          <a:p>
            <a:pPr marL="685800" lvl="2">
              <a:buFont typeface="Wingdings" panose="05000000000000000000" pitchFamily="2" charset="2"/>
              <a:buChar char="l"/>
            </a:pPr>
            <a:r>
              <a:rPr kumimoji="1" lang="zh-CN" altLang="en-US" sz="2400" dirty="0"/>
              <a:t>反例：职能团队，</a:t>
            </a:r>
            <a:r>
              <a:rPr kumimoji="1" lang="en-US" altLang="zh-CN" sz="2400" dirty="0"/>
              <a:t>U I</a:t>
            </a:r>
            <a:r>
              <a:rPr kumimoji="1" lang="zh-CN" altLang="en-US" sz="2400" dirty="0"/>
              <a:t>团队、业务逻辑团队、测试团队和数据团队等等。团队等待，责任扯皮，交流沟通成本剧增。</a:t>
            </a:r>
            <a:endParaRPr kumimoji="1" lang="en-US" altLang="zh-CN" sz="2400" dirty="0"/>
          </a:p>
          <a:p>
            <a:pPr marL="228600" lvl="1">
              <a:buFont typeface="Wingdings" panose="05000000000000000000" pitchFamily="2" charset="2"/>
              <a:buChar char="l"/>
            </a:pPr>
            <a:r>
              <a:rPr kumimoji="1" lang="zh-CN" altLang="en-US" sz="2800" dirty="0"/>
              <a:t>跨职能不是万能药：</a:t>
            </a:r>
            <a:r>
              <a:rPr kumimoji="1" lang="zh-CN" altLang="en-US" sz="2800" dirty="0">
                <a:solidFill>
                  <a:srgbClr val="FF0000"/>
                </a:solidFill>
              </a:rPr>
              <a:t>保持核心技能深度的同时，建立足够的协作带宽</a:t>
            </a:r>
            <a:r>
              <a:rPr kumimoji="1" lang="zh-CN" altLang="en-US" sz="2800" dirty="0"/>
              <a:t>。（不是要求每个人都成为全栈工程师）</a:t>
            </a:r>
            <a:endParaRPr kumimoji="1" lang="en-US" altLang="zh-CN" dirty="0">
              <a:solidFill>
                <a:srgbClr val="FF0000"/>
              </a:solidFill>
            </a:endParaRPr>
          </a:p>
          <a:p>
            <a:pPr lvl="1"/>
            <a:endParaRPr kumimoji="1" lang="zh-CN" altLang="en-US" dirty="0">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自管理的</a:t>
            </a:r>
            <a:r>
              <a:rPr kumimoji="1" lang="en-US" altLang="zh-CN" dirty="0"/>
              <a:t> Scrum</a:t>
            </a:r>
            <a:r>
              <a:rPr kumimoji="1" lang="zh-CN" altLang="en-US" dirty="0"/>
              <a:t> </a:t>
            </a:r>
            <a:r>
              <a:rPr kumimoji="1" lang="en-US" altLang="zh-CN" dirty="0"/>
              <a:t>Team</a:t>
            </a:r>
            <a:endParaRPr kumimoji="1" lang="zh-CN" altLang="en-US" dirty="0"/>
          </a:p>
        </p:txBody>
      </p:sp>
      <p:sp>
        <p:nvSpPr>
          <p:cNvPr id="4" name="内容占位符 3"/>
          <p:cNvSpPr>
            <a:spLocks noGrp="1"/>
          </p:cNvSpPr>
          <p:nvPr>
            <p:ph idx="1"/>
          </p:nvPr>
        </p:nvSpPr>
        <p:spPr>
          <a:xfrm>
            <a:off x="838200" y="1289956"/>
            <a:ext cx="4308798" cy="4887007"/>
          </a:xfrm>
        </p:spPr>
        <p:txBody>
          <a:bodyPr/>
          <a:lstStyle/>
          <a:p>
            <a:r>
              <a:rPr kumimoji="1" lang="zh-CN" altLang="en-US" dirty="0"/>
              <a:t>这意味着他们在团队内部决定谁做什么、何时做以及如何做。</a:t>
            </a:r>
            <a:endParaRPr kumimoji="1" lang="en-US" altLang="zh-CN" dirty="0"/>
          </a:p>
          <a:p>
            <a:r>
              <a:rPr kumimoji="1" lang="en-US" altLang="zh-CN" dirty="0"/>
              <a:t>Hackman </a:t>
            </a:r>
            <a:r>
              <a:rPr kumimoji="1" lang="zh-CN" altLang="en-US" dirty="0"/>
              <a:t>权力矩阵</a:t>
            </a:r>
            <a:endParaRPr kumimoji="1" lang="en-US" altLang="zh-CN" dirty="0"/>
          </a:p>
          <a:p>
            <a:endParaRPr kumimoji="1" lang="zh-CN" altLang="en-US" dirty="0"/>
          </a:p>
        </p:txBody>
      </p:sp>
      <p:pic>
        <p:nvPicPr>
          <p:cNvPr id="5" name="图像" descr="图像"/>
          <p:cNvPicPr>
            <a:picLocks noChangeAspect="1"/>
          </p:cNvPicPr>
          <p:nvPr/>
        </p:nvPicPr>
        <p:blipFill>
          <a:blip r:embed="rId1"/>
          <a:stretch>
            <a:fillRect/>
          </a:stretch>
        </p:blipFill>
        <p:spPr>
          <a:xfrm>
            <a:off x="5842324" y="1188431"/>
            <a:ext cx="5654350" cy="5371633"/>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8713"/>
            <a:ext cx="10321616" cy="523220"/>
          </a:xfrm>
        </p:spPr>
        <p:txBody>
          <a:bodyPr/>
          <a:lstStyle/>
          <a:p>
            <a:r>
              <a:rPr lang="zh-CN" altLang="en-US" sz="2800" dirty="0"/>
              <a:t>微观管理及其危害</a:t>
            </a:r>
            <a:endParaRPr kumimoji="1" lang="zh-CN" altLang="en-US" dirty="0"/>
          </a:p>
        </p:txBody>
      </p:sp>
      <p:sp>
        <p:nvSpPr>
          <p:cNvPr id="4" name="内容占位符 3"/>
          <p:cNvSpPr>
            <a:spLocks noGrp="1"/>
          </p:cNvSpPr>
          <p:nvPr>
            <p:ph idx="1"/>
          </p:nvPr>
        </p:nvSpPr>
        <p:spPr>
          <a:xfrm>
            <a:off x="838200" y="1289956"/>
            <a:ext cx="10515600" cy="5481813"/>
          </a:xfrm>
        </p:spPr>
        <p:txBody>
          <a:bodyPr>
            <a:normAutofit fontScale="77500" lnSpcReduction="20000"/>
          </a:bodyPr>
          <a:lstStyle/>
          <a:p>
            <a:r>
              <a:rPr kumimoji="1" lang="zh-CN" altLang="en-US" dirty="0"/>
              <a:t> 微观管理（</a:t>
            </a:r>
            <a:r>
              <a:rPr kumimoji="1" lang="en-GB" altLang="zh-CN" dirty="0"/>
              <a:t>Micromanagement</a:t>
            </a:r>
            <a:r>
              <a:rPr kumimoji="1" lang="zh-CN" altLang="en-GB" dirty="0"/>
              <a:t>）</a:t>
            </a:r>
            <a:r>
              <a:rPr kumimoji="1" lang="zh-CN" altLang="en-US" dirty="0"/>
              <a:t>一般是指：在对员工的工作管理中，管理者过度关注和控制工作细节的管理风格和管理行为。</a:t>
            </a:r>
            <a:endParaRPr kumimoji="1" lang="zh-CN" altLang="en-US" dirty="0"/>
          </a:p>
          <a:p>
            <a:r>
              <a:rPr kumimoji="1" lang="zh-CN" altLang="en-US" dirty="0"/>
              <a:t>客观地说，关注细节并非坏事。但是一旦过于关注和控制细节，就会带来种种问题：</a:t>
            </a:r>
            <a:endParaRPr kumimoji="1" lang="zh-CN" altLang="en-US" dirty="0"/>
          </a:p>
          <a:p>
            <a:pPr lvl="1"/>
            <a:r>
              <a:rPr kumimoji="1" lang="zh-CN" altLang="en-US" dirty="0"/>
              <a:t>第一，会导致团队成员失去主观能动性。由于完全沦为执行者，导致员工只能按照管理者的思路走，从而失去了自主性和创造力。</a:t>
            </a:r>
            <a:endParaRPr kumimoji="1" lang="zh-CN" altLang="en-US" dirty="0"/>
          </a:p>
          <a:p>
            <a:pPr lvl="1"/>
            <a:r>
              <a:rPr kumimoji="1" lang="zh-CN" altLang="en-US" dirty="0"/>
              <a:t>第二，会导致工作中出现决策等待和低效。当实际工作场景与管理者最初设想的不一致时，员工无法继续按照管理者最初的思路工作，就只能把问题反馈给管理者，等待管理者作出决策。</a:t>
            </a:r>
            <a:endParaRPr kumimoji="1" lang="zh-CN" altLang="en-US" dirty="0"/>
          </a:p>
          <a:p>
            <a:pPr lvl="1"/>
            <a:r>
              <a:rPr kumimoji="1" lang="zh-CN" altLang="en-US" dirty="0"/>
              <a:t>第三，会影响到团队的积极性和士气。由于团队成员经常处于要向管理者汇报的压力中，经常处于被管理者纠偏的状态，很容易让团队成员感到不自信和缺乏成就感。</a:t>
            </a:r>
            <a:endParaRPr kumimoji="1" lang="zh-CN" altLang="en-US" dirty="0"/>
          </a:p>
          <a:p>
            <a:r>
              <a:rPr kumimoji="1" lang="zh-CN" altLang="en-US" dirty="0"/>
              <a:t>例子：设计师调整像素需要邮件审批，程序员每半小时汇报代码行数，这就像让交响乐指挥去纠正小提琴手的每个运弓动作。微观管理本质上是管理精度的失控，把导航仪变成了方向盘控制器。</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328713"/>
            <a:ext cx="10321616" cy="523220"/>
          </a:xfrm>
        </p:spPr>
        <p:txBody>
          <a:bodyPr/>
          <a:lstStyle/>
          <a:p>
            <a:r>
              <a:rPr lang="zh-CN" altLang="en-US" sz="2800" dirty="0"/>
              <a:t>“自管理”和“自组织”</a:t>
            </a:r>
            <a:endParaRPr kumimoji="1" lang="zh-CN" altLang="en-US" dirty="0"/>
          </a:p>
        </p:txBody>
      </p:sp>
      <p:sp>
        <p:nvSpPr>
          <p:cNvPr id="4" name="内容占位符 3"/>
          <p:cNvSpPr>
            <a:spLocks noGrp="1"/>
          </p:cNvSpPr>
          <p:nvPr>
            <p:ph idx="1"/>
          </p:nvPr>
        </p:nvSpPr>
        <p:spPr>
          <a:xfrm>
            <a:off x="838200" y="1289956"/>
            <a:ext cx="10515600" cy="5481813"/>
          </a:xfrm>
        </p:spPr>
        <p:txBody>
          <a:bodyPr>
            <a:normAutofit fontScale="92500" lnSpcReduction="20000"/>
          </a:bodyPr>
          <a:lstStyle/>
          <a:p>
            <a:r>
              <a:rPr kumimoji="1" lang="zh-CN" altLang="en-US" dirty="0"/>
              <a:t>自管理（</a:t>
            </a:r>
            <a:r>
              <a:rPr kumimoji="1" lang="en-US" altLang="zh-CN" dirty="0"/>
              <a:t>Self-Management</a:t>
            </a:r>
            <a:r>
              <a:rPr kumimoji="1" lang="zh-CN" altLang="en-US" dirty="0"/>
              <a:t>）</a:t>
            </a:r>
            <a:endParaRPr kumimoji="1" lang="zh-CN" altLang="en-US" dirty="0"/>
          </a:p>
          <a:p>
            <a:pPr lvl="1"/>
            <a:r>
              <a:rPr kumimoji="1" lang="zh-CN" altLang="en-US" dirty="0"/>
              <a:t>指个体或团队在明确目标下，通过自我规划、自我监督、自我调整等方式，自主完成任务的机制。例如：个人时间管理、团队自主决策项目分工。</a:t>
            </a:r>
            <a:endParaRPr kumimoji="1" lang="zh-CN" altLang="en-US" dirty="0"/>
          </a:p>
          <a:p>
            <a:pPr lvl="1"/>
            <a:r>
              <a:rPr kumimoji="1" lang="zh-CN" altLang="en-US" dirty="0"/>
              <a:t>核心：对“行为”的自主控制，强调个体或小单元的主动性和责任感。</a:t>
            </a:r>
            <a:endParaRPr kumimoji="1" lang="zh-CN" altLang="en-US" dirty="0"/>
          </a:p>
          <a:p>
            <a:r>
              <a:rPr kumimoji="1" lang="zh-CN" altLang="en-US" dirty="0"/>
              <a:t>自组织（</a:t>
            </a:r>
            <a:r>
              <a:rPr kumimoji="1" lang="en-US" altLang="zh-CN" dirty="0"/>
              <a:t>Self-Organization</a:t>
            </a:r>
            <a:r>
              <a:rPr kumimoji="1" lang="zh-CN" altLang="en-US" dirty="0"/>
              <a:t>）</a:t>
            </a:r>
            <a:endParaRPr kumimoji="1" lang="zh-CN" altLang="en-US" dirty="0"/>
          </a:p>
          <a:p>
            <a:pPr lvl="1"/>
            <a:r>
              <a:rPr kumimoji="1" lang="zh-CN" altLang="en-US" dirty="0"/>
              <a:t>指复杂系统（如生态系统、社会组织）在没有外部指令干预的情况下，通过内部成员或元素的互动，自发形成有序结构和功能的过程。例如：蚂蚁群体的协作、开源社区的演化</a:t>
            </a:r>
            <a:r>
              <a:rPr kumimoji="1" lang="en-US" altLang="zh-CN" dirty="0"/>
              <a:t>;</a:t>
            </a:r>
            <a:r>
              <a:rPr kumimoji="1" lang="zh-CN" altLang="en-US" dirty="0"/>
              <a:t>维基百科内容由用户自发编辑完善，形成知识网络。</a:t>
            </a:r>
            <a:endParaRPr kumimoji="1" lang="zh-CN" altLang="en-US" dirty="0"/>
          </a:p>
          <a:p>
            <a:pPr lvl="1"/>
            <a:r>
              <a:rPr kumimoji="1" lang="zh-CN" altLang="en-US" dirty="0"/>
              <a:t>核心：系统层面的“结构或秩序”自发涌现，强调整体动态适应性。</a:t>
            </a:r>
            <a:endParaRPr kumimoji="1" lang="en-US" altLang="zh-CN" dirty="0"/>
          </a:p>
          <a:p>
            <a:r>
              <a:rPr kumimoji="1" lang="zh-CN" altLang="en-US" dirty="0"/>
              <a:t>均强调“去中心化”和“自主性”，反对僵化的外部控制，注重灵活性和适应性。</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Developers</a:t>
            </a:r>
            <a:endParaRPr kumimoji="1" lang="zh-CN" altLang="en-US" dirty="0"/>
          </a:p>
        </p:txBody>
      </p:sp>
      <p:sp>
        <p:nvSpPr>
          <p:cNvPr id="4" name="内容占位符 3"/>
          <p:cNvSpPr>
            <a:spLocks noGrp="1"/>
          </p:cNvSpPr>
          <p:nvPr>
            <p:ph idx="1"/>
          </p:nvPr>
        </p:nvSpPr>
        <p:spPr/>
        <p:txBody>
          <a:bodyPr>
            <a:normAutofit/>
          </a:bodyPr>
          <a:lstStyle/>
          <a:p>
            <a:r>
              <a:rPr kumimoji="1" lang="en-US" altLang="zh-CN" dirty="0"/>
              <a:t>Developers </a:t>
            </a:r>
            <a:r>
              <a:rPr kumimoji="1" lang="zh-CN" altLang="en-US" dirty="0"/>
              <a:t>是 </a:t>
            </a:r>
            <a:r>
              <a:rPr kumimoji="1" lang="en-US" altLang="zh-CN" dirty="0"/>
              <a:t>Scrum Team </a:t>
            </a:r>
            <a:r>
              <a:rPr kumimoji="1" lang="zh-CN" altLang="en-US" dirty="0"/>
              <a:t>中致力于创建每个 </a:t>
            </a:r>
            <a:r>
              <a:rPr kumimoji="1" lang="en-US" altLang="zh-CN" dirty="0"/>
              <a:t>Sprint </a:t>
            </a:r>
            <a:r>
              <a:rPr kumimoji="1" lang="zh-CN" altLang="en-US" dirty="0"/>
              <a:t>可用 </a:t>
            </a:r>
            <a:r>
              <a:rPr kumimoji="1" lang="en-US" altLang="zh-CN" dirty="0"/>
              <a:t>Increment </a:t>
            </a:r>
            <a:r>
              <a:rPr kumimoji="1" lang="zh-CN" altLang="en-US" dirty="0"/>
              <a:t>的任何方面的人员。</a:t>
            </a:r>
            <a:endParaRPr kumimoji="1" lang="zh-CN" altLang="en-US" dirty="0"/>
          </a:p>
          <a:p>
            <a:r>
              <a:rPr kumimoji="1" lang="en-US" altLang="zh-CN" dirty="0"/>
              <a:t>Developers </a:t>
            </a:r>
            <a:r>
              <a:rPr kumimoji="1" lang="zh-CN" altLang="en-US" dirty="0"/>
              <a:t>所需的特定技能通常很广泛，并且会随着工作领域的不同而变化。但是， </a:t>
            </a:r>
            <a:r>
              <a:rPr kumimoji="1" lang="en-US" altLang="zh-CN" dirty="0"/>
              <a:t>Developers</a:t>
            </a:r>
            <a:r>
              <a:rPr kumimoji="1" lang="zh-CN" altLang="en-US" dirty="0"/>
              <a:t>始终要负责：</a:t>
            </a:r>
            <a:endParaRPr kumimoji="1" lang="zh-CN" altLang="en-US" dirty="0"/>
          </a:p>
          <a:p>
            <a:pPr lvl="1"/>
            <a:r>
              <a:rPr kumimoji="1" lang="zh-CN" altLang="en-US" dirty="0"/>
              <a:t>为 </a:t>
            </a:r>
            <a:r>
              <a:rPr kumimoji="1" lang="en-US" altLang="zh-CN" dirty="0"/>
              <a:t>Sprint </a:t>
            </a:r>
            <a:r>
              <a:rPr kumimoji="1" lang="zh-CN" altLang="en-US" dirty="0"/>
              <a:t>创建计划，即 </a:t>
            </a:r>
            <a:r>
              <a:rPr kumimoji="1" lang="en-US" altLang="zh-CN" dirty="0"/>
              <a:t>Sprint Backlog</a:t>
            </a:r>
            <a:r>
              <a:rPr kumimoji="1" lang="zh-CN" altLang="en-US" dirty="0"/>
              <a:t>；</a:t>
            </a:r>
            <a:endParaRPr kumimoji="1" lang="zh-CN" altLang="en-US" dirty="0"/>
          </a:p>
          <a:p>
            <a:pPr lvl="1"/>
            <a:r>
              <a:rPr kumimoji="1" lang="zh-CN" altLang="en-US" dirty="0"/>
              <a:t>通过遵循 </a:t>
            </a:r>
            <a:r>
              <a:rPr kumimoji="1" lang="en-US" altLang="zh-CN" dirty="0"/>
              <a:t>Definition of Done </a:t>
            </a:r>
            <a:r>
              <a:rPr kumimoji="1" lang="zh-CN" altLang="en-US" dirty="0"/>
              <a:t>来注入质量；</a:t>
            </a:r>
            <a:endParaRPr kumimoji="1" lang="zh-CN" altLang="en-US" dirty="0"/>
          </a:p>
          <a:p>
            <a:pPr lvl="1"/>
            <a:r>
              <a:rPr kumimoji="1" lang="zh-CN" altLang="en-US" dirty="0"/>
              <a:t>每天根据 </a:t>
            </a:r>
            <a:r>
              <a:rPr kumimoji="1" lang="en-US" altLang="zh-CN" dirty="0"/>
              <a:t>Sprint Goal </a:t>
            </a:r>
            <a:r>
              <a:rPr kumimoji="1" lang="zh-CN" altLang="en-US" dirty="0"/>
              <a:t>调整计划； 和，</a:t>
            </a:r>
            <a:endParaRPr kumimoji="1" lang="zh-CN" altLang="en-US" dirty="0"/>
          </a:p>
          <a:p>
            <a:pPr lvl="1"/>
            <a:r>
              <a:rPr kumimoji="1" lang="zh-CN" altLang="en-US" dirty="0"/>
              <a:t>作为专业人士对彼此负责。</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Product Owner</a:t>
            </a:r>
            <a:endParaRPr kumimoji="1" lang="zh-CN" altLang="en-US" dirty="0"/>
          </a:p>
        </p:txBody>
      </p:sp>
      <p:sp>
        <p:nvSpPr>
          <p:cNvPr id="4" name="内容占位符 3"/>
          <p:cNvSpPr>
            <a:spLocks noGrp="1"/>
          </p:cNvSpPr>
          <p:nvPr>
            <p:ph idx="1"/>
          </p:nvPr>
        </p:nvSpPr>
        <p:spPr/>
        <p:txBody>
          <a:bodyPr>
            <a:normAutofit/>
          </a:bodyPr>
          <a:lstStyle/>
          <a:p>
            <a:r>
              <a:rPr kumimoji="1" lang="en-US" altLang="zh-CN" dirty="0"/>
              <a:t>Product Owner </a:t>
            </a:r>
            <a:r>
              <a:rPr kumimoji="1" lang="zh-CN" altLang="en-US" dirty="0"/>
              <a:t>负责将 </a:t>
            </a:r>
            <a:r>
              <a:rPr kumimoji="1" lang="en-US" altLang="zh-CN" dirty="0"/>
              <a:t>Scrum Team </a:t>
            </a:r>
            <a:r>
              <a:rPr kumimoji="1" lang="zh-CN" altLang="en-US" dirty="0"/>
              <a:t>的工作所产生的产品价值最大化。 如何做到这一点可能在组织、</a:t>
            </a:r>
            <a:r>
              <a:rPr kumimoji="1" lang="en-US" altLang="zh-CN" dirty="0"/>
              <a:t>Scrum Team </a:t>
            </a:r>
            <a:r>
              <a:rPr kumimoji="1" lang="zh-CN" altLang="en-US" dirty="0"/>
              <a:t>和个体之间存在很大差异。</a:t>
            </a:r>
            <a:endParaRPr kumimoji="1" lang="zh-CN" altLang="en-US" dirty="0"/>
          </a:p>
          <a:p>
            <a:r>
              <a:rPr kumimoji="1" lang="en-US" altLang="zh-CN" dirty="0"/>
              <a:t>Product Owner </a:t>
            </a:r>
            <a:r>
              <a:rPr kumimoji="1" lang="zh-CN" altLang="en-US" dirty="0"/>
              <a:t>还负责对 </a:t>
            </a:r>
            <a:r>
              <a:rPr kumimoji="1" lang="en-US" altLang="zh-CN" dirty="0"/>
              <a:t>Product Backlog </a:t>
            </a:r>
            <a:r>
              <a:rPr kumimoji="1" lang="zh-CN" altLang="en-US" dirty="0"/>
              <a:t>进行有效管理，包括：</a:t>
            </a:r>
            <a:endParaRPr kumimoji="1" lang="zh-CN" altLang="en-US" dirty="0"/>
          </a:p>
          <a:p>
            <a:pPr lvl="1"/>
            <a:r>
              <a:rPr kumimoji="1" lang="zh-CN" altLang="en-US" dirty="0"/>
              <a:t>开发并明确地沟通 </a:t>
            </a:r>
            <a:r>
              <a:rPr kumimoji="1" lang="en-US" altLang="zh-CN" dirty="0"/>
              <a:t>Product Goal </a:t>
            </a:r>
            <a:r>
              <a:rPr kumimoji="1" lang="zh-CN" altLang="en-US" dirty="0"/>
              <a:t>；</a:t>
            </a:r>
            <a:endParaRPr kumimoji="1" lang="zh-CN" altLang="en-US" dirty="0"/>
          </a:p>
          <a:p>
            <a:pPr lvl="1"/>
            <a:r>
              <a:rPr kumimoji="1" lang="zh-CN" altLang="en-US" dirty="0"/>
              <a:t>创建并清晰地沟通 </a:t>
            </a:r>
            <a:r>
              <a:rPr kumimoji="1" lang="en-US" altLang="zh-CN" dirty="0"/>
              <a:t>Product Backlog </a:t>
            </a:r>
            <a:r>
              <a:rPr kumimoji="1" lang="zh-CN" altLang="en-US" dirty="0"/>
              <a:t>条目（</a:t>
            </a:r>
            <a:r>
              <a:rPr kumimoji="1" lang="en-US" altLang="zh-CN" dirty="0"/>
              <a:t>items</a:t>
            </a:r>
            <a:r>
              <a:rPr kumimoji="1" lang="zh-CN" altLang="en-US" dirty="0"/>
              <a:t>）；</a:t>
            </a:r>
            <a:endParaRPr kumimoji="1" lang="zh-CN" altLang="en-US" dirty="0"/>
          </a:p>
          <a:p>
            <a:pPr lvl="1"/>
            <a:r>
              <a:rPr kumimoji="1" lang="zh-CN" altLang="en-US" dirty="0"/>
              <a:t>对 </a:t>
            </a:r>
            <a:r>
              <a:rPr kumimoji="1" lang="en-US" altLang="zh-CN" dirty="0"/>
              <a:t>Product Backlog </a:t>
            </a:r>
            <a:r>
              <a:rPr kumimoji="1" lang="zh-CN" altLang="en-US" dirty="0"/>
              <a:t>条目进行排序； 和，</a:t>
            </a:r>
            <a:endParaRPr kumimoji="1" lang="zh-CN" altLang="en-US" dirty="0"/>
          </a:p>
          <a:p>
            <a:pPr lvl="1"/>
            <a:r>
              <a:rPr kumimoji="1" lang="zh-CN" altLang="en-US" dirty="0"/>
              <a:t>确保 </a:t>
            </a:r>
            <a:r>
              <a:rPr kumimoji="1" lang="en-US" altLang="zh-CN" dirty="0"/>
              <a:t>Product Backlog </a:t>
            </a:r>
            <a:r>
              <a:rPr kumimoji="1" lang="zh-CN" altLang="en-US" dirty="0"/>
              <a:t>是透明的、可见的和可理解的。</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normAutofit fontScale="92500"/>
          </a:bodyPr>
          <a:lstStyle/>
          <a:p>
            <a:r>
              <a:rPr kumimoji="1" lang="en-US" altLang="zh-CN" dirty="0"/>
              <a:t>Product Owner </a:t>
            </a:r>
            <a:r>
              <a:rPr kumimoji="1" lang="zh-CN" altLang="en-US" dirty="0"/>
              <a:t>可以自己做上述工作，或者也可以将职责委托他人。 然而无论如何， </a:t>
            </a:r>
            <a:r>
              <a:rPr kumimoji="1" lang="en-US" altLang="zh-CN" dirty="0"/>
              <a:t>Product</a:t>
            </a:r>
            <a:r>
              <a:rPr kumimoji="1" lang="zh-CN" altLang="en-US" dirty="0"/>
              <a:t> </a:t>
            </a:r>
            <a:r>
              <a:rPr kumimoji="1" lang="en-US" altLang="zh-CN" dirty="0"/>
              <a:t>Owner </a:t>
            </a:r>
            <a:r>
              <a:rPr kumimoji="1" lang="zh-CN" altLang="en-US" dirty="0"/>
              <a:t>是负最终责任的人。</a:t>
            </a:r>
            <a:endParaRPr kumimoji="1" lang="zh-CN" altLang="en-US" dirty="0"/>
          </a:p>
          <a:p>
            <a:r>
              <a:rPr kumimoji="1" lang="zh-CN" altLang="en-US" dirty="0"/>
              <a:t>为保证 </a:t>
            </a:r>
            <a:r>
              <a:rPr kumimoji="1" lang="en-US" altLang="zh-CN" dirty="0"/>
              <a:t>Product Owner </a:t>
            </a:r>
            <a:r>
              <a:rPr kumimoji="1" lang="zh-CN" altLang="en-US" dirty="0"/>
              <a:t>取得成功，整个组织必须尊重他们的决定。这些决定在 </a:t>
            </a:r>
            <a:r>
              <a:rPr kumimoji="1" lang="en-US" altLang="zh-CN" dirty="0"/>
              <a:t>Product Backlog </a:t>
            </a:r>
            <a:r>
              <a:rPr kumimoji="1" lang="zh-CN" altLang="en-US" dirty="0"/>
              <a:t>的内容和顺序中可见，并在 </a:t>
            </a:r>
            <a:r>
              <a:rPr kumimoji="1" lang="en-US" altLang="zh-CN" dirty="0"/>
              <a:t>Sprint Review </a:t>
            </a:r>
            <a:r>
              <a:rPr kumimoji="1" lang="zh-CN" altLang="en-US" dirty="0"/>
              <a:t>时透过可检视的 </a:t>
            </a:r>
            <a:r>
              <a:rPr kumimoji="1" lang="en-US" altLang="zh-CN" dirty="0"/>
              <a:t>Increment </a:t>
            </a:r>
            <a:r>
              <a:rPr kumimoji="1" lang="zh-CN" altLang="en-US" dirty="0"/>
              <a:t>予以体现。</a:t>
            </a:r>
            <a:endParaRPr kumimoji="1" lang="zh-CN" altLang="en-US" dirty="0"/>
          </a:p>
          <a:p>
            <a:r>
              <a:rPr kumimoji="1" lang="en-US" altLang="zh-CN" dirty="0">
                <a:solidFill>
                  <a:srgbClr val="FF0000"/>
                </a:solidFill>
              </a:rPr>
              <a:t>Product Owner </a:t>
            </a:r>
            <a:r>
              <a:rPr kumimoji="1" lang="zh-CN" altLang="en-US" dirty="0">
                <a:solidFill>
                  <a:srgbClr val="FF0000"/>
                </a:solidFill>
              </a:rPr>
              <a:t>是一个人，而不是一个委员会</a:t>
            </a:r>
            <a:r>
              <a:rPr kumimoji="1" lang="zh-CN" altLang="en-US" dirty="0"/>
              <a:t>。在 </a:t>
            </a:r>
            <a:r>
              <a:rPr kumimoji="1" lang="en-US" altLang="zh-CN" dirty="0"/>
              <a:t>Product Backlog </a:t>
            </a:r>
            <a:r>
              <a:rPr kumimoji="1" lang="zh-CN" altLang="en-US" dirty="0"/>
              <a:t>中，</a:t>
            </a:r>
            <a:r>
              <a:rPr kumimoji="1" lang="en-US" altLang="zh-CN" dirty="0"/>
              <a:t>Product Owner </a:t>
            </a:r>
            <a:r>
              <a:rPr kumimoji="1" lang="zh-CN" altLang="en-US" dirty="0"/>
              <a:t>可以代表许多利益攸关者的期望要求。那些想要改变 </a:t>
            </a:r>
            <a:r>
              <a:rPr kumimoji="1" lang="en-US" altLang="zh-CN" dirty="0"/>
              <a:t>Product Backlog </a:t>
            </a:r>
            <a:r>
              <a:rPr kumimoji="1" lang="zh-CN" altLang="en-US" dirty="0"/>
              <a:t>的人可以尝试去说服 </a:t>
            </a:r>
            <a:r>
              <a:rPr kumimoji="1" lang="en-US" altLang="zh-CN" dirty="0"/>
              <a:t>Product Owner </a:t>
            </a:r>
            <a:r>
              <a:rPr kumimoji="1" lang="zh-CN" altLang="en-US" dirty="0"/>
              <a:t>来做到这一点。</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 Master</a:t>
            </a:r>
            <a:endParaRPr kumimoji="1" lang="zh-CN" altLang="en-US" dirty="0"/>
          </a:p>
        </p:txBody>
      </p:sp>
      <p:sp>
        <p:nvSpPr>
          <p:cNvPr id="4" name="内容占位符 3"/>
          <p:cNvSpPr>
            <a:spLocks noGrp="1"/>
          </p:cNvSpPr>
          <p:nvPr>
            <p:ph idx="1"/>
          </p:nvPr>
        </p:nvSpPr>
        <p:spPr/>
        <p:txBody>
          <a:bodyPr>
            <a:normAutofit/>
          </a:bodyPr>
          <a:lstStyle/>
          <a:p>
            <a:r>
              <a:rPr kumimoji="1" lang="en-US" altLang="zh-CN" dirty="0"/>
              <a:t>Scrum Master </a:t>
            </a:r>
            <a:r>
              <a:rPr kumimoji="1" lang="zh-CN" altLang="en-US" dirty="0"/>
              <a:t>负责按照 </a:t>
            </a:r>
            <a:r>
              <a:rPr kumimoji="1" lang="en-US" altLang="zh-CN" dirty="0"/>
              <a:t>Scrum </a:t>
            </a:r>
            <a:r>
              <a:rPr kumimoji="1" lang="zh-CN" altLang="en-US" dirty="0"/>
              <a:t>指南的游戏规则来建立 </a:t>
            </a:r>
            <a:r>
              <a:rPr kumimoji="1" lang="en-US" altLang="zh-CN" dirty="0"/>
              <a:t>Scrum</a:t>
            </a:r>
            <a:r>
              <a:rPr kumimoji="1" lang="zh-CN" altLang="en-US" dirty="0"/>
              <a:t>。他们通过帮助 </a:t>
            </a:r>
            <a:r>
              <a:rPr kumimoji="1" lang="en-US" altLang="zh-CN" dirty="0"/>
              <a:t>Scrum Team </a:t>
            </a:r>
            <a:r>
              <a:rPr kumimoji="1" lang="zh-CN" altLang="en-US" dirty="0"/>
              <a:t>和组织内的每个人理解 </a:t>
            </a:r>
            <a:r>
              <a:rPr kumimoji="1" lang="en-US" altLang="zh-CN" dirty="0"/>
              <a:t>Scrum </a:t>
            </a:r>
            <a:r>
              <a:rPr kumimoji="1" lang="zh-CN" altLang="en-US" dirty="0"/>
              <a:t>理论和实践来做到这一点。</a:t>
            </a:r>
            <a:endParaRPr kumimoji="1" lang="zh-CN" altLang="en-US" dirty="0"/>
          </a:p>
          <a:p>
            <a:r>
              <a:rPr kumimoji="1" lang="en-US" altLang="zh-CN" dirty="0"/>
              <a:t>Scrum Master </a:t>
            </a:r>
            <a:r>
              <a:rPr kumimoji="1" lang="zh-CN" altLang="en-US" dirty="0"/>
              <a:t>对 </a:t>
            </a:r>
            <a:r>
              <a:rPr kumimoji="1" lang="en-US" altLang="zh-CN" dirty="0"/>
              <a:t>Scrum Team </a:t>
            </a:r>
            <a:r>
              <a:rPr kumimoji="1" lang="zh-CN" altLang="en-US" dirty="0"/>
              <a:t>的效能负责。他们通过让 </a:t>
            </a:r>
            <a:r>
              <a:rPr kumimoji="1" lang="en-US" altLang="zh-CN" dirty="0"/>
              <a:t>Scrum Team </a:t>
            </a:r>
            <a:r>
              <a:rPr kumimoji="1" lang="zh-CN" altLang="en-US" dirty="0"/>
              <a:t>在 </a:t>
            </a:r>
            <a:r>
              <a:rPr kumimoji="1" lang="en-US" altLang="zh-CN" dirty="0"/>
              <a:t>Scrum </a:t>
            </a:r>
            <a:r>
              <a:rPr kumimoji="1" lang="zh-CN" altLang="en-US" dirty="0"/>
              <a:t>框架内改进其实践来做到这一点。</a:t>
            </a:r>
            <a:endParaRPr kumimoji="1" lang="zh-CN" altLang="en-US" dirty="0"/>
          </a:p>
          <a:p>
            <a:r>
              <a:rPr kumimoji="1" lang="en-US" altLang="zh-CN" dirty="0">
                <a:solidFill>
                  <a:srgbClr val="FF0000"/>
                </a:solidFill>
              </a:rPr>
              <a:t>Scrum Masters </a:t>
            </a:r>
            <a:r>
              <a:rPr kumimoji="1" lang="zh-CN" altLang="en-US" dirty="0">
                <a:solidFill>
                  <a:srgbClr val="FF0000"/>
                </a:solidFill>
              </a:rPr>
              <a:t>是真正的领导者（服务者，仆人？）</a:t>
            </a:r>
            <a:r>
              <a:rPr kumimoji="1" lang="zh-CN" altLang="en-US" dirty="0"/>
              <a:t>，服务于 </a:t>
            </a:r>
            <a:r>
              <a:rPr kumimoji="1" lang="en-US" altLang="zh-CN" dirty="0"/>
              <a:t>Scrum Team </a:t>
            </a:r>
            <a:r>
              <a:rPr kumimoji="1" lang="zh-CN" altLang="en-US" dirty="0"/>
              <a:t>和作为更大范围的组织。</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normAutofit/>
          </a:bodyPr>
          <a:lstStyle/>
          <a:p>
            <a:r>
              <a:rPr kumimoji="1" lang="en-US" altLang="zh-CN" dirty="0"/>
              <a:t>Scrum Master </a:t>
            </a:r>
            <a:r>
              <a:rPr kumimoji="1" lang="zh-CN" altLang="en-US" dirty="0"/>
              <a:t>以多种方式服务于 </a:t>
            </a:r>
            <a:r>
              <a:rPr kumimoji="1" lang="en-US" altLang="zh-CN" dirty="0"/>
              <a:t>Scrum Team </a:t>
            </a:r>
            <a:r>
              <a:rPr kumimoji="1" lang="zh-CN" altLang="en-US" dirty="0"/>
              <a:t>，包括：</a:t>
            </a:r>
            <a:endParaRPr kumimoji="1" lang="zh-CN" altLang="en-US" dirty="0"/>
          </a:p>
          <a:p>
            <a:pPr lvl="1"/>
            <a:r>
              <a:rPr kumimoji="1" lang="zh-CN" altLang="en-US" dirty="0"/>
              <a:t>作为教练在自管理和跨职能方面辅导 </a:t>
            </a:r>
            <a:r>
              <a:rPr kumimoji="1" lang="en-US" altLang="zh-CN" dirty="0"/>
              <a:t>Scrum Team </a:t>
            </a:r>
            <a:r>
              <a:rPr kumimoji="1" lang="zh-CN" altLang="en-US" dirty="0"/>
              <a:t>成员；</a:t>
            </a:r>
            <a:endParaRPr kumimoji="1" lang="zh-CN" altLang="en-US" dirty="0"/>
          </a:p>
          <a:p>
            <a:pPr lvl="1"/>
            <a:r>
              <a:rPr kumimoji="1" lang="zh-CN" altLang="en-US" dirty="0"/>
              <a:t>帮助 </a:t>
            </a:r>
            <a:r>
              <a:rPr kumimoji="1" lang="en-US" altLang="zh-CN" dirty="0"/>
              <a:t>Scrum Team </a:t>
            </a:r>
            <a:r>
              <a:rPr kumimoji="1" lang="zh-CN" altLang="en-US" dirty="0"/>
              <a:t>专注于创建符合 </a:t>
            </a:r>
            <a:r>
              <a:rPr kumimoji="1" lang="en-US" altLang="zh-CN" dirty="0"/>
              <a:t>Definition of Done </a:t>
            </a:r>
            <a:r>
              <a:rPr kumimoji="1" lang="zh-CN" altLang="en-US" dirty="0"/>
              <a:t>的高价值 </a:t>
            </a:r>
            <a:r>
              <a:rPr kumimoji="1" lang="en-US" altLang="zh-CN" dirty="0"/>
              <a:t>Increment</a:t>
            </a:r>
            <a:r>
              <a:rPr kumimoji="1" lang="zh-CN" altLang="en-US" dirty="0"/>
              <a:t>；</a:t>
            </a:r>
            <a:endParaRPr kumimoji="1" lang="zh-CN" altLang="en-US" dirty="0"/>
          </a:p>
          <a:p>
            <a:pPr lvl="1"/>
            <a:r>
              <a:rPr kumimoji="1" lang="zh-CN" altLang="en-US" dirty="0"/>
              <a:t>促使移除 </a:t>
            </a:r>
            <a:r>
              <a:rPr kumimoji="1" lang="en-US" altLang="zh-CN" dirty="0"/>
              <a:t>Scrum Team </a:t>
            </a:r>
            <a:r>
              <a:rPr kumimoji="1" lang="zh-CN" altLang="en-US" dirty="0"/>
              <a:t>工作进展中的障碍；和，</a:t>
            </a:r>
            <a:endParaRPr kumimoji="1" lang="zh-CN" altLang="en-US" dirty="0"/>
          </a:p>
          <a:p>
            <a:pPr lvl="1"/>
            <a:r>
              <a:rPr kumimoji="1" lang="zh-CN" altLang="en-US" dirty="0"/>
              <a:t>确保所有 </a:t>
            </a:r>
            <a:r>
              <a:rPr kumimoji="1" lang="en-US" altLang="zh-CN" dirty="0"/>
              <a:t>Scrum </a:t>
            </a:r>
            <a:r>
              <a:rPr kumimoji="1" lang="zh-CN" altLang="en-US" dirty="0"/>
              <a:t>事件都发生并且是积极的、富有成效的，并且在时间盒（</a:t>
            </a:r>
            <a:r>
              <a:rPr kumimoji="1" lang="en-US" altLang="zh-CN" dirty="0"/>
              <a:t>timebox</a:t>
            </a:r>
            <a:r>
              <a:rPr kumimoji="1" lang="zh-CN" altLang="en-US" dirty="0"/>
              <a:t>）内完成。</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normAutofit/>
          </a:bodyPr>
          <a:lstStyle/>
          <a:p>
            <a:r>
              <a:rPr kumimoji="1" lang="en-US" altLang="zh-CN" dirty="0"/>
              <a:t>Scrum Master </a:t>
            </a:r>
            <a:r>
              <a:rPr kumimoji="1" lang="zh-CN" altLang="en-US" dirty="0"/>
              <a:t>以多种方式服务于 </a:t>
            </a:r>
            <a:r>
              <a:rPr kumimoji="1" lang="en-US" altLang="zh-CN" dirty="0"/>
              <a:t>Product Owner</a:t>
            </a:r>
            <a:r>
              <a:rPr kumimoji="1" lang="zh-CN" altLang="en-US" dirty="0"/>
              <a:t>，包括：</a:t>
            </a:r>
            <a:endParaRPr kumimoji="1" lang="zh-CN" altLang="en-US" dirty="0"/>
          </a:p>
          <a:p>
            <a:pPr lvl="1"/>
            <a:r>
              <a:rPr kumimoji="1" lang="zh-CN" altLang="en-US" dirty="0"/>
              <a:t>帮助找到有效定义 </a:t>
            </a:r>
            <a:r>
              <a:rPr kumimoji="1" lang="en-US" altLang="zh-CN" dirty="0"/>
              <a:t>Product Goal </a:t>
            </a:r>
            <a:r>
              <a:rPr kumimoji="1" lang="zh-CN" altLang="en-US" dirty="0"/>
              <a:t>和管理 </a:t>
            </a:r>
            <a:r>
              <a:rPr kumimoji="1" lang="en-US" altLang="zh-CN" dirty="0"/>
              <a:t>Product Backlog </a:t>
            </a:r>
            <a:r>
              <a:rPr kumimoji="1" lang="zh-CN" altLang="en-US" dirty="0"/>
              <a:t>的技巧；</a:t>
            </a:r>
            <a:endParaRPr kumimoji="1" lang="zh-CN" altLang="en-US" dirty="0"/>
          </a:p>
          <a:p>
            <a:pPr lvl="1"/>
            <a:r>
              <a:rPr kumimoji="1" lang="zh-CN" altLang="en-US" dirty="0"/>
              <a:t>帮助 </a:t>
            </a:r>
            <a:r>
              <a:rPr kumimoji="1" lang="en-US" altLang="zh-CN" dirty="0"/>
              <a:t>Scrum Team </a:t>
            </a:r>
            <a:r>
              <a:rPr kumimoji="1" lang="zh-CN" altLang="en-US" dirty="0"/>
              <a:t>理解为何需要清晰且简明的 </a:t>
            </a:r>
            <a:r>
              <a:rPr kumimoji="1" lang="en-US" altLang="zh-CN" dirty="0"/>
              <a:t>Product Backlog </a:t>
            </a:r>
            <a:r>
              <a:rPr kumimoji="1" lang="zh-CN" altLang="en-US" dirty="0"/>
              <a:t>条目；</a:t>
            </a:r>
            <a:endParaRPr kumimoji="1" lang="zh-CN" altLang="en-US" dirty="0"/>
          </a:p>
          <a:p>
            <a:pPr lvl="1"/>
            <a:r>
              <a:rPr kumimoji="1" lang="zh-CN" altLang="en-US" dirty="0"/>
              <a:t>帮助建立针对复杂环境的基于经验主义的产品规划（</a:t>
            </a:r>
            <a:r>
              <a:rPr kumimoji="1" lang="en-US" altLang="zh-CN" dirty="0"/>
              <a:t>empirical product planning</a:t>
            </a:r>
            <a:r>
              <a:rPr kumimoji="1" lang="zh-CN" altLang="en-US" dirty="0"/>
              <a:t>）；和，</a:t>
            </a:r>
            <a:endParaRPr kumimoji="1" lang="zh-CN" altLang="en-US" dirty="0"/>
          </a:p>
          <a:p>
            <a:pPr lvl="1"/>
            <a:r>
              <a:rPr kumimoji="1" lang="zh-CN" altLang="en-US" dirty="0"/>
              <a:t>当需要或被要求时，引导利益攸关者协作。</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normAutofit/>
          </a:bodyPr>
          <a:lstStyle/>
          <a:p>
            <a:r>
              <a:rPr kumimoji="1" lang="en-US" altLang="zh-CN" dirty="0"/>
              <a:t>Scrum Master </a:t>
            </a:r>
            <a:r>
              <a:rPr kumimoji="1" lang="zh-CN" altLang="en-US" dirty="0"/>
              <a:t>以多种方式服务于组织，包括：</a:t>
            </a:r>
            <a:endParaRPr kumimoji="1" lang="zh-CN" altLang="en-US" dirty="0"/>
          </a:p>
          <a:p>
            <a:pPr lvl="1"/>
            <a:r>
              <a:rPr kumimoji="1" lang="zh-CN" altLang="en-US" dirty="0"/>
              <a:t>带领、培训和作为教练辅导组织采纳 </a:t>
            </a:r>
            <a:r>
              <a:rPr kumimoji="1" lang="en-US" altLang="zh-CN" dirty="0"/>
              <a:t>Scrum</a:t>
            </a:r>
            <a:r>
              <a:rPr kumimoji="1" lang="zh-CN" altLang="en-US" dirty="0"/>
              <a:t>；</a:t>
            </a:r>
            <a:endParaRPr kumimoji="1" lang="zh-CN" altLang="en-US" dirty="0"/>
          </a:p>
          <a:p>
            <a:pPr lvl="1"/>
            <a:r>
              <a:rPr kumimoji="1" lang="zh-CN" altLang="en-US" dirty="0"/>
              <a:t>在组织范围内规划并建议 </a:t>
            </a:r>
            <a:r>
              <a:rPr kumimoji="1" lang="en-US" altLang="zh-CN" dirty="0"/>
              <a:t>Scrum </a:t>
            </a:r>
            <a:r>
              <a:rPr kumimoji="1" lang="zh-CN" altLang="en-US" dirty="0"/>
              <a:t>的实施；</a:t>
            </a:r>
            <a:endParaRPr kumimoji="1" lang="en-US" altLang="zh-CN" dirty="0"/>
          </a:p>
          <a:p>
            <a:pPr lvl="1"/>
            <a:r>
              <a:rPr kumimoji="1" lang="zh-CN" altLang="en-US" dirty="0"/>
              <a:t>帮助员工和利益攸关者理解并实施针对复杂工作的经验主义方法（</a:t>
            </a:r>
            <a:r>
              <a:rPr kumimoji="1" lang="en-US" altLang="zh-CN" dirty="0"/>
              <a:t>empirical approach</a:t>
            </a:r>
            <a:r>
              <a:rPr kumimoji="1" lang="zh-CN" altLang="en-US" dirty="0"/>
              <a:t>）；</a:t>
            </a:r>
            <a:endParaRPr kumimoji="1" lang="zh-CN" altLang="en-US" dirty="0"/>
          </a:p>
          <a:p>
            <a:pPr lvl="1"/>
            <a:r>
              <a:rPr kumimoji="1" lang="zh-CN" altLang="en-US" dirty="0"/>
              <a:t>消除利益攸关者和 </a:t>
            </a:r>
            <a:r>
              <a:rPr kumimoji="1" lang="en-US" altLang="zh-CN" dirty="0"/>
              <a:t>Scrum Teams </a:t>
            </a:r>
            <a:r>
              <a:rPr kumimoji="1" lang="zh-CN" altLang="en-US" dirty="0"/>
              <a:t>之间的隔阂。</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猪与鸡的比喻</a:t>
            </a:r>
            <a:endParaRPr kumimoji="1" lang="zh-CN" altLang="en-US" dirty="0"/>
          </a:p>
        </p:txBody>
      </p:sp>
      <p:sp>
        <p:nvSpPr>
          <p:cNvPr id="4" name="内容占位符 3"/>
          <p:cNvSpPr>
            <a:spLocks noGrp="1"/>
          </p:cNvSpPr>
          <p:nvPr>
            <p:ph idx="1"/>
          </p:nvPr>
        </p:nvSpPr>
        <p:spPr>
          <a:xfrm>
            <a:off x="838200" y="3554494"/>
            <a:ext cx="10515600" cy="2622469"/>
          </a:xfrm>
        </p:spPr>
        <p:txBody>
          <a:bodyPr/>
          <a:lstStyle/>
          <a:p>
            <a:pPr defTabSz="457200">
              <a:lnSpc>
                <a:spcPts val="4700"/>
              </a:lnSpc>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altLang="en-US" dirty="0"/>
              <a:t>一天，一头猪和一只鸡在路上散步，鸡看了一下猪说</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嗨，我们合伙开一家餐馆怎么样？”</a:t>
            </a:r>
            <a:endParaRPr lang="zh-CN" altLang="en-US" sz="1600" dirty="0">
              <a:latin typeface="Times Roman"/>
              <a:ea typeface="Times Roman"/>
              <a:cs typeface="Times Roman"/>
              <a:sym typeface="Times Roman"/>
            </a:endParaRPr>
          </a:p>
          <a:p>
            <a:pPr defTabSz="457200">
              <a:lnSpc>
                <a:spcPts val="4700"/>
              </a:lnSpc>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altLang="en-US" dirty="0"/>
              <a:t>猪回头看了一下鸡说</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好主意，那你准备给餐馆卖什么呢？”</a:t>
            </a:r>
            <a:endParaRPr lang="zh-CN" altLang="en-US" sz="1600" dirty="0">
              <a:latin typeface="Times Roman"/>
              <a:ea typeface="Times Roman"/>
              <a:cs typeface="Times Roman"/>
              <a:sym typeface="Times Roman"/>
            </a:endParaRPr>
          </a:p>
          <a:p>
            <a:pPr defTabSz="457200">
              <a:lnSpc>
                <a:spcPts val="4700"/>
              </a:lnSpc>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altLang="en-US" dirty="0"/>
              <a:t>鸡想了想说</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餐馆卖</a:t>
            </a:r>
            <a:r>
              <a:rPr lang="zh-CN" altLang="en-US" u="sng" dirty="0"/>
              <a:t>火腿</a:t>
            </a:r>
            <a:r>
              <a:rPr lang="zh-CN" altLang="en-US" dirty="0"/>
              <a:t>和</a:t>
            </a:r>
            <a:r>
              <a:rPr lang="zh-CN" altLang="en-US" u="sng" dirty="0"/>
              <a:t>鸡蛋</a:t>
            </a:r>
            <a:r>
              <a:rPr lang="zh-CN" altLang="en-US" dirty="0"/>
              <a:t>怎么样？”</a:t>
            </a:r>
            <a:endParaRPr lang="zh-CN" altLang="en-US" sz="1600" dirty="0">
              <a:latin typeface="Times Roman"/>
              <a:ea typeface="Times Roman"/>
              <a:cs typeface="Times Roman"/>
              <a:sym typeface="Times Roman"/>
            </a:endParaRPr>
          </a:p>
          <a:p>
            <a:pPr defTabSz="457200">
              <a:lnSpc>
                <a:spcPts val="4700"/>
              </a:lnSpc>
              <a:defRPr sz="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lang="zh-CN" altLang="en-US" dirty="0"/>
              <a:t>猪说</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不开了，我全身投入</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火腿是一次性资源</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，而你</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鸡蛋是可再生的</a:t>
            </a:r>
            <a:r>
              <a:rPr lang="en-US" altLang="zh-CN" dirty="0">
                <a:latin typeface="Calibri" panose="020F0502020204030204"/>
                <a:ea typeface="Calibri" panose="020F0502020204030204"/>
                <a:cs typeface="Calibri" panose="020F0502020204030204"/>
                <a:sym typeface="Calibri" panose="020F0502020204030204"/>
              </a:rPr>
              <a:t>)</a:t>
            </a:r>
            <a:r>
              <a:rPr lang="zh-CN" altLang="en-US" dirty="0"/>
              <a:t>只是参与而已”</a:t>
            </a:r>
            <a:endParaRPr kumimoji="1" lang="zh-CN" altLang="en-US" dirty="0"/>
          </a:p>
        </p:txBody>
      </p:sp>
      <p:pic>
        <p:nvPicPr>
          <p:cNvPr id="5" name="图像" descr="图像"/>
          <p:cNvPicPr>
            <a:picLocks noChangeAspect="1"/>
          </p:cNvPicPr>
          <p:nvPr/>
        </p:nvPicPr>
        <p:blipFill>
          <a:blip r:embed="rId1"/>
          <a:stretch>
            <a:fillRect/>
          </a:stretch>
        </p:blipFill>
        <p:spPr>
          <a:xfrm>
            <a:off x="2082731" y="1008205"/>
            <a:ext cx="6967962" cy="2420795"/>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lstStyle/>
          <a:p>
            <a:pPr marL="271145" indent="-271145" defTabSz="356235">
              <a:spcBef>
                <a:spcPts val="2500"/>
              </a:spcBef>
              <a:defRPr sz="2195">
                <a:solidFill>
                  <a:srgbClr val="63055F"/>
                </a:solidFill>
              </a:defRPr>
            </a:pPr>
            <a:r>
              <a:rPr lang="zh-CN" altLang="en-US" dirty="0"/>
              <a:t>猪角色被认为是团队中的核心成员</a:t>
            </a:r>
            <a:r>
              <a:rPr lang="en-US" altLang="zh-CN" dirty="0"/>
              <a:t>,</a:t>
            </a:r>
            <a:r>
              <a:rPr lang="zh-CN" altLang="en-US" dirty="0"/>
              <a:t>在一个团队中产品的负责人和</a:t>
            </a:r>
            <a:r>
              <a:rPr lang="en-GB" altLang="zh-CN" dirty="0"/>
              <a:t>Scrum</a:t>
            </a:r>
            <a:r>
              <a:rPr lang="zh-CN" altLang="en-US" dirty="0"/>
              <a:t>主管和开发团队就是“猪”角色。鸡角色不是</a:t>
            </a:r>
            <a:r>
              <a:rPr lang="en-GB" altLang="zh-CN" dirty="0"/>
              <a:t>Scrum</a:t>
            </a:r>
            <a:r>
              <a:rPr lang="zh-CN" altLang="en-US" dirty="0"/>
              <a:t>的一部分</a:t>
            </a:r>
            <a:r>
              <a:rPr lang="en-US" altLang="zh-CN" dirty="0"/>
              <a:t>,</a:t>
            </a:r>
            <a:r>
              <a:rPr lang="zh-CN" altLang="en-US" dirty="0"/>
              <a:t>但必须要考虑他们，用户，客户或提供商，经理等扮演着“鸡”角色</a:t>
            </a:r>
            <a:r>
              <a:rPr lang="en-US" altLang="zh-CN" dirty="0"/>
              <a:t>!</a:t>
            </a:r>
            <a:endParaRPr lang="en-US" altLang="zh-CN" dirty="0"/>
          </a:p>
          <a:p>
            <a:pPr marL="271145" indent="-271145" defTabSz="356235">
              <a:spcBef>
                <a:spcPts val="2500"/>
              </a:spcBef>
              <a:defRPr sz="2195">
                <a:solidFill>
                  <a:srgbClr val="63055F"/>
                </a:solidFill>
              </a:defRPr>
            </a:pPr>
            <a:r>
              <a:rPr lang="zh-CN" altLang="en-US" dirty="0"/>
              <a:t>把有兴趣关心，并无利益或价值牵扯的人，排除在项目决策团队以外！ </a:t>
            </a:r>
            <a:endParaRPr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用户故事</a:t>
            </a:r>
            <a:endParaRPr kumimoji="1" lang="zh-CN" altLang="en-US" dirty="0"/>
          </a:p>
        </p:txBody>
      </p:sp>
      <p:sp>
        <p:nvSpPr>
          <p:cNvPr id="4" name="内容占位符 3"/>
          <p:cNvSpPr>
            <a:spLocks noGrp="1"/>
          </p:cNvSpPr>
          <p:nvPr>
            <p:ph idx="1"/>
          </p:nvPr>
        </p:nvSpPr>
        <p:spPr/>
        <p:txBody>
          <a:bodyPr>
            <a:normAutofit fontScale="85000" lnSpcReduction="20000"/>
          </a:bodyPr>
          <a:lstStyle/>
          <a:p>
            <a:r>
              <a:rPr kumimoji="1" lang="zh-CN" altLang="en-US" dirty="0"/>
              <a:t>在</a:t>
            </a:r>
            <a:r>
              <a:rPr kumimoji="1" lang="en-US" altLang="zh-CN" dirty="0"/>
              <a:t>20</a:t>
            </a:r>
            <a:r>
              <a:rPr kumimoji="1" lang="zh-CN" altLang="en-US" dirty="0"/>
              <a:t>世纪</a:t>
            </a:r>
            <a:r>
              <a:rPr kumimoji="1" lang="en-US" altLang="zh-CN" dirty="0"/>
              <a:t>90</a:t>
            </a:r>
            <a:r>
              <a:rPr kumimoji="1" lang="zh-CN" altLang="en-US" dirty="0"/>
              <a:t>年代末，</a:t>
            </a:r>
            <a:r>
              <a:rPr kumimoji="1" lang="en-GB" altLang="zh-CN" dirty="0"/>
              <a:t>Kent</a:t>
            </a:r>
            <a:r>
              <a:rPr kumimoji="1" lang="zh-CN" altLang="en-US" dirty="0"/>
              <a:t>在开发软件的过程中发现，其中最大的问题莫过于使用文档来精确描述我们想要的东西，即需求。 </a:t>
            </a:r>
            <a:endParaRPr kumimoji="1" lang="zh-CN" altLang="en-US" dirty="0"/>
          </a:p>
          <a:p>
            <a:endParaRPr kumimoji="1" lang="zh-CN" altLang="en-US" dirty="0"/>
          </a:p>
          <a:p>
            <a:r>
              <a:rPr kumimoji="1" lang="zh-CN" altLang="en-US" dirty="0"/>
              <a:t>同样的一份文档，阅读的人不同，各自得到的信息也不一样。这种缺乏共识的情况，称为 “低质量的需求” </a:t>
            </a:r>
            <a:endParaRPr kumimoji="1" lang="zh-CN" altLang="en-US" dirty="0"/>
          </a:p>
          <a:p>
            <a:endParaRPr kumimoji="1" lang="zh-CN" altLang="en-US" dirty="0"/>
          </a:p>
          <a:p>
            <a:r>
              <a:rPr kumimoji="1" lang="zh-CN" altLang="en-US" dirty="0"/>
              <a:t>停止写出完美文档的“执念” 。</a:t>
            </a:r>
            <a:endParaRPr kumimoji="1" lang="zh-CN" altLang="en-US" dirty="0"/>
          </a:p>
          <a:p>
            <a:endParaRPr kumimoji="1" lang="zh-CN" altLang="en-US" dirty="0"/>
          </a:p>
          <a:p>
            <a:r>
              <a:rPr kumimoji="1" lang="zh-CN" altLang="en-US" dirty="0"/>
              <a:t>用户故事之所以得名，并不是要人们如何写出更好的 用户故事，而是如何在协作中更好地使用它。 </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需求</a:t>
            </a:r>
            <a:r>
              <a:rPr lang="en-US" altLang="zh-CN" dirty="0"/>
              <a:t>—</a:t>
            </a:r>
            <a:r>
              <a:rPr lang="zh-CN" altLang="en-US" dirty="0"/>
              <a:t>用户故事模板（</a:t>
            </a:r>
            <a:r>
              <a:rPr lang="en-US" altLang="zh-CN" dirty="0"/>
              <a:t>1</a:t>
            </a:r>
            <a:r>
              <a:rPr lang="zh-CN" altLang="en-US" dirty="0"/>
              <a:t>）</a:t>
            </a:r>
            <a:endParaRPr kumimoji="1" lang="zh-CN" altLang="en-US" dirty="0"/>
          </a:p>
        </p:txBody>
      </p:sp>
      <p:sp>
        <p:nvSpPr>
          <p:cNvPr id="4" name="内容占位符 3"/>
          <p:cNvSpPr>
            <a:spLocks noGrp="1"/>
          </p:cNvSpPr>
          <p:nvPr>
            <p:ph idx="1"/>
          </p:nvPr>
        </p:nvSpPr>
        <p:spPr>
          <a:xfrm>
            <a:off x="838200" y="1041622"/>
            <a:ext cx="10515600" cy="1720239"/>
          </a:xfrm>
        </p:spPr>
        <p:txBody>
          <a:bodyPr/>
          <a:lstStyle/>
          <a:p>
            <a:pPr>
              <a:defRPr>
                <a:solidFill>
                  <a:srgbClr val="63055F"/>
                </a:solidFill>
              </a:defRPr>
            </a:pPr>
            <a:r>
              <a:rPr lang="zh-CN" altLang="en-US" dirty="0"/>
              <a:t>用户故事是产品列表的基础构件。 </a:t>
            </a:r>
            <a:endParaRPr lang="zh-CN" altLang="en-US" dirty="0"/>
          </a:p>
          <a:p>
            <a:pPr>
              <a:defRPr>
                <a:solidFill>
                  <a:srgbClr val="63055F"/>
                </a:solidFill>
              </a:defRPr>
            </a:pPr>
            <a:r>
              <a:rPr lang="zh-CN" altLang="en-US" dirty="0"/>
              <a:t>用户故事模板（不是唯一方法）：</a:t>
            </a:r>
            <a:endParaRPr lang="zh-CN" altLang="en-US" dirty="0"/>
          </a:p>
          <a:p>
            <a:endParaRPr kumimoji="1" lang="zh-CN" altLang="en-US" dirty="0"/>
          </a:p>
        </p:txBody>
      </p:sp>
      <p:pic>
        <p:nvPicPr>
          <p:cNvPr id="5" name="图像" descr="图像"/>
          <p:cNvPicPr>
            <a:picLocks noChangeAspect="1"/>
          </p:cNvPicPr>
          <p:nvPr/>
        </p:nvPicPr>
        <p:blipFill>
          <a:blip r:embed="rId1"/>
          <a:stretch>
            <a:fillRect/>
          </a:stretch>
        </p:blipFill>
        <p:spPr>
          <a:xfrm>
            <a:off x="2392340" y="2920772"/>
            <a:ext cx="7087562" cy="2545335"/>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a:xfrm>
            <a:off x="1032184" y="297936"/>
            <a:ext cx="10321616" cy="584775"/>
          </a:xfrm>
        </p:spPr>
        <p:txBody>
          <a:bodyPr/>
          <a:lstStyle/>
          <a:p>
            <a:r>
              <a:rPr lang="zh-CN" altLang="en-US" dirty="0"/>
              <a:t>需求</a:t>
            </a:r>
            <a:r>
              <a:rPr lang="en-US" altLang="zh-CN" dirty="0"/>
              <a:t>—</a:t>
            </a:r>
            <a:r>
              <a:rPr lang="zh-CN" altLang="en-US" dirty="0"/>
              <a:t>用户故事模板（</a:t>
            </a:r>
            <a:r>
              <a:rPr lang="en-US" altLang="zh-CN" dirty="0"/>
              <a:t>2</a:t>
            </a:r>
            <a:r>
              <a:rPr lang="zh-CN" altLang="en-US" dirty="0"/>
              <a:t>）</a:t>
            </a:r>
            <a:endParaRPr kumimoji="1" lang="zh-CN" altLang="en-US" dirty="0"/>
          </a:p>
        </p:txBody>
      </p:sp>
      <p:sp>
        <p:nvSpPr>
          <p:cNvPr id="4" name="内容占位符 3"/>
          <p:cNvSpPr>
            <a:spLocks noGrp="1"/>
          </p:cNvSpPr>
          <p:nvPr>
            <p:ph idx="1"/>
          </p:nvPr>
        </p:nvSpPr>
        <p:spPr>
          <a:xfrm>
            <a:off x="838200" y="1041622"/>
            <a:ext cx="10515600" cy="3082509"/>
          </a:xfrm>
        </p:spPr>
        <p:txBody>
          <a:bodyPr>
            <a:normAutofit fontScale="55000" lnSpcReduction="20000"/>
          </a:bodyPr>
          <a:lstStyle/>
          <a:p>
            <a:pPr marL="177800" indent="-177800" defTabSz="233680">
              <a:spcBef>
                <a:spcPts val="1600"/>
              </a:spcBef>
              <a:defRPr sz="2640">
                <a:solidFill>
                  <a:srgbClr val="63055F"/>
                </a:solidFill>
              </a:defRPr>
            </a:pPr>
            <a:r>
              <a:rPr lang="zh-CN" altLang="en-US" dirty="0"/>
              <a:t>作为</a:t>
            </a:r>
            <a:r>
              <a:rPr lang="en-US" altLang="zh-CN" dirty="0"/>
              <a:t>&lt;</a:t>
            </a:r>
            <a:r>
              <a:rPr lang="zh-CN" altLang="en-US" dirty="0"/>
              <a:t>某类用户</a:t>
            </a:r>
            <a:r>
              <a:rPr lang="en-US" altLang="zh-CN" dirty="0"/>
              <a:t>&gt; </a:t>
            </a:r>
            <a:endParaRPr lang="en-US" altLang="zh-CN" dirty="0"/>
          </a:p>
          <a:p>
            <a:pPr marL="355600" lvl="1" indent="-177800" defTabSz="233680">
              <a:spcBef>
                <a:spcPts val="1600"/>
              </a:spcBef>
              <a:defRPr sz="2640">
                <a:solidFill>
                  <a:srgbClr val="63055F"/>
                </a:solidFill>
              </a:defRPr>
            </a:pPr>
            <a:r>
              <a:rPr lang="zh-CN" altLang="en-US" dirty="0"/>
              <a:t>告诉我们想要这个功能的是谁。 </a:t>
            </a:r>
            <a:endParaRPr lang="zh-CN" altLang="en-US" dirty="0"/>
          </a:p>
          <a:p>
            <a:pPr marL="177800" indent="-177800" defTabSz="233680">
              <a:spcBef>
                <a:spcPts val="1600"/>
              </a:spcBef>
              <a:defRPr sz="2640">
                <a:solidFill>
                  <a:srgbClr val="63055F"/>
                </a:solidFill>
              </a:defRPr>
            </a:pPr>
            <a:r>
              <a:rPr lang="zh-CN" altLang="en-US" dirty="0"/>
              <a:t>我想</a:t>
            </a:r>
            <a:r>
              <a:rPr lang="en-US" altLang="zh-CN" dirty="0"/>
              <a:t>&lt;</a:t>
            </a:r>
            <a:r>
              <a:rPr lang="zh-CN" altLang="en-US" dirty="0"/>
              <a:t>做某事</a:t>
            </a:r>
            <a:r>
              <a:rPr lang="en-US" altLang="zh-CN" dirty="0"/>
              <a:t>&gt; </a:t>
            </a:r>
            <a:endParaRPr lang="en-US" altLang="zh-CN" dirty="0"/>
          </a:p>
          <a:p>
            <a:pPr marL="355600" lvl="1" indent="-177800" defTabSz="233680">
              <a:spcBef>
                <a:spcPts val="1600"/>
              </a:spcBef>
              <a:defRPr sz="2640">
                <a:solidFill>
                  <a:srgbClr val="63055F"/>
                </a:solidFill>
              </a:defRPr>
            </a:pPr>
            <a:r>
              <a:rPr lang="zh-CN" altLang="en-US" dirty="0"/>
              <a:t>告诉我们预期功能是什 么 。 </a:t>
            </a:r>
            <a:endParaRPr lang="zh-CN" altLang="en-US" dirty="0"/>
          </a:p>
          <a:p>
            <a:pPr marL="177800" indent="-177800" defTabSz="233680">
              <a:spcBef>
                <a:spcPts val="1600"/>
              </a:spcBef>
              <a:defRPr sz="2640">
                <a:solidFill>
                  <a:srgbClr val="63055F"/>
                </a:solidFill>
              </a:defRPr>
            </a:pPr>
            <a:r>
              <a:rPr lang="zh-CN" altLang="en-US" dirty="0"/>
              <a:t>从而</a:t>
            </a:r>
            <a:r>
              <a:rPr lang="en-US" altLang="zh-CN" dirty="0"/>
              <a:t>&lt;</a:t>
            </a:r>
            <a:r>
              <a:rPr lang="zh-CN" altLang="en-US" dirty="0"/>
              <a:t>创造出某些价值</a:t>
            </a:r>
            <a:r>
              <a:rPr lang="en-US" altLang="zh-CN" dirty="0"/>
              <a:t>&gt; </a:t>
            </a:r>
            <a:endParaRPr lang="en-US" altLang="zh-CN" dirty="0"/>
          </a:p>
          <a:p>
            <a:pPr marL="355600" lvl="1" indent="-177800" defTabSz="233680">
              <a:spcBef>
                <a:spcPts val="1600"/>
              </a:spcBef>
              <a:defRPr sz="2640">
                <a:solidFill>
                  <a:srgbClr val="63055F"/>
                </a:solidFill>
              </a:defRPr>
            </a:pPr>
            <a:r>
              <a:rPr lang="zh-CN" altLang="en-US" dirty="0"/>
              <a:t>告诉我们为什么用户想要这个功能。 </a:t>
            </a:r>
            <a:endParaRPr lang="zh-CN" altLang="en-US" dirty="0"/>
          </a:p>
        </p:txBody>
      </p:sp>
      <p:sp>
        <p:nvSpPr>
          <p:cNvPr id="7" name="作为邓丽君粉丝俱乐部成员，…"/>
          <p:cNvSpPr txBox="1"/>
          <p:nvPr/>
        </p:nvSpPr>
        <p:spPr>
          <a:xfrm>
            <a:off x="4930773" y="1828796"/>
            <a:ext cx="6565901" cy="1210588"/>
          </a:xfrm>
          <a:prstGeom prst="rect">
            <a:avLst/>
          </a:prstGeom>
          <a:blipFill>
            <a:blip r:embed="rId1"/>
          </a:blipFill>
          <a:ln w="12700">
            <a:miter lim="400000"/>
          </a:ln>
          <a:effectLst>
            <a:outerShdw blurRad="38100" dist="25400" dir="5400000" rotWithShape="0">
              <a:srgbClr val="000000">
                <a:alpha val="50000"/>
              </a:srgbClr>
            </a:outerShdw>
          </a:effectLst>
        </p:spPr>
        <p:txBody>
          <a:bodyPr wrap="none" lIns="50800" tIns="50800" rIns="50800" bIns="50800" anchor="ctr">
            <a:spAutoFit/>
          </a:bodyPr>
          <a:lstStyle/>
          <a:p>
            <a:pPr>
              <a:defRPr sz="2400">
                <a:solidFill>
                  <a:srgbClr val="FFFFFF"/>
                </a:solidFill>
              </a:defRPr>
            </a:pPr>
            <a:r>
              <a:rPr sz="2400" dirty="0" err="1"/>
              <a:t>作为邓丽君粉丝俱乐部成员</a:t>
            </a:r>
            <a:r>
              <a:rPr sz="2400" dirty="0"/>
              <a:t>，</a:t>
            </a:r>
            <a:endParaRPr sz="2400" dirty="0"/>
          </a:p>
          <a:p>
            <a:pPr>
              <a:defRPr sz="2400">
                <a:solidFill>
                  <a:srgbClr val="FFFFFF"/>
                </a:solidFill>
              </a:defRPr>
            </a:pPr>
            <a:r>
              <a:rPr sz="2400" dirty="0" err="1"/>
              <a:t>我想在公开售票之前通过电话预订演唱会门票</a:t>
            </a:r>
            <a:r>
              <a:rPr sz="2400" dirty="0"/>
              <a:t>，</a:t>
            </a:r>
            <a:endParaRPr sz="2400" dirty="0"/>
          </a:p>
          <a:p>
            <a:pPr>
              <a:defRPr sz="2400">
                <a:solidFill>
                  <a:srgbClr val="FFFFFF"/>
                </a:solidFill>
              </a:defRPr>
            </a:pPr>
            <a:r>
              <a:rPr sz="2400" dirty="0" err="1"/>
              <a:t>从而可以拿到好位置还能感觉很特别</a:t>
            </a:r>
            <a:r>
              <a:rPr sz="2400" dirty="0"/>
              <a:t>。</a:t>
            </a:r>
            <a:endParaRPr sz="2400" dirty="0"/>
          </a:p>
        </p:txBody>
      </p:sp>
      <p:pic>
        <p:nvPicPr>
          <p:cNvPr id="8" name="图像" descr="图像"/>
          <p:cNvPicPr>
            <a:picLocks noChangeAspect="1"/>
          </p:cNvPicPr>
          <p:nvPr/>
        </p:nvPicPr>
        <p:blipFill>
          <a:blip r:embed="rId2"/>
          <a:stretch>
            <a:fillRect/>
          </a:stretch>
        </p:blipFill>
        <p:spPr>
          <a:xfrm>
            <a:off x="1919440" y="4444275"/>
            <a:ext cx="7784397" cy="1642224"/>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故事模板</a:t>
            </a:r>
            <a:r>
              <a:rPr lang="en-US" altLang="zh-CN" dirty="0"/>
              <a:t>(3)</a:t>
            </a:r>
            <a:endParaRPr kumimoji="1" lang="zh-CN" altLang="en-US" dirty="0"/>
          </a:p>
        </p:txBody>
      </p:sp>
      <p:sp>
        <p:nvSpPr>
          <p:cNvPr id="4" name="内容占位符 3"/>
          <p:cNvSpPr>
            <a:spLocks noGrp="1"/>
          </p:cNvSpPr>
          <p:nvPr>
            <p:ph idx="1"/>
          </p:nvPr>
        </p:nvSpPr>
        <p:spPr>
          <a:xfrm>
            <a:off x="838200" y="2127380"/>
            <a:ext cx="10515600" cy="4049584"/>
          </a:xfrm>
        </p:spPr>
        <p:txBody>
          <a:bodyPr/>
          <a:lstStyle/>
          <a:p>
            <a:r>
              <a:rPr lang="zh-CN" altLang="en-US" dirty="0"/>
              <a:t>用户角色</a:t>
            </a:r>
            <a:r>
              <a:rPr lang="en-US" altLang="zh-CN" dirty="0"/>
              <a:t>(</a:t>
            </a:r>
            <a:r>
              <a:rPr lang="en-GB" altLang="zh-CN" dirty="0"/>
              <a:t>who): </a:t>
            </a:r>
            <a:endParaRPr lang="en-GB" altLang="zh-CN" dirty="0"/>
          </a:p>
          <a:p>
            <a:r>
              <a:rPr lang="zh-CN" altLang="en-US" dirty="0"/>
              <a:t>功能</a:t>
            </a:r>
            <a:r>
              <a:rPr lang="en-US" altLang="zh-CN" dirty="0"/>
              <a:t>(</a:t>
            </a:r>
            <a:r>
              <a:rPr lang="en-GB" altLang="zh-CN" dirty="0"/>
              <a:t>what): </a:t>
            </a:r>
            <a:endParaRPr lang="en-GB" altLang="zh-CN" dirty="0"/>
          </a:p>
          <a:p>
            <a:r>
              <a:rPr lang="zh-CN" altLang="en-US" dirty="0"/>
              <a:t>为什么</a:t>
            </a:r>
            <a:r>
              <a:rPr lang="en-US" altLang="zh-CN" dirty="0"/>
              <a:t>(</a:t>
            </a:r>
            <a:r>
              <a:rPr lang="en-GB" altLang="zh-CN" dirty="0"/>
              <a:t>why): </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Ron Jeffries</a:t>
            </a:r>
            <a:r>
              <a:rPr lang="zh-CN" altLang="en-US" dirty="0"/>
              <a:t>的</a:t>
            </a:r>
            <a:r>
              <a:rPr lang="en-US" altLang="zh-CN" dirty="0"/>
              <a:t>3</a:t>
            </a:r>
            <a:r>
              <a:rPr lang="en-GB" altLang="zh-CN" dirty="0"/>
              <a:t>C</a:t>
            </a:r>
            <a:r>
              <a:rPr lang="zh-CN" altLang="en-US" dirty="0"/>
              <a:t>原则 </a:t>
            </a:r>
            <a:endParaRPr kumimoji="1" lang="zh-CN" altLang="en-US" dirty="0"/>
          </a:p>
        </p:txBody>
      </p:sp>
      <p:sp>
        <p:nvSpPr>
          <p:cNvPr id="4" name="内容占位符 3"/>
          <p:cNvSpPr>
            <a:spLocks noGrp="1"/>
          </p:cNvSpPr>
          <p:nvPr>
            <p:ph idx="1"/>
          </p:nvPr>
        </p:nvSpPr>
        <p:spPr>
          <a:xfrm>
            <a:off x="838200" y="1041622"/>
            <a:ext cx="5257800" cy="4164860"/>
          </a:xfrm>
        </p:spPr>
        <p:txBody>
          <a:bodyPr>
            <a:normAutofit lnSpcReduction="10000"/>
          </a:bodyPr>
          <a:lstStyle/>
          <a:p>
            <a:pPr marL="190500" indent="-190500" defTabSz="438150">
              <a:spcBef>
                <a:spcPts val="2100"/>
              </a:spcBef>
              <a:defRPr sz="2400"/>
            </a:pPr>
            <a:r>
              <a:rPr lang="zh-CN" altLang="en-US" dirty="0"/>
              <a:t>卡 片 </a:t>
            </a:r>
            <a:r>
              <a:rPr lang="en-US" altLang="zh-CN" dirty="0"/>
              <a:t>(</a:t>
            </a:r>
            <a:r>
              <a:rPr lang="en-GB" altLang="zh-CN" dirty="0"/>
              <a:t>Card) </a:t>
            </a:r>
            <a:r>
              <a:rPr lang="zh-CN" altLang="en-GB" dirty="0"/>
              <a:t>（</a:t>
            </a:r>
            <a:r>
              <a:rPr lang="en-GB" altLang="zh-CN" dirty="0"/>
              <a:t>placeholder</a:t>
            </a:r>
            <a:r>
              <a:rPr lang="zh-CN" altLang="en-GB" dirty="0"/>
              <a:t>，</a:t>
            </a:r>
            <a:r>
              <a:rPr lang="zh-CN" altLang="en-US" dirty="0"/>
              <a:t>占位符）</a:t>
            </a:r>
            <a:endParaRPr lang="zh-CN" altLang="en-US" dirty="0"/>
          </a:p>
          <a:p>
            <a:pPr marL="523875" lvl="1" indent="-190500" defTabSz="438150">
              <a:spcBef>
                <a:spcPts val="1200"/>
              </a:spcBef>
              <a:defRPr sz="2100"/>
            </a:pPr>
            <a:r>
              <a:rPr lang="zh-CN" altLang="en-US" dirty="0"/>
              <a:t>在一堆卡片上写下你期望的软件特性 </a:t>
            </a:r>
            <a:endParaRPr lang="zh-CN" altLang="en-US" dirty="0"/>
          </a:p>
          <a:p>
            <a:pPr marL="190500" indent="-190500" defTabSz="438150">
              <a:spcBef>
                <a:spcPts val="2100"/>
              </a:spcBef>
              <a:defRPr sz="2400"/>
            </a:pPr>
            <a:r>
              <a:rPr lang="zh-CN" altLang="en-US" dirty="0"/>
              <a:t>交 谈 </a:t>
            </a:r>
            <a:r>
              <a:rPr lang="en-US" altLang="zh-CN" dirty="0"/>
              <a:t>(</a:t>
            </a:r>
            <a:r>
              <a:rPr lang="en-GB" altLang="zh-CN" dirty="0"/>
              <a:t>Conversation) </a:t>
            </a:r>
            <a:endParaRPr lang="en-GB" altLang="zh-CN" dirty="0"/>
          </a:p>
          <a:p>
            <a:pPr marL="523875" lvl="1" indent="-190500" defTabSz="438150">
              <a:spcBef>
                <a:spcPts val="1200"/>
              </a:spcBef>
              <a:defRPr sz="2100"/>
            </a:pPr>
            <a:r>
              <a:rPr lang="zh-CN" altLang="en-US" dirty="0"/>
              <a:t>聚在一起对要开发的软件进行深人讨论 </a:t>
            </a:r>
            <a:endParaRPr lang="zh-CN" altLang="en-US" dirty="0"/>
          </a:p>
          <a:p>
            <a:pPr marL="190500" indent="-190500" defTabSz="438150">
              <a:spcBef>
                <a:spcPts val="2100"/>
              </a:spcBef>
              <a:defRPr sz="2400"/>
            </a:pPr>
            <a:r>
              <a:rPr lang="zh-CN" altLang="en-US" dirty="0"/>
              <a:t>确 认 </a:t>
            </a:r>
            <a:r>
              <a:rPr lang="en-US" altLang="zh-CN" dirty="0"/>
              <a:t>(</a:t>
            </a:r>
            <a:r>
              <a:rPr lang="en-GB" altLang="zh-CN" dirty="0"/>
              <a:t>Confirmation) </a:t>
            </a:r>
            <a:endParaRPr lang="en-GB" altLang="zh-CN" dirty="0"/>
          </a:p>
          <a:p>
            <a:pPr marL="523875" lvl="1" indent="-190500" defTabSz="438150">
              <a:spcBef>
                <a:spcPts val="1200"/>
              </a:spcBef>
              <a:defRPr sz="2100"/>
            </a:pPr>
            <a:r>
              <a:rPr lang="zh-CN" altLang="en-US" dirty="0"/>
              <a:t>对完工条件进行确认 </a:t>
            </a:r>
            <a:endParaRPr lang="zh-CN" altLang="en-US" dirty="0"/>
          </a:p>
          <a:p>
            <a:endParaRPr kumimoji="1" lang="zh-CN" altLang="en-US" dirty="0"/>
          </a:p>
        </p:txBody>
      </p:sp>
      <p:pic>
        <p:nvPicPr>
          <p:cNvPr id="5" name="图像" descr="图像"/>
          <p:cNvPicPr>
            <a:picLocks noChangeAspect="1"/>
          </p:cNvPicPr>
          <p:nvPr/>
        </p:nvPicPr>
        <p:blipFill>
          <a:blip r:embed="rId1"/>
          <a:stretch>
            <a:fillRect/>
          </a:stretch>
        </p:blipFill>
        <p:spPr>
          <a:xfrm>
            <a:off x="6142862" y="1878648"/>
            <a:ext cx="6049138" cy="3100703"/>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solidFill>
                  <a:srgbClr val="FF0000"/>
                </a:solidFill>
              </a:rPr>
              <a:t>用户故事是占位符</a:t>
            </a:r>
            <a:endParaRPr kumimoji="1" lang="zh-CN" altLang="en-US" dirty="0">
              <a:solidFill>
                <a:srgbClr val="FF0000"/>
              </a:solidFill>
            </a:endParaRPr>
          </a:p>
        </p:txBody>
      </p:sp>
      <p:sp>
        <p:nvSpPr>
          <p:cNvPr id="4" name="内容占位符 3"/>
          <p:cNvSpPr>
            <a:spLocks noGrp="1"/>
          </p:cNvSpPr>
          <p:nvPr>
            <p:ph idx="1"/>
          </p:nvPr>
        </p:nvSpPr>
        <p:spPr/>
        <p:txBody>
          <a:bodyPr>
            <a:normAutofit fontScale="92500" lnSpcReduction="20000"/>
          </a:bodyPr>
          <a:lstStyle/>
          <a:p>
            <a:r>
              <a:rPr kumimoji="1" lang="zh-CN" altLang="en-US" dirty="0"/>
              <a:t>用户故事不是完整的需求或说明书，它们是占位符。</a:t>
            </a:r>
            <a:endParaRPr kumimoji="1" lang="zh-CN" altLang="en-US" dirty="0"/>
          </a:p>
          <a:p>
            <a:endParaRPr kumimoji="1" lang="zh-CN" altLang="en-US" dirty="0"/>
          </a:p>
          <a:p>
            <a:r>
              <a:rPr kumimoji="1" lang="zh-CN" altLang="en-US" dirty="0"/>
              <a:t>它们的信息量足以提醒团队有东西要完成，但我们刻意地不过多探讨细节</a:t>
            </a:r>
            <a:r>
              <a:rPr kumimoji="1" lang="en-US" altLang="zh-CN" dirty="0"/>
              <a:t>......</a:t>
            </a:r>
            <a:r>
              <a:rPr kumimoji="1" lang="zh-CN" altLang="en-US" dirty="0"/>
              <a:t>直到必需之时。 </a:t>
            </a:r>
            <a:endParaRPr kumimoji="1" lang="zh-CN" altLang="en-US" dirty="0"/>
          </a:p>
          <a:p>
            <a:endParaRPr kumimoji="1" lang="zh-CN" altLang="en-US" dirty="0"/>
          </a:p>
          <a:p>
            <a:r>
              <a:rPr kumimoji="1" lang="zh-CN" altLang="en-US" dirty="0"/>
              <a:t>需要阐述用户故事细节时，使用召集相关团队成员参与交谈的形式。交谈的目标在于，对故事内容以及所需完成的工作达成 共识。 相对于依赖书面文档，使用实时对话的方式能更高效地达成此目标。它有更多的信息流动。</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用户故事接收标准 </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交谈中，如果某一刻大家觉得对用户故事已有共识，那就该写验收标准了。找出一列测试，直到所有参与交谈的人都认同测试通过意味着故事按预期实现即可，再用简单易懂的话记录下来。 </a:t>
            </a:r>
            <a:endParaRPr kumimoji="1" lang="zh-CN" altLang="en-US" dirty="0"/>
          </a:p>
          <a:p>
            <a:endParaRPr kumimoji="1" lang="zh-CN" altLang="en-US" dirty="0"/>
          </a:p>
          <a:p>
            <a:r>
              <a:rPr kumimoji="1" lang="zh-CN" altLang="en-US" dirty="0"/>
              <a:t>接收标准回答如下的问题</a:t>
            </a:r>
            <a:r>
              <a:rPr kumimoji="1" lang="en-US" altLang="zh-CN" dirty="0"/>
              <a:t>:“ </a:t>
            </a:r>
            <a:r>
              <a:rPr kumimoji="1" lang="zh-CN" altLang="en-US" dirty="0"/>
              <a:t>我们如何得知它何时已完工</a:t>
            </a:r>
            <a:r>
              <a:rPr kumimoji="1" lang="en-US" altLang="zh-CN" dirty="0"/>
              <a:t>? ”</a:t>
            </a:r>
            <a:endParaRPr kumimoji="1" lang="en-US" altLang="zh-CN" dirty="0"/>
          </a:p>
          <a:p>
            <a:endParaRPr kumimoji="1" lang="en-US" altLang="zh-CN" dirty="0"/>
          </a:p>
          <a:p>
            <a:r>
              <a:rPr kumimoji="1" lang="zh-CN" altLang="en-US" dirty="0"/>
              <a:t>理想情况下，团队应该可以根据接收标准写出自动化测试，甚至是在功能实现之前（</a:t>
            </a:r>
            <a:r>
              <a:rPr kumimoji="1" lang="en-GB" altLang="zh-CN" dirty="0"/>
              <a:t>TDD</a:t>
            </a:r>
            <a:r>
              <a:rPr kumimoji="1" lang="zh-CN" altLang="en-GB" dirty="0"/>
              <a:t>）。</a:t>
            </a:r>
            <a:r>
              <a:rPr kumimoji="1" lang="zh-CN" altLang="en-US" dirty="0"/>
              <a:t>位于产品列表下方的故事可能不会很快被实现，接收标准可以降低精度。 </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US" altLang="zh-CN" dirty="0">
                <a:solidFill>
                  <a:schemeClr val="tx1"/>
                </a:solidFill>
                <a:effectLst/>
                <a:latin typeface=".AppleSystemUIFont"/>
              </a:rPr>
              <a:t>“Definition of Done”</a:t>
            </a:r>
            <a:r>
              <a:rPr lang="zh-CN" altLang="en-US" dirty="0">
                <a:solidFill>
                  <a:schemeClr val="tx1"/>
                </a:solidFill>
                <a:effectLst/>
                <a:latin typeface=".AppleSystemUIFont"/>
              </a:rPr>
              <a:t>（</a:t>
            </a:r>
            <a:r>
              <a:rPr lang="en-US" altLang="zh-CN" dirty="0">
                <a:solidFill>
                  <a:schemeClr val="tx1"/>
                </a:solidFill>
                <a:effectLst/>
                <a:latin typeface=".AppleSystemUIFont"/>
              </a:rPr>
              <a:t>DoD</a:t>
            </a:r>
            <a:r>
              <a:rPr lang="zh-CN" altLang="en-US" dirty="0">
                <a:solidFill>
                  <a:schemeClr val="tx1"/>
                </a:solidFill>
                <a:effectLst/>
                <a:latin typeface=".AppleSystemUIFont"/>
              </a:rPr>
              <a:t>）</a:t>
            </a:r>
            <a:endParaRPr lang="en-US" altLang="zh-CN" dirty="0">
              <a:solidFill>
                <a:schemeClr val="tx1"/>
              </a:solidFill>
              <a:effectLst/>
              <a:latin typeface=".AppleSystemUIFont"/>
            </a:endParaRPr>
          </a:p>
        </p:txBody>
      </p:sp>
      <p:sp>
        <p:nvSpPr>
          <p:cNvPr id="4" name="内容占位符 3"/>
          <p:cNvSpPr>
            <a:spLocks noGrp="1"/>
          </p:cNvSpPr>
          <p:nvPr>
            <p:ph idx="1"/>
          </p:nvPr>
        </p:nvSpPr>
        <p:spPr/>
        <p:txBody>
          <a:bodyPr>
            <a:normAutofit fontScale="92500" lnSpcReduction="20000"/>
          </a:bodyPr>
          <a:lstStyle/>
          <a:p>
            <a:r>
              <a:rPr kumimoji="1" lang="en-US" altLang="zh-CN" dirty="0"/>
              <a:t>“Definition of Done”</a:t>
            </a:r>
            <a:r>
              <a:rPr kumimoji="1" lang="zh-CN" altLang="en-US" dirty="0"/>
              <a:t>（</a:t>
            </a:r>
            <a:r>
              <a:rPr kumimoji="1" lang="en-US" altLang="zh-CN" dirty="0"/>
              <a:t>DoD</a:t>
            </a:r>
            <a:r>
              <a:rPr kumimoji="1" lang="zh-CN" altLang="en-US" dirty="0"/>
              <a:t>，完成的定义） 是敏捷软件开发中的一个关键概念，用于描述一个用户故事、任务或功能何时可以被认为真正“完成”。它是团队对完成工作的标准化定义，确保开发过程中每个增量都符合质量要求并准备好交付。</a:t>
            </a:r>
            <a:endParaRPr kumimoji="1" lang="en-US" altLang="zh-CN" dirty="0"/>
          </a:p>
          <a:p>
            <a:pPr lvl="1"/>
            <a:r>
              <a:rPr kumimoji="1" lang="en-US" altLang="zh-CN" dirty="0"/>
              <a:t>1.</a:t>
            </a:r>
            <a:r>
              <a:rPr kumimoji="1" lang="zh-CN" altLang="en-US" dirty="0"/>
              <a:t>提高透明度：</a:t>
            </a:r>
            <a:r>
              <a:rPr kumimoji="1" lang="en-US" altLang="zh-CN" dirty="0"/>
              <a:t>DoD </a:t>
            </a:r>
            <a:r>
              <a:rPr kumimoji="1" lang="zh-CN" altLang="en-US" dirty="0"/>
              <a:t>明确了完成的标准，减少了团队之间的沟通误解。</a:t>
            </a:r>
            <a:endParaRPr kumimoji="1" lang="zh-CN" altLang="en-US" dirty="0"/>
          </a:p>
          <a:p>
            <a:pPr lvl="1"/>
            <a:r>
              <a:rPr kumimoji="1" lang="en-US" altLang="zh-CN" dirty="0"/>
              <a:t>2.</a:t>
            </a:r>
            <a:r>
              <a:rPr kumimoji="1" lang="zh-CN" altLang="en-US" dirty="0"/>
              <a:t>保证质量：通过对代码质量、测试和文档的明确要求，确保产出的增量软件可用且可靠。</a:t>
            </a:r>
            <a:endParaRPr kumimoji="1" lang="zh-CN" altLang="en-US" dirty="0"/>
          </a:p>
          <a:p>
            <a:pPr lvl="1"/>
            <a:r>
              <a:rPr kumimoji="1" lang="en-US" altLang="zh-CN" dirty="0"/>
              <a:t>3.</a:t>
            </a:r>
            <a:r>
              <a:rPr kumimoji="1" lang="zh-CN" altLang="en-US" dirty="0"/>
              <a:t>支持验收流程：</a:t>
            </a:r>
            <a:r>
              <a:rPr kumimoji="1" lang="en-US" altLang="zh-CN" dirty="0"/>
              <a:t>DoD </a:t>
            </a:r>
            <a:r>
              <a:rPr kumimoji="1" lang="zh-CN" altLang="en-US" dirty="0"/>
              <a:t>是验收用户故事或功能的依据。如果工作未达到 </a:t>
            </a:r>
            <a:r>
              <a:rPr kumimoji="1" lang="en-US" altLang="zh-CN" dirty="0"/>
              <a:t>DoD</a:t>
            </a:r>
            <a:r>
              <a:rPr kumimoji="1" lang="zh-CN" altLang="en-US" dirty="0"/>
              <a:t>，任务不能被标记为完成。</a:t>
            </a:r>
            <a:endParaRPr kumimoji="1" lang="zh-CN" altLang="en-US" dirty="0"/>
          </a:p>
          <a:p>
            <a:pPr lvl="1"/>
            <a:r>
              <a:rPr kumimoji="1" lang="en-US" altLang="zh-CN" dirty="0"/>
              <a:t>4.</a:t>
            </a:r>
            <a:r>
              <a:rPr kumimoji="1" lang="zh-CN" altLang="en-US" dirty="0"/>
              <a:t>防止技术债：通过明确完成标准，避免开发过程中留下未解决的问题。</a:t>
            </a:r>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US" altLang="zh-CN" dirty="0">
                <a:solidFill>
                  <a:schemeClr val="tx1"/>
                </a:solidFill>
                <a:effectLst/>
                <a:latin typeface=".AppleSystemUIFont"/>
              </a:rPr>
              <a:t>“Definition of Done”</a:t>
            </a:r>
            <a:r>
              <a:rPr lang="zh-CN" altLang="en-US" dirty="0">
                <a:solidFill>
                  <a:schemeClr val="tx1"/>
                </a:solidFill>
                <a:effectLst/>
                <a:latin typeface=".AppleSystemUIFont"/>
              </a:rPr>
              <a:t>（</a:t>
            </a:r>
            <a:r>
              <a:rPr lang="en-US" altLang="zh-CN" dirty="0">
                <a:solidFill>
                  <a:schemeClr val="tx1"/>
                </a:solidFill>
                <a:effectLst/>
                <a:latin typeface=".AppleSystemUIFont"/>
              </a:rPr>
              <a:t>DoD</a:t>
            </a:r>
            <a:r>
              <a:rPr lang="zh-CN" altLang="en-US" dirty="0">
                <a:solidFill>
                  <a:schemeClr val="tx1"/>
                </a:solidFill>
                <a:effectLst/>
                <a:latin typeface=".AppleSystemUIFont"/>
              </a:rPr>
              <a:t>）例子</a:t>
            </a:r>
            <a:endParaRPr lang="en-US" altLang="zh-CN" dirty="0">
              <a:solidFill>
                <a:schemeClr val="tx1"/>
              </a:solidFill>
              <a:effectLst/>
              <a:latin typeface=".AppleSystemUIFont"/>
            </a:endParaRPr>
          </a:p>
        </p:txBody>
      </p:sp>
      <p:sp>
        <p:nvSpPr>
          <p:cNvPr id="4" name="内容占位符 3"/>
          <p:cNvSpPr>
            <a:spLocks noGrp="1"/>
          </p:cNvSpPr>
          <p:nvPr>
            <p:ph idx="1"/>
          </p:nvPr>
        </p:nvSpPr>
        <p:spPr/>
        <p:txBody>
          <a:bodyPr>
            <a:normAutofit fontScale="62500" lnSpcReduction="20000"/>
          </a:bodyPr>
          <a:lstStyle/>
          <a:p>
            <a:r>
              <a:rPr kumimoji="1" lang="zh-CN" altLang="en-US" dirty="0"/>
              <a:t>假设一个团队正在开发一个电子商务应用的“用户注册功能”，其 </a:t>
            </a:r>
            <a:r>
              <a:rPr kumimoji="1" lang="en-US" altLang="zh-CN" dirty="0"/>
              <a:t>DoD </a:t>
            </a:r>
            <a:r>
              <a:rPr kumimoji="1" lang="zh-CN" altLang="en-US" dirty="0"/>
              <a:t>可能如下：</a:t>
            </a:r>
            <a:endParaRPr kumimoji="1" lang="zh-CN" altLang="en-US" dirty="0"/>
          </a:p>
          <a:p>
            <a:r>
              <a:rPr kumimoji="1" lang="en-US" altLang="zh-CN" dirty="0"/>
              <a:t>1.</a:t>
            </a:r>
            <a:r>
              <a:rPr kumimoji="1" lang="zh-CN" altLang="en-US" dirty="0"/>
              <a:t>开发完成：</a:t>
            </a:r>
            <a:endParaRPr kumimoji="1" lang="zh-CN" altLang="en-US" dirty="0"/>
          </a:p>
          <a:p>
            <a:pPr lvl="1"/>
            <a:r>
              <a:rPr kumimoji="1" lang="zh-CN" altLang="en-US" dirty="0"/>
              <a:t>用户可以通过表单输入基本信息（用户名、密码、邮箱）。</a:t>
            </a:r>
            <a:endParaRPr kumimoji="1" lang="zh-CN" altLang="en-US" dirty="0"/>
          </a:p>
          <a:p>
            <a:pPr lvl="1"/>
            <a:r>
              <a:rPr kumimoji="1" lang="zh-CN" altLang="en-US" dirty="0"/>
              <a:t>提交表单后，信息存储到数据库。</a:t>
            </a:r>
            <a:endParaRPr kumimoji="1" lang="zh-CN" altLang="en-US" dirty="0"/>
          </a:p>
          <a:p>
            <a:r>
              <a:rPr kumimoji="1" lang="en-US" altLang="zh-CN" dirty="0"/>
              <a:t>2.</a:t>
            </a:r>
            <a:r>
              <a:rPr kumimoji="1" lang="zh-CN" altLang="en-US" dirty="0"/>
              <a:t>测试通过：</a:t>
            </a:r>
            <a:endParaRPr kumimoji="1" lang="zh-CN" altLang="en-US" dirty="0"/>
          </a:p>
          <a:p>
            <a:pPr lvl="1"/>
            <a:r>
              <a:rPr kumimoji="1" lang="zh-CN" altLang="en-US" dirty="0"/>
              <a:t>表单的必填项验证功能正常。</a:t>
            </a:r>
            <a:endParaRPr kumimoji="1" lang="zh-CN" altLang="en-US" dirty="0"/>
          </a:p>
          <a:p>
            <a:pPr lvl="1"/>
            <a:r>
              <a:rPr kumimoji="1" lang="zh-CN" altLang="en-US" dirty="0"/>
              <a:t>注册成功后，用户会收到确认邮件（已在开发环境中验证）。</a:t>
            </a:r>
            <a:endParaRPr kumimoji="1" lang="zh-CN" altLang="en-US" dirty="0"/>
          </a:p>
          <a:p>
            <a:pPr lvl="1"/>
            <a:r>
              <a:rPr kumimoji="1" lang="zh-CN" altLang="en-US" dirty="0"/>
              <a:t>单元测试覆盖率达到 </a:t>
            </a:r>
            <a:r>
              <a:rPr kumimoji="1" lang="en-US" altLang="zh-CN" dirty="0"/>
              <a:t>95%</a:t>
            </a:r>
            <a:r>
              <a:rPr kumimoji="1" lang="zh-CN" altLang="en-US" dirty="0"/>
              <a:t>。</a:t>
            </a:r>
            <a:endParaRPr kumimoji="1" lang="zh-CN" altLang="en-US" dirty="0"/>
          </a:p>
          <a:p>
            <a:r>
              <a:rPr kumimoji="1" lang="en-US" altLang="zh-CN" dirty="0"/>
              <a:t>3.</a:t>
            </a:r>
            <a:r>
              <a:rPr kumimoji="1" lang="zh-CN" altLang="en-US" dirty="0"/>
              <a:t>集成完成：</a:t>
            </a:r>
            <a:endParaRPr kumimoji="1" lang="zh-CN" altLang="en-US" dirty="0"/>
          </a:p>
          <a:p>
            <a:pPr lvl="1"/>
            <a:r>
              <a:rPr kumimoji="1" lang="zh-CN" altLang="en-US" dirty="0"/>
              <a:t>功能已合并到主分支，并通过持续集成管道中的所有检查。</a:t>
            </a:r>
            <a:endParaRPr kumimoji="1" lang="zh-CN" altLang="en-US" dirty="0"/>
          </a:p>
          <a:p>
            <a:r>
              <a:rPr kumimoji="1" lang="en-US" altLang="zh-CN" dirty="0"/>
              <a:t>4.</a:t>
            </a:r>
            <a:r>
              <a:rPr kumimoji="1" lang="zh-CN" altLang="en-US" dirty="0"/>
              <a:t>文档补充：</a:t>
            </a:r>
            <a:endParaRPr kumimoji="1" lang="zh-CN" altLang="en-US" dirty="0"/>
          </a:p>
          <a:p>
            <a:pPr lvl="1"/>
            <a:r>
              <a:rPr kumimoji="1" lang="zh-CN" altLang="en-US" dirty="0"/>
              <a:t>用户手册中新增“如何注册”的部分。</a:t>
            </a:r>
            <a:endParaRPr kumimoji="1" lang="zh-CN" altLang="en-US" dirty="0"/>
          </a:p>
          <a:p>
            <a:pPr lvl="1"/>
            <a:r>
              <a:rPr kumimoji="1" lang="zh-CN" altLang="en-US" dirty="0"/>
              <a:t>开发文档中记录了接口的详细信息和数据库结构。</a:t>
            </a:r>
            <a:endParaRPr kumimoji="1" lang="zh-CN" altLang="en-US" dirty="0"/>
          </a:p>
          <a:p>
            <a:r>
              <a:rPr kumimoji="1" lang="en-US" altLang="zh-CN" dirty="0"/>
              <a:t>5.</a:t>
            </a:r>
            <a:r>
              <a:rPr kumimoji="1" lang="zh-CN" altLang="en-US" dirty="0"/>
              <a:t>验收完成：</a:t>
            </a:r>
            <a:endParaRPr kumimoji="1" lang="zh-CN" altLang="en-US" dirty="0"/>
          </a:p>
          <a:p>
            <a:pPr lvl="1"/>
            <a:r>
              <a:rPr kumimoji="1" lang="zh-CN" altLang="en-US" dirty="0"/>
              <a:t>产品负责人在测试环境中成功完成了用户注册操作。</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solidFill>
                  <a:schemeClr val="tx1"/>
                </a:solidFill>
                <a:effectLst/>
                <a:latin typeface=".AppleSystemUIFont"/>
              </a:rPr>
              <a:t>行为驱动开发（</a:t>
            </a:r>
            <a:r>
              <a:rPr lang="en-US" altLang="zh-CN" dirty="0">
                <a:solidFill>
                  <a:schemeClr val="tx1"/>
                </a:solidFill>
                <a:effectLst/>
                <a:latin typeface=".AppleSystemUIFont"/>
              </a:rPr>
              <a:t>Behavior-Driven Development</a:t>
            </a:r>
            <a:r>
              <a:rPr lang="zh-CN" altLang="en-US" dirty="0">
                <a:solidFill>
                  <a:schemeClr val="tx1"/>
                </a:solidFill>
                <a:effectLst/>
                <a:latin typeface=".AppleSystemUIFont"/>
              </a:rPr>
              <a:t>，</a:t>
            </a:r>
            <a:r>
              <a:rPr lang="en-US" altLang="zh-CN" dirty="0">
                <a:solidFill>
                  <a:schemeClr val="tx1"/>
                </a:solidFill>
                <a:effectLst/>
                <a:latin typeface=".AppleSystemUIFont"/>
              </a:rPr>
              <a:t>BDD</a:t>
            </a:r>
            <a:r>
              <a:rPr lang="zh-CN" altLang="en-US" dirty="0">
                <a:solidFill>
                  <a:schemeClr val="tx1"/>
                </a:solidFill>
                <a:effectLst/>
                <a:latin typeface=".AppleSystemUIFont"/>
              </a:rPr>
              <a:t>）</a:t>
            </a:r>
            <a:endParaRPr lang="en-US" altLang="zh-CN" dirty="0">
              <a:solidFill>
                <a:schemeClr val="tx1"/>
              </a:solidFill>
              <a:effectLst/>
              <a:latin typeface=".AppleSystemUIFont"/>
            </a:endParaRPr>
          </a:p>
        </p:txBody>
      </p:sp>
      <p:sp>
        <p:nvSpPr>
          <p:cNvPr id="4" name="内容占位符 3"/>
          <p:cNvSpPr>
            <a:spLocks noGrp="1"/>
          </p:cNvSpPr>
          <p:nvPr>
            <p:ph idx="1"/>
          </p:nvPr>
        </p:nvSpPr>
        <p:spPr/>
        <p:txBody>
          <a:bodyPr>
            <a:normAutofit lnSpcReduction="10000"/>
          </a:bodyPr>
          <a:lstStyle/>
          <a:p>
            <a:r>
              <a:rPr kumimoji="1" lang="zh-CN" altLang="en-US" dirty="0"/>
              <a:t>行为驱动开发（</a:t>
            </a:r>
            <a:r>
              <a:rPr kumimoji="1" lang="en-US" altLang="zh-CN" dirty="0"/>
              <a:t>BDD</a:t>
            </a:r>
            <a:r>
              <a:rPr kumimoji="1" lang="zh-CN" altLang="en-US" dirty="0"/>
              <a:t>） 是一种基于敏捷的软件开发方法论，其核心思想是通过定义软件的行为来驱动开发过程。</a:t>
            </a:r>
            <a:r>
              <a:rPr kumimoji="1" lang="en-US" altLang="zh-CN" dirty="0"/>
              <a:t>BDD </a:t>
            </a:r>
            <a:r>
              <a:rPr kumimoji="1" lang="zh-CN" altLang="en-US" dirty="0"/>
              <a:t>的重点是增强团队对需求的理解，并确保开发的软件满足业务目标。</a:t>
            </a:r>
            <a:endParaRPr kumimoji="1" lang="zh-CN" altLang="en-US" dirty="0"/>
          </a:p>
          <a:p>
            <a:endParaRPr kumimoji="1" lang="zh-CN" altLang="en-US" dirty="0"/>
          </a:p>
          <a:p>
            <a:r>
              <a:rPr kumimoji="1" lang="en-US" altLang="zh-CN" dirty="0"/>
              <a:t>BDD </a:t>
            </a:r>
            <a:r>
              <a:rPr kumimoji="1" lang="zh-CN" altLang="en-US" dirty="0"/>
              <a:t>是从测试驱动开发（</a:t>
            </a:r>
            <a:r>
              <a:rPr kumimoji="1" lang="en-US" altLang="zh-CN" dirty="0"/>
              <a:t>TDD</a:t>
            </a:r>
            <a:r>
              <a:rPr kumimoji="1" lang="zh-CN" altLang="en-US" dirty="0"/>
              <a:t>）演化而来的，强调在开发开始之前，用自然语言描述软件应如何行为。它通过让技术人员、业务人员和测试人员围绕共同的需求语言进行协作，消除了沟通中的歧义。</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US" altLang="zh-CN" dirty="0">
                <a:solidFill>
                  <a:schemeClr val="tx1"/>
                </a:solidFill>
                <a:effectLst/>
                <a:latin typeface=".AppleSystemUIFont"/>
              </a:rPr>
              <a:t>BDD </a:t>
            </a:r>
            <a:r>
              <a:rPr lang="zh-CN" altLang="en-US" dirty="0">
                <a:solidFill>
                  <a:schemeClr val="tx1"/>
                </a:solidFill>
                <a:effectLst/>
                <a:latin typeface=".AppleSystemUIFont"/>
              </a:rPr>
              <a:t>的实践流程</a:t>
            </a:r>
            <a:r>
              <a:rPr lang="en-US" altLang="zh-CN" dirty="0">
                <a:solidFill>
                  <a:schemeClr val="tx1"/>
                </a:solidFill>
                <a:effectLst/>
                <a:latin typeface=".AppleSystemUIFont"/>
              </a:rPr>
              <a:t>1</a:t>
            </a:r>
            <a:endParaRPr lang="en-US" altLang="zh-CN" dirty="0">
              <a:solidFill>
                <a:schemeClr val="tx1"/>
              </a:solidFill>
              <a:effectLst/>
              <a:latin typeface=".AppleSystemUIFont"/>
            </a:endParaRPr>
          </a:p>
        </p:txBody>
      </p:sp>
      <p:sp>
        <p:nvSpPr>
          <p:cNvPr id="4" name="内容占位符 3"/>
          <p:cNvSpPr>
            <a:spLocks noGrp="1"/>
          </p:cNvSpPr>
          <p:nvPr>
            <p:ph idx="1"/>
          </p:nvPr>
        </p:nvSpPr>
        <p:spPr/>
        <p:txBody>
          <a:bodyPr>
            <a:normAutofit lnSpcReduction="10000"/>
          </a:bodyPr>
          <a:lstStyle/>
          <a:p>
            <a:r>
              <a:rPr kumimoji="1" lang="en-US" altLang="zh-CN" dirty="0"/>
              <a:t>1.	</a:t>
            </a:r>
            <a:r>
              <a:rPr kumimoji="1" lang="zh-CN" altLang="en-US" dirty="0"/>
              <a:t>编写用户故事：</a:t>
            </a:r>
            <a:endParaRPr kumimoji="1" lang="zh-CN" altLang="en-US" dirty="0"/>
          </a:p>
          <a:p>
            <a:r>
              <a:rPr kumimoji="1" lang="zh-CN" altLang="en-US" dirty="0"/>
              <a:t>用户故事采用以下模板描述功能需求：</a:t>
            </a:r>
            <a:endParaRPr kumimoji="1" lang="en-US" altLang="zh-CN" dirty="0"/>
          </a:p>
          <a:p>
            <a:pPr lvl="1"/>
            <a:r>
              <a:rPr kumimoji="1" lang="en-US" altLang="zh-CN" dirty="0"/>
              <a:t>As a [user role],</a:t>
            </a:r>
            <a:endParaRPr kumimoji="1" lang="en-US" altLang="zh-CN" dirty="0"/>
          </a:p>
          <a:p>
            <a:pPr lvl="1"/>
            <a:r>
              <a:rPr kumimoji="1" lang="en-US" altLang="zh-CN" dirty="0"/>
              <a:t>I want [feature/goal],</a:t>
            </a:r>
            <a:endParaRPr kumimoji="1" lang="en-US" altLang="zh-CN" dirty="0"/>
          </a:p>
          <a:p>
            <a:pPr lvl="1"/>
            <a:r>
              <a:rPr kumimoji="1" lang="en-US" altLang="zh-CN" dirty="0"/>
              <a:t>So that [business value].</a:t>
            </a:r>
            <a:endParaRPr kumimoji="1" lang="en-US" altLang="zh-CN" dirty="0"/>
          </a:p>
          <a:p>
            <a:pPr lvl="1"/>
            <a:endParaRPr kumimoji="1" lang="en-US" altLang="zh-CN" dirty="0"/>
          </a:p>
          <a:p>
            <a:pPr lvl="1"/>
            <a:r>
              <a:rPr kumimoji="1" lang="zh-CN" altLang="en-US" dirty="0"/>
              <a:t>作为一名电子商务网站用户，</a:t>
            </a:r>
            <a:endParaRPr kumimoji="1" lang="zh-CN" altLang="en-US" dirty="0"/>
          </a:p>
          <a:p>
            <a:pPr lvl="1"/>
            <a:r>
              <a:rPr kumimoji="1" lang="zh-CN" altLang="en-US" dirty="0"/>
              <a:t>我希望能够将商品添加到购物车，</a:t>
            </a:r>
            <a:endParaRPr kumimoji="1" lang="zh-CN" altLang="en-US" dirty="0"/>
          </a:p>
          <a:p>
            <a:pPr lvl="1"/>
            <a:r>
              <a:rPr kumimoji="1" lang="zh-CN" altLang="en-US" dirty="0"/>
              <a:t>以便稍后结算。</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US" altLang="zh-CN" dirty="0">
                <a:solidFill>
                  <a:schemeClr val="tx1"/>
                </a:solidFill>
                <a:effectLst/>
                <a:latin typeface=".AppleSystemUIFont"/>
              </a:rPr>
              <a:t>BDD </a:t>
            </a:r>
            <a:r>
              <a:rPr lang="zh-CN" altLang="en-US" dirty="0">
                <a:solidFill>
                  <a:schemeClr val="tx1"/>
                </a:solidFill>
                <a:effectLst/>
                <a:latin typeface=".AppleSystemUIFont"/>
              </a:rPr>
              <a:t>的实践流程</a:t>
            </a:r>
            <a:r>
              <a:rPr lang="en-US" altLang="zh-CN" dirty="0">
                <a:solidFill>
                  <a:schemeClr val="tx1"/>
                </a:solidFill>
                <a:effectLst/>
                <a:latin typeface=".AppleSystemUIFont"/>
              </a:rPr>
              <a:t>2</a:t>
            </a:r>
            <a:endParaRPr lang="en-US" altLang="zh-CN" dirty="0">
              <a:solidFill>
                <a:schemeClr val="tx1"/>
              </a:solidFill>
              <a:effectLst/>
              <a:latin typeface=".AppleSystemUIFont"/>
            </a:endParaRPr>
          </a:p>
        </p:txBody>
      </p:sp>
      <p:sp>
        <p:nvSpPr>
          <p:cNvPr id="4" name="内容占位符 3"/>
          <p:cNvSpPr>
            <a:spLocks noGrp="1"/>
          </p:cNvSpPr>
          <p:nvPr>
            <p:ph idx="1"/>
          </p:nvPr>
        </p:nvSpPr>
        <p:spPr>
          <a:xfrm>
            <a:off x="838200" y="1041622"/>
            <a:ext cx="10515600" cy="1477291"/>
          </a:xfrm>
        </p:spPr>
        <p:txBody>
          <a:bodyPr>
            <a:normAutofit/>
          </a:bodyPr>
          <a:lstStyle/>
          <a:p>
            <a:r>
              <a:rPr kumimoji="1" lang="en-US" altLang="zh-CN" dirty="0"/>
              <a:t>2.	</a:t>
            </a:r>
            <a:r>
              <a:rPr kumimoji="1" lang="zh-CN" altLang="en-US" dirty="0"/>
              <a:t>定义验收标准（</a:t>
            </a:r>
            <a:r>
              <a:rPr kumimoji="1" lang="en-US" altLang="zh-CN" dirty="0"/>
              <a:t>Acceptance Criteria</a:t>
            </a:r>
            <a:r>
              <a:rPr kumimoji="1" lang="zh-CN" altLang="en-US" dirty="0"/>
              <a:t>）：</a:t>
            </a:r>
            <a:endParaRPr kumimoji="1" lang="zh-CN" altLang="en-US" dirty="0"/>
          </a:p>
          <a:p>
            <a:pPr lvl="1"/>
            <a:r>
              <a:rPr kumimoji="1" lang="zh-CN" altLang="en-US" dirty="0"/>
              <a:t>验收标准是用户故事“完成”的具体条件，通常以场景的形式定义：</a:t>
            </a:r>
            <a:endParaRPr kumimoji="1" lang="zh-CN" altLang="en-US" dirty="0"/>
          </a:p>
        </p:txBody>
      </p:sp>
      <p:sp>
        <p:nvSpPr>
          <p:cNvPr id="5" name="文本框 4"/>
          <p:cNvSpPr txBox="1"/>
          <p:nvPr/>
        </p:nvSpPr>
        <p:spPr>
          <a:xfrm>
            <a:off x="1431985" y="2639683"/>
            <a:ext cx="3088257" cy="1200329"/>
          </a:xfrm>
          <a:prstGeom prst="rect">
            <a:avLst/>
          </a:prstGeom>
          <a:noFill/>
        </p:spPr>
        <p:txBody>
          <a:bodyPr wrap="square" rtlCol="0">
            <a:spAutoFit/>
          </a:bodyPr>
          <a:lstStyle/>
          <a:p>
            <a:r>
              <a:rPr kumimoji="1" lang="en-US" altLang="zh-CN" dirty="0"/>
              <a:t>Scenario: [</a:t>
            </a:r>
            <a:r>
              <a:rPr kumimoji="1" lang="zh-CN" altLang="en-US" dirty="0"/>
              <a:t>场景描述</a:t>
            </a:r>
            <a:r>
              <a:rPr kumimoji="1" lang="en-US" altLang="zh-CN" dirty="0"/>
              <a:t>]</a:t>
            </a:r>
            <a:endParaRPr kumimoji="1" lang="en-US" altLang="zh-CN" dirty="0"/>
          </a:p>
          <a:p>
            <a:r>
              <a:rPr kumimoji="1" lang="en-US" altLang="zh-CN" dirty="0"/>
              <a:t>  Given [</a:t>
            </a:r>
            <a:r>
              <a:rPr kumimoji="1" lang="zh-CN" altLang="en-US" dirty="0"/>
              <a:t>初始状态</a:t>
            </a:r>
            <a:r>
              <a:rPr kumimoji="1" lang="en-US" altLang="zh-CN" dirty="0"/>
              <a:t>]</a:t>
            </a:r>
            <a:endParaRPr kumimoji="1" lang="en-US" altLang="zh-CN" dirty="0"/>
          </a:p>
          <a:p>
            <a:r>
              <a:rPr kumimoji="1" lang="en-US" altLang="zh-CN" dirty="0"/>
              <a:t>  When [</a:t>
            </a:r>
            <a:r>
              <a:rPr kumimoji="1" lang="zh-CN" altLang="en-US" dirty="0"/>
              <a:t>执行的操作</a:t>
            </a:r>
            <a:r>
              <a:rPr kumimoji="1" lang="en-US" altLang="zh-CN" dirty="0"/>
              <a:t>]</a:t>
            </a:r>
            <a:endParaRPr kumimoji="1" lang="en-US" altLang="zh-CN" dirty="0"/>
          </a:p>
          <a:p>
            <a:r>
              <a:rPr kumimoji="1" lang="en-US" altLang="zh-CN" dirty="0"/>
              <a:t>  Then [</a:t>
            </a:r>
            <a:r>
              <a:rPr kumimoji="1" lang="zh-CN" altLang="en-US" dirty="0"/>
              <a:t>预期的结果</a:t>
            </a:r>
            <a:r>
              <a:rPr kumimoji="1" lang="en-US" altLang="zh-CN" dirty="0"/>
              <a:t>]</a:t>
            </a:r>
            <a:endParaRPr kumimoji="1" lang="zh-CN" altLang="en-US" dirty="0"/>
          </a:p>
        </p:txBody>
      </p:sp>
      <p:pic>
        <p:nvPicPr>
          <p:cNvPr id="6" name="图片 5"/>
          <p:cNvPicPr>
            <a:picLocks noChangeAspect="1"/>
          </p:cNvPicPr>
          <p:nvPr/>
        </p:nvPicPr>
        <p:blipFill>
          <a:blip r:embed="rId1"/>
          <a:stretch>
            <a:fillRect/>
          </a:stretch>
        </p:blipFill>
        <p:spPr>
          <a:xfrm>
            <a:off x="4520242" y="2518913"/>
            <a:ext cx="5795513" cy="3663830"/>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复杂故事卡</a:t>
            </a:r>
            <a:endParaRPr kumimoji="1" lang="zh-CN" altLang="en-US" dirty="0"/>
          </a:p>
        </p:txBody>
      </p:sp>
      <p:pic>
        <p:nvPicPr>
          <p:cNvPr id="5" name="图像" descr="图像"/>
          <p:cNvPicPr>
            <a:picLocks noChangeAspect="1"/>
          </p:cNvPicPr>
          <p:nvPr/>
        </p:nvPicPr>
        <p:blipFill>
          <a:blip r:embed="rId1"/>
          <a:stretch>
            <a:fillRect/>
          </a:stretch>
        </p:blipFill>
        <p:spPr>
          <a:xfrm>
            <a:off x="770092" y="1226128"/>
            <a:ext cx="10845800" cy="5545641"/>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用户故事</a:t>
            </a:r>
            <a:r>
              <a:rPr lang="en-US" altLang="zh-CN" dirty="0"/>
              <a:t> INVEST </a:t>
            </a:r>
            <a:r>
              <a:rPr lang="zh-CN" altLang="en-US" dirty="0"/>
              <a:t>原则</a:t>
            </a:r>
            <a:r>
              <a:rPr lang="en-US" altLang="zh-CN" dirty="0"/>
              <a:t>(2004)</a:t>
            </a:r>
            <a:endParaRPr kumimoji="1" lang="zh-CN" altLang="en-US" dirty="0"/>
          </a:p>
        </p:txBody>
      </p:sp>
      <p:sp>
        <p:nvSpPr>
          <p:cNvPr id="4" name="内容占位符 3"/>
          <p:cNvSpPr>
            <a:spLocks noGrp="1"/>
          </p:cNvSpPr>
          <p:nvPr>
            <p:ph idx="1"/>
          </p:nvPr>
        </p:nvSpPr>
        <p:spPr>
          <a:xfrm>
            <a:off x="838200" y="1041621"/>
            <a:ext cx="10515600" cy="5730147"/>
          </a:xfrm>
        </p:spPr>
        <p:txBody>
          <a:bodyPr>
            <a:normAutofit fontScale="77500" lnSpcReduction="20000"/>
          </a:bodyPr>
          <a:lstStyle/>
          <a:p>
            <a:r>
              <a:rPr kumimoji="1" lang="zh-CN" altLang="en-US" dirty="0"/>
              <a:t>独立性（</a:t>
            </a:r>
            <a:r>
              <a:rPr kumimoji="1" lang="en-GB" altLang="zh-CN" dirty="0"/>
              <a:t>Independent</a:t>
            </a:r>
            <a:r>
              <a:rPr kumimoji="1" lang="zh-CN" altLang="en-GB" dirty="0"/>
              <a:t>）</a:t>
            </a:r>
            <a:r>
              <a:rPr kumimoji="1" lang="en-GB" altLang="zh-CN" dirty="0"/>
              <a:t>— </a:t>
            </a:r>
            <a:r>
              <a:rPr kumimoji="1" lang="zh-CN" altLang="en-US" dirty="0"/>
              <a:t>要尽可能的让一个用户故事独立于其他的用户故事。</a:t>
            </a:r>
            <a:endParaRPr kumimoji="1" lang="zh-CN" altLang="en-US" dirty="0"/>
          </a:p>
          <a:p>
            <a:r>
              <a:rPr kumimoji="1" lang="zh-CN" altLang="en-US" dirty="0"/>
              <a:t>可协商性（</a:t>
            </a:r>
            <a:r>
              <a:rPr kumimoji="1" lang="en-GB" altLang="zh-CN" dirty="0"/>
              <a:t>Negotiable</a:t>
            </a:r>
            <a:r>
              <a:rPr kumimoji="1" lang="zh-CN" altLang="en-GB" dirty="0"/>
              <a:t>）</a:t>
            </a:r>
            <a:r>
              <a:rPr kumimoji="1" lang="en-GB" altLang="zh-CN" dirty="0"/>
              <a:t>— </a:t>
            </a:r>
            <a:r>
              <a:rPr kumimoji="1" lang="zh-CN" altLang="en-US" dirty="0"/>
              <a:t>一个用户故事的内容要是可以协商的，用户故事不是合同。</a:t>
            </a:r>
            <a:endParaRPr kumimoji="1" lang="zh-CN" altLang="en-US" dirty="0"/>
          </a:p>
          <a:p>
            <a:r>
              <a:rPr kumimoji="1" lang="zh-CN" altLang="en-US" dirty="0"/>
              <a:t>有价值（</a:t>
            </a:r>
            <a:r>
              <a:rPr kumimoji="1" lang="en-GB" altLang="zh-CN" dirty="0"/>
              <a:t>Valuable</a:t>
            </a:r>
            <a:r>
              <a:rPr kumimoji="1" lang="zh-CN" altLang="en-GB" dirty="0"/>
              <a:t>）</a:t>
            </a:r>
            <a:r>
              <a:rPr kumimoji="1" lang="en-GB" altLang="zh-CN" dirty="0"/>
              <a:t>— </a:t>
            </a:r>
            <a:r>
              <a:rPr kumimoji="1" lang="zh-CN" altLang="en-US" dirty="0"/>
              <a:t>每个故事必须对客户具有价值（无论是用户还是购买方）。</a:t>
            </a:r>
            <a:endParaRPr kumimoji="1" lang="zh-CN" altLang="en-US" dirty="0"/>
          </a:p>
          <a:p>
            <a:r>
              <a:rPr kumimoji="1" lang="zh-CN" altLang="en-US" dirty="0"/>
              <a:t>可以估算性（</a:t>
            </a:r>
            <a:r>
              <a:rPr kumimoji="1" lang="en-GB" altLang="zh-CN" dirty="0"/>
              <a:t>Estimable</a:t>
            </a:r>
            <a:r>
              <a:rPr kumimoji="1" lang="zh-CN" altLang="en-GB" dirty="0"/>
              <a:t>）</a:t>
            </a:r>
            <a:r>
              <a:rPr kumimoji="1" lang="en-GB" altLang="zh-CN" dirty="0"/>
              <a:t>—</a:t>
            </a:r>
            <a:r>
              <a:rPr kumimoji="1" lang="zh-CN" altLang="en-US" dirty="0"/>
              <a:t>开发团队需要去估计一个用户故事以便确定优先级，工作量，安排计划。</a:t>
            </a:r>
            <a:endParaRPr kumimoji="1" lang="zh-CN" altLang="en-US" dirty="0"/>
          </a:p>
          <a:p>
            <a:r>
              <a:rPr kumimoji="1" lang="zh-CN" altLang="en-US" dirty="0"/>
              <a:t>短小（</a:t>
            </a:r>
            <a:r>
              <a:rPr kumimoji="1" lang="en-GB" altLang="zh-CN" dirty="0"/>
              <a:t>Small</a:t>
            </a:r>
            <a:r>
              <a:rPr kumimoji="1" lang="zh-CN" altLang="en-GB" dirty="0"/>
              <a:t>）</a:t>
            </a:r>
            <a:r>
              <a:rPr kumimoji="1" lang="en-GB" altLang="zh-CN" dirty="0"/>
              <a:t>— </a:t>
            </a:r>
            <a:r>
              <a:rPr kumimoji="1" lang="zh-CN" altLang="en-US" dirty="0"/>
              <a:t>一个好的故事在工作量上要尽量短小，至少要确保的是在一个迭代或</a:t>
            </a:r>
            <a:r>
              <a:rPr kumimoji="1" lang="en-GB" altLang="zh-CN" dirty="0"/>
              <a:t>Sprint</a:t>
            </a:r>
            <a:r>
              <a:rPr kumimoji="1" lang="zh-CN" altLang="en-US" dirty="0"/>
              <a:t>中能够完成。</a:t>
            </a:r>
            <a:endParaRPr kumimoji="1" lang="zh-CN" altLang="en-US" dirty="0"/>
          </a:p>
          <a:p>
            <a:r>
              <a:rPr kumimoji="1" lang="zh-CN" altLang="en-US" dirty="0"/>
              <a:t>可测试性（</a:t>
            </a:r>
            <a:r>
              <a:rPr kumimoji="1" lang="en-GB" altLang="zh-CN" dirty="0"/>
              <a:t>Testable</a:t>
            </a:r>
            <a:r>
              <a:rPr kumimoji="1" lang="zh-CN" altLang="en-GB" dirty="0"/>
              <a:t>）</a:t>
            </a:r>
            <a:r>
              <a:rPr kumimoji="1" lang="en-GB" altLang="zh-CN" dirty="0"/>
              <a:t>—</a:t>
            </a:r>
            <a:r>
              <a:rPr kumimoji="1" lang="zh-CN" altLang="en-US" dirty="0"/>
              <a:t>一个用户故事要是可以测试的，以便于确认它是可以完成的。</a:t>
            </a:r>
            <a:endParaRPr kumimoji="1" lang="en-US" altLang="zh-CN" dirty="0"/>
          </a:p>
          <a:p>
            <a:r>
              <a:rPr kumimoji="1" lang="zh-CN" altLang="en-US" dirty="0"/>
              <a:t>每个用户故事都应像标准快递箱</a:t>
            </a:r>
            <a:r>
              <a:rPr kumimoji="1" lang="en-US" altLang="zh-CN" dirty="0"/>
              <a:t>——</a:t>
            </a:r>
            <a:r>
              <a:rPr kumimoji="1" lang="zh-CN" altLang="en-US" dirty="0"/>
              <a:t>独立封装（</a:t>
            </a:r>
            <a:r>
              <a:rPr kumimoji="1" lang="en-US" altLang="zh-CN" dirty="0"/>
              <a:t>Independent</a:t>
            </a:r>
            <a:r>
              <a:rPr kumimoji="1" lang="zh-CN" altLang="en-US" dirty="0"/>
              <a:t>）、地址清晰（</a:t>
            </a:r>
            <a:r>
              <a:rPr kumimoji="1" lang="en-US" altLang="zh-CN" dirty="0"/>
              <a:t>Valuable</a:t>
            </a:r>
            <a:r>
              <a:rPr kumimoji="1" lang="zh-CN" altLang="en-US" dirty="0"/>
              <a:t>）、体积适中（</a:t>
            </a:r>
            <a:r>
              <a:rPr kumimoji="1" lang="en-US" altLang="zh-CN" dirty="0"/>
              <a:t>Small</a:t>
            </a:r>
            <a:r>
              <a:rPr kumimoji="1" lang="zh-CN" altLang="en-US" dirty="0"/>
              <a:t>）、运费明确（</a:t>
            </a:r>
            <a:r>
              <a:rPr kumimoji="1" lang="en-US" altLang="zh-CN" dirty="0"/>
              <a:t>Estimable</a:t>
            </a:r>
            <a:r>
              <a:rPr kumimoji="1" lang="zh-CN" altLang="en-US" dirty="0"/>
              <a:t>）、可追踪（</a:t>
            </a:r>
            <a:r>
              <a:rPr kumimoji="1" lang="en-US" altLang="zh-CN" dirty="0"/>
              <a:t>Testable</a:t>
            </a:r>
            <a:r>
              <a:rPr kumimoji="1" lang="zh-CN" altLang="en-US" dirty="0"/>
              <a:t>）、允许改派（</a:t>
            </a:r>
            <a:r>
              <a:rPr kumimoji="1" lang="en-US" altLang="zh-CN" dirty="0"/>
              <a:t>Negotiable</a:t>
            </a:r>
            <a:r>
              <a:rPr kumimoji="1" lang="zh-CN" altLang="en-US" dirty="0"/>
              <a:t>）。这样的标准化包装，才能让需求运输既高效又可靠。</a:t>
            </a:r>
            <a:endParaRPr kumimoji="1" lang="zh-CN" altLang="en-US" dirty="0"/>
          </a:p>
        </p:txBody>
      </p:sp>
      <p:sp>
        <p:nvSpPr>
          <p:cNvPr id="5" name="文本框 4"/>
          <p:cNvSpPr txBox="1"/>
          <p:nvPr/>
        </p:nvSpPr>
        <p:spPr>
          <a:xfrm>
            <a:off x="7455877" y="-369277"/>
            <a:ext cx="184731" cy="369332"/>
          </a:xfrm>
          <a:prstGeom prst="rect">
            <a:avLst/>
          </a:prstGeom>
          <a:noFill/>
        </p:spPr>
        <p:txBody>
          <a:bodyPr wrap="none" rtlCol="0">
            <a:spAutoFit/>
          </a:bodyPr>
          <a:lstStyle/>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产品</a:t>
            </a:r>
            <a:r>
              <a:rPr lang="en-GB" altLang="zh-CN" dirty="0"/>
              <a:t>Backlog </a:t>
            </a:r>
            <a:endParaRPr kumimoji="1" lang="zh-CN" altLang="en-US" dirty="0"/>
          </a:p>
        </p:txBody>
      </p:sp>
      <p:sp>
        <p:nvSpPr>
          <p:cNvPr id="4" name="内容占位符 3"/>
          <p:cNvSpPr>
            <a:spLocks noGrp="1"/>
          </p:cNvSpPr>
          <p:nvPr>
            <p:ph idx="1"/>
          </p:nvPr>
        </p:nvSpPr>
        <p:spPr>
          <a:xfrm>
            <a:off x="838200" y="1085850"/>
            <a:ext cx="10515600" cy="1409700"/>
          </a:xfrm>
        </p:spPr>
        <p:txBody>
          <a:bodyPr/>
          <a:lstStyle/>
          <a:p>
            <a:r>
              <a:rPr lang="zh-CN" altLang="en-US" dirty="0"/>
              <a:t>是</a:t>
            </a:r>
            <a:r>
              <a:rPr lang="en-GB" altLang="zh-CN" dirty="0"/>
              <a:t>Scrum</a:t>
            </a:r>
            <a:r>
              <a:rPr lang="zh-CN" altLang="en-US" dirty="0"/>
              <a:t>的核心，是按重要性排序的需求或故事（</a:t>
            </a:r>
            <a:r>
              <a:rPr lang="en-GB" altLang="zh-CN" dirty="0"/>
              <a:t>Story</a:t>
            </a:r>
            <a:r>
              <a:rPr lang="zh-CN" altLang="en-GB" dirty="0"/>
              <a:t>）</a:t>
            </a:r>
            <a:r>
              <a:rPr lang="zh-CN" altLang="en-US" dirty="0"/>
              <a:t>的列表（客户语言描述的客户需求）</a:t>
            </a:r>
            <a:endParaRPr lang="zh-CN" altLang="en-US" dirty="0"/>
          </a:p>
          <a:p>
            <a:endParaRPr kumimoji="1" lang="zh-CN" altLang="en-US" dirty="0"/>
          </a:p>
        </p:txBody>
      </p:sp>
      <p:graphicFrame>
        <p:nvGraphicFramePr>
          <p:cNvPr id="6" name="表格 5"/>
          <p:cNvGraphicFramePr>
            <a:graphicFrameLocks noGrp="1"/>
          </p:cNvGraphicFramePr>
          <p:nvPr/>
        </p:nvGraphicFramePr>
        <p:xfrm>
          <a:off x="2044700" y="2313529"/>
          <a:ext cx="7899399" cy="4351336"/>
        </p:xfrm>
        <a:graphic>
          <a:graphicData uri="http://schemas.openxmlformats.org/drawingml/2006/table">
            <a:tbl>
              <a:tblPr>
                <a:tableStyleId>{5C22544A-7EE6-4342-B048-85BDC9FD1C3A}</a:tableStyleId>
              </a:tblPr>
              <a:tblGrid>
                <a:gridCol w="819168"/>
                <a:gridCol w="338435"/>
                <a:gridCol w="2953623"/>
                <a:gridCol w="2969005"/>
                <a:gridCol w="819168"/>
              </a:tblGrid>
              <a:tr h="450138">
                <a:tc>
                  <a:txBody>
                    <a:bodyPr/>
                    <a:lstStyle/>
                    <a:p>
                      <a:pPr algn="ctr" fontAlgn="t"/>
                      <a:r>
                        <a:rPr lang="en-US" sz="900" u="none" strike="noStrike" dirty="0">
                          <a:effectLst/>
                        </a:rPr>
                        <a:t>Backlog Item</a:t>
                      </a:r>
                      <a:endParaRPr lang="en-US" sz="900" b="1" i="0" u="none" strike="noStrike" dirty="0">
                        <a:solidFill>
                          <a:srgbClr val="000000"/>
                        </a:solidFill>
                        <a:effectLst/>
                        <a:latin typeface="宋体" panose="02010600030101010101" pitchFamily="2" charset="-122"/>
                        <a:ea typeface="宋体" panose="02010600030101010101" pitchFamily="2" charset="-122"/>
                      </a:endParaRPr>
                    </a:p>
                  </a:txBody>
                  <a:tcPr marL="7502" marR="7502" marT="7502" marB="0"/>
                </a:tc>
                <a:tc>
                  <a:txBody>
                    <a:bodyPr/>
                    <a:lstStyle/>
                    <a:p>
                      <a:pPr algn="ctr" fontAlgn="t"/>
                      <a:r>
                        <a:rPr lang="zh-CN" altLang="en-US" sz="900" u="none" strike="noStrike" dirty="0">
                          <a:effectLst/>
                        </a:rPr>
                        <a:t>优先级</a:t>
                      </a:r>
                      <a:endParaRPr lang="zh-CN" altLang="en-US" sz="900" b="1" i="0" u="none" strike="noStrike" dirty="0">
                        <a:solidFill>
                          <a:srgbClr val="000000"/>
                        </a:solidFill>
                        <a:effectLst/>
                        <a:latin typeface="宋体" panose="02010600030101010101" pitchFamily="2" charset="-122"/>
                        <a:ea typeface="宋体" panose="02010600030101010101" pitchFamily="2" charset="-122"/>
                      </a:endParaRPr>
                    </a:p>
                  </a:txBody>
                  <a:tcPr marL="7502" marR="7502" marT="7502" marB="0"/>
                </a:tc>
                <a:tc>
                  <a:txBody>
                    <a:bodyPr/>
                    <a:lstStyle/>
                    <a:p>
                      <a:pPr algn="ctr" fontAlgn="t"/>
                      <a:r>
                        <a:rPr lang="zh-CN" altLang="en-US" sz="900" u="none" strike="noStrike">
                          <a:effectLst/>
                        </a:rPr>
                        <a:t>用户故事</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tc>
                <a:tc>
                  <a:txBody>
                    <a:bodyPr/>
                    <a:lstStyle/>
                    <a:p>
                      <a:pPr algn="ctr" fontAlgn="t"/>
                      <a:r>
                        <a:rPr lang="zh-CN" altLang="en-US" sz="900" u="none" strike="noStrike">
                          <a:effectLst/>
                        </a:rPr>
                        <a:t>验收标准</a:t>
                      </a:r>
                      <a:endParaRPr lang="zh-CN" altLang="en-US" sz="900" b="1"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tc>
                <a:tc>
                  <a:txBody>
                    <a:bodyPr/>
                    <a:lstStyle/>
                    <a:p>
                      <a:pPr algn="ctr" fontAlgn="t"/>
                      <a:r>
                        <a:rPr lang="zh-CN" altLang="en-US" sz="900" u="none" strike="noStrike">
                          <a:effectLst/>
                        </a:rPr>
                        <a:t>估算工时（</a:t>
                      </a:r>
                      <a:r>
                        <a:rPr lang="en-US" sz="900" u="none" strike="noStrike">
                          <a:effectLst/>
                        </a:rPr>
                        <a:t>Story Points）</a:t>
                      </a:r>
                      <a:endParaRPr lang="en-US" sz="900" b="1"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tc>
              </a:tr>
              <a:tr h="600185">
                <a:tc>
                  <a:txBody>
                    <a:bodyPr/>
                    <a:lstStyle/>
                    <a:p>
                      <a:pPr algn="l" fontAlgn="b"/>
                      <a:r>
                        <a:rPr lang="zh-CN" altLang="en-US" sz="900" u="none" strike="noStrike">
                          <a:effectLst/>
                        </a:rPr>
                        <a:t>用户注册功能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高</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dirty="0">
                          <a:effectLst/>
                        </a:rPr>
                        <a:t>作为一名新用户，我希望能够通过注册表单创建账户，以便登录并使用平台服务。</a:t>
                      </a:r>
                      <a:endParaRPr lang="zh-CN" altLang="en-US" sz="900" b="0" i="0" u="none" strike="noStrike" dirty="0">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用户可以输入用户名、邮箱、密码</a:t>
                      </a:r>
                      <a:br>
                        <a:rPr lang="zh-CN" altLang="en-US" sz="900" u="none" strike="noStrike">
                          <a:effectLst/>
                        </a:rPr>
                      </a:br>
                      <a:r>
                        <a:rPr lang="en-US" altLang="zh-CN" sz="900" u="none" strike="noStrike">
                          <a:effectLst/>
                        </a:rPr>
                        <a:t>- </a:t>
                      </a:r>
                      <a:r>
                        <a:rPr lang="zh-CN" altLang="en-US" sz="900" u="none" strike="noStrike">
                          <a:effectLst/>
                        </a:rPr>
                        <a:t>必填项验证正确，无错误提示</a:t>
                      </a:r>
                      <a:br>
                        <a:rPr lang="zh-CN" altLang="en-US" sz="900" u="none" strike="noStrike">
                          <a:effectLst/>
                        </a:rPr>
                      </a:br>
                      <a:r>
                        <a:rPr lang="en-US" altLang="zh-CN" sz="900" u="none" strike="noStrike">
                          <a:effectLst/>
                        </a:rPr>
                        <a:t>- </a:t>
                      </a:r>
                      <a:r>
                        <a:rPr lang="zh-CN" altLang="en-US" sz="900" u="none" strike="noStrike">
                          <a:effectLst/>
                        </a:rPr>
                        <a:t>提交后，账户信息存储在数据库</a:t>
                      </a:r>
                      <a:br>
                        <a:rPr lang="zh-CN" altLang="en-US" sz="900" u="none" strike="noStrike">
                          <a:effectLst/>
                        </a:rPr>
                      </a:br>
                      <a:r>
                        <a:rPr lang="en-US" altLang="zh-CN" sz="900" u="none" strike="noStrike">
                          <a:effectLst/>
                        </a:rPr>
                        <a:t>- </a:t>
                      </a:r>
                      <a:r>
                        <a:rPr lang="zh-CN" altLang="en-US" sz="900" u="none" strike="noStrike">
                          <a:effectLst/>
                        </a:rPr>
                        <a:t>用户收到注册确认邮件</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a:effectLst/>
                        </a:rPr>
                        <a:t>8</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r>
              <a:tr h="450138">
                <a:tc>
                  <a:txBody>
                    <a:bodyPr/>
                    <a:lstStyle/>
                    <a:p>
                      <a:pPr algn="l" fontAlgn="b"/>
                      <a:r>
                        <a:rPr lang="zh-CN" altLang="en-US" sz="900" u="none" strike="noStrike">
                          <a:effectLst/>
                        </a:rPr>
                        <a:t>登录功能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高</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作为一名用户，我希望能够使用用户名和密码登录账户，以便访问我的个人信息。</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输入正确的用户名和密码后可以登录</a:t>
                      </a:r>
                      <a:br>
                        <a:rPr lang="zh-CN" altLang="en-US" sz="900" u="none" strike="noStrike">
                          <a:effectLst/>
                        </a:rPr>
                      </a:br>
                      <a:r>
                        <a:rPr lang="en-US" altLang="zh-CN" sz="900" u="none" strike="noStrike">
                          <a:effectLst/>
                        </a:rPr>
                        <a:t>- </a:t>
                      </a:r>
                      <a:r>
                        <a:rPr lang="zh-CN" altLang="en-US" sz="900" u="none" strike="noStrike">
                          <a:effectLst/>
                        </a:rPr>
                        <a:t>输入错误时显示明确的错误消息</a:t>
                      </a:r>
                      <a:br>
                        <a:rPr lang="zh-CN" altLang="en-US" sz="900" u="none" strike="noStrike">
                          <a:effectLst/>
                        </a:rPr>
                      </a:br>
                      <a:r>
                        <a:rPr lang="en-US" altLang="zh-CN" sz="900" u="none" strike="noStrike">
                          <a:effectLst/>
                        </a:rPr>
                        <a:t>- </a:t>
                      </a:r>
                      <a:r>
                        <a:rPr lang="zh-CN" altLang="en-US" sz="900" u="none" strike="noStrike">
                          <a:effectLst/>
                        </a:rPr>
                        <a:t>登录状态在会话中维持有效</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a:effectLst/>
                        </a:rPr>
                        <a:t>5</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r>
              <a:tr h="450138">
                <a:tc>
                  <a:txBody>
                    <a:bodyPr/>
                    <a:lstStyle/>
                    <a:p>
                      <a:pPr algn="l" fontAlgn="b"/>
                      <a:r>
                        <a:rPr lang="zh-CN" altLang="en-US" sz="900" u="none" strike="noStrike">
                          <a:effectLst/>
                        </a:rPr>
                        <a:t>商品浏览</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中</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作为一名用户，我希望能够查看商品列表，以便快速找到我需要的商品。</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页面展示所有商品的基本信息（图片、名称、价格）</a:t>
                      </a:r>
                      <a:br>
                        <a:rPr lang="zh-CN" altLang="en-US" sz="900" u="none" strike="noStrike">
                          <a:effectLst/>
                        </a:rPr>
                      </a:br>
                      <a:r>
                        <a:rPr lang="en-US" altLang="zh-CN" sz="900" u="none" strike="noStrike">
                          <a:effectLst/>
                        </a:rPr>
                        <a:t>- </a:t>
                      </a:r>
                      <a:r>
                        <a:rPr lang="zh-CN" altLang="en-US" sz="900" u="none" strike="noStrike">
                          <a:effectLst/>
                        </a:rPr>
                        <a:t>商品列表支持分页加载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a:effectLst/>
                        </a:rPr>
                        <a:t>8</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r>
              <a:tr h="450138">
                <a:tc>
                  <a:txBody>
                    <a:bodyPr/>
                    <a:lstStyle/>
                    <a:p>
                      <a:pPr algn="l" fontAlgn="b"/>
                      <a:r>
                        <a:rPr lang="zh-CN" altLang="en-US" sz="900" u="none" strike="noStrike">
                          <a:effectLst/>
                        </a:rPr>
                        <a:t>购物车功能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中</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作为一名用户，我希望能够将商品添加到购物车，以便稍后进行结算。</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用户可以将任意商品添加到购物车</a:t>
                      </a:r>
                      <a:br>
                        <a:rPr lang="zh-CN" altLang="en-US" sz="900" u="none" strike="noStrike">
                          <a:effectLst/>
                        </a:rPr>
                      </a:br>
                      <a:r>
                        <a:rPr lang="en-US" altLang="zh-CN" sz="900" u="none" strike="noStrike">
                          <a:effectLst/>
                        </a:rPr>
                        <a:t>- </a:t>
                      </a:r>
                      <a:r>
                        <a:rPr lang="zh-CN" altLang="en-US" sz="900" u="none" strike="noStrike">
                          <a:effectLst/>
                        </a:rPr>
                        <a:t>购物车页面显示商品数量、总价</a:t>
                      </a:r>
                      <a:br>
                        <a:rPr lang="zh-CN" altLang="en-US" sz="900" u="none" strike="noStrike">
                          <a:effectLst/>
                        </a:rPr>
                      </a:br>
                      <a:r>
                        <a:rPr lang="en-US" altLang="zh-CN" sz="900" u="none" strike="noStrike">
                          <a:effectLst/>
                        </a:rPr>
                        <a:t>- </a:t>
                      </a:r>
                      <a:r>
                        <a:rPr lang="zh-CN" altLang="en-US" sz="900" u="none" strike="noStrike">
                          <a:effectLst/>
                        </a:rPr>
                        <a:t>用户可以在购物车中移除商品</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a:effectLst/>
                        </a:rPr>
                        <a:t>13</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r>
              <a:tr h="600185">
                <a:tc>
                  <a:txBody>
                    <a:bodyPr/>
                    <a:lstStyle/>
                    <a:p>
                      <a:pPr algn="l" fontAlgn="b"/>
                      <a:r>
                        <a:rPr lang="zh-CN" altLang="en-US" sz="900" u="none" strike="noStrike">
                          <a:effectLst/>
                        </a:rPr>
                        <a:t>支付功能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高</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作为一名用户，我希望能够通过支付页面完成订单付款，以便购买商品。</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支持多种支付方式（如信用卡、</a:t>
                      </a:r>
                      <a:r>
                        <a:rPr lang="en-US" sz="900" u="none" strike="noStrike">
                          <a:effectLst/>
                        </a:rPr>
                        <a:t>PayPal）</a:t>
                      </a:r>
                      <a:br>
                        <a:rPr lang="en-US" sz="900" u="none" strike="noStrike">
                          <a:effectLst/>
                        </a:rPr>
                      </a:br>
                      <a:r>
                        <a:rPr lang="en-US" sz="900" u="none" strike="noStrike">
                          <a:effectLst/>
                        </a:rPr>
                        <a:t>- </a:t>
                      </a:r>
                      <a:r>
                        <a:rPr lang="zh-CN" altLang="en-US" sz="900" u="none" strike="noStrike">
                          <a:effectLst/>
                        </a:rPr>
                        <a:t>支付完成后生成订单并发送确认邮件</a:t>
                      </a:r>
                      <a:br>
                        <a:rPr lang="zh-CN" altLang="en-US" sz="900" u="none" strike="noStrike">
                          <a:effectLst/>
                        </a:rPr>
                      </a:br>
                      <a:r>
                        <a:rPr lang="en-US" altLang="zh-CN" sz="900" u="none" strike="noStrike">
                          <a:effectLst/>
                        </a:rPr>
                        <a:t>- </a:t>
                      </a:r>
                      <a:r>
                        <a:rPr lang="zh-CN" altLang="en-US" sz="900" u="none" strike="noStrike">
                          <a:effectLst/>
                        </a:rPr>
                        <a:t>支付失败时提示用户重试</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a:effectLst/>
                        </a:rPr>
                        <a:t>20</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r>
              <a:tr h="450138">
                <a:tc>
                  <a:txBody>
                    <a:bodyPr/>
                    <a:lstStyle/>
                    <a:p>
                      <a:pPr algn="l" fontAlgn="b"/>
                      <a:r>
                        <a:rPr lang="zh-CN" altLang="en-US" sz="900" u="none" strike="noStrike">
                          <a:effectLst/>
                        </a:rPr>
                        <a:t>搜索功能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中</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作为一名用户，我希望能够通过搜索栏快速找到特定的商品，以节省时间。</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输入关键字后，展示相关商品列表</a:t>
                      </a:r>
                      <a:br>
                        <a:rPr lang="zh-CN" altLang="en-US" sz="900" u="none" strike="noStrike">
                          <a:effectLst/>
                        </a:rPr>
                      </a:br>
                      <a:r>
                        <a:rPr lang="en-US" altLang="zh-CN" sz="900" u="none" strike="noStrike">
                          <a:effectLst/>
                        </a:rPr>
                        <a:t>- </a:t>
                      </a:r>
                      <a:r>
                        <a:rPr lang="zh-CN" altLang="en-US" sz="900" u="none" strike="noStrike">
                          <a:effectLst/>
                        </a:rPr>
                        <a:t>支持模糊搜索和关键字高亮</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a:effectLst/>
                        </a:rPr>
                        <a:t>8</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r>
              <a:tr h="450138">
                <a:tc>
                  <a:txBody>
                    <a:bodyPr/>
                    <a:lstStyle/>
                    <a:p>
                      <a:pPr algn="l" fontAlgn="b"/>
                      <a:r>
                        <a:rPr lang="zh-CN" altLang="en-US" sz="900" u="none" strike="noStrike">
                          <a:effectLst/>
                        </a:rPr>
                        <a:t>用户账户管理</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低</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作为一名用户，我希望能够修改我的个人信息（如用户名、密码、邮箱），以便保持账户信息的准确性。</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用户可以修改个人信息并保存</a:t>
                      </a:r>
                      <a:br>
                        <a:rPr lang="zh-CN" altLang="en-US" sz="900" u="none" strike="noStrike">
                          <a:effectLst/>
                        </a:rPr>
                      </a:br>
                      <a:r>
                        <a:rPr lang="en-US" altLang="zh-CN" sz="900" u="none" strike="noStrike">
                          <a:effectLst/>
                        </a:rPr>
                        <a:t>- </a:t>
                      </a:r>
                      <a:r>
                        <a:rPr lang="zh-CN" altLang="en-US" sz="900" u="none" strike="noStrike">
                          <a:effectLst/>
                        </a:rPr>
                        <a:t>修改后的信息实时更新在数据库</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a:effectLst/>
                        </a:rPr>
                        <a:t>8</a:t>
                      </a:r>
                      <a:endParaRPr lang="en-US" altLang="zh-CN"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r>
              <a:tr h="450138">
                <a:tc>
                  <a:txBody>
                    <a:bodyPr/>
                    <a:lstStyle/>
                    <a:p>
                      <a:pPr algn="l" fontAlgn="b"/>
                      <a:r>
                        <a:rPr lang="zh-CN" altLang="en-US" sz="900" u="none" strike="noStrike">
                          <a:effectLst/>
                        </a:rPr>
                        <a:t>推荐系统</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低</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zh-CN" altLang="en-US" sz="900" u="none" strike="noStrike">
                          <a:effectLst/>
                        </a:rPr>
                        <a:t>作为一名用户，我希望能够在商品页面看到个性化推荐，以便发现更多感兴趣的商品。</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l" fontAlgn="b"/>
                      <a:r>
                        <a:rPr lang="en-US" altLang="zh-CN" sz="900" u="none" strike="noStrike">
                          <a:effectLst/>
                        </a:rPr>
                        <a:t>- </a:t>
                      </a:r>
                      <a:r>
                        <a:rPr lang="zh-CN" altLang="en-US" sz="900" u="none" strike="noStrike">
                          <a:effectLst/>
                        </a:rPr>
                        <a:t>根据用户浏览历史推荐相关商品</a:t>
                      </a:r>
                      <a:br>
                        <a:rPr lang="zh-CN" altLang="en-US" sz="900" u="none" strike="noStrike">
                          <a:effectLst/>
                        </a:rPr>
                      </a:br>
                      <a:r>
                        <a:rPr lang="en-US" altLang="zh-CN" sz="900" u="none" strike="noStrike">
                          <a:effectLst/>
                        </a:rPr>
                        <a:t>- </a:t>
                      </a:r>
                      <a:r>
                        <a:rPr lang="zh-CN" altLang="en-US" sz="900" u="none" strike="noStrike">
                          <a:effectLst/>
                        </a:rPr>
                        <a:t>页面加载推荐商品不影响主商品信息加载</a:t>
                      </a:r>
                      <a:endParaRPr lang="zh-CN" altLang="en-US" sz="900" b="0" i="0" u="none" strike="noStrike">
                        <a:solidFill>
                          <a:srgbClr val="000000"/>
                        </a:solidFill>
                        <a:effectLst/>
                        <a:latin typeface="宋体" panose="02010600030101010101" pitchFamily="2" charset="-122"/>
                        <a:ea typeface="宋体" panose="02010600030101010101" pitchFamily="2" charset="-122"/>
                      </a:endParaRPr>
                    </a:p>
                  </a:txBody>
                  <a:tcPr marL="7502" marR="7502" marT="7502" marB="0" anchor="b"/>
                </a:tc>
                <a:tc>
                  <a:txBody>
                    <a:bodyPr/>
                    <a:lstStyle/>
                    <a:p>
                      <a:pPr algn="r" fontAlgn="b"/>
                      <a:r>
                        <a:rPr lang="en-US" altLang="zh-CN" sz="900" u="none" strike="noStrike" dirty="0">
                          <a:effectLst/>
                        </a:rPr>
                        <a:t>13</a:t>
                      </a:r>
                      <a:endParaRPr lang="en-US" altLang="zh-CN" sz="900" b="0" i="0" u="none" strike="noStrike" dirty="0">
                        <a:solidFill>
                          <a:srgbClr val="000000"/>
                        </a:solidFill>
                        <a:effectLst/>
                        <a:latin typeface="宋体" panose="02010600030101010101" pitchFamily="2" charset="-122"/>
                        <a:ea typeface="宋体" panose="02010600030101010101" pitchFamily="2" charset="-122"/>
                      </a:endParaRPr>
                    </a:p>
                  </a:txBody>
                  <a:tcPr marL="7502" marR="7502" marT="7502" marB="0" anchor="b"/>
                </a:tc>
              </a:tr>
            </a:tbl>
          </a:graphicData>
        </a:graphic>
      </p:graphicFrame>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Product Backlog</a:t>
            </a:r>
            <a:r>
              <a:rPr kumimoji="1" lang="zh-CN" altLang="en-US" dirty="0"/>
              <a:t>（</a:t>
            </a:r>
            <a:r>
              <a:rPr kumimoji="1" lang="zh-CN" altLang="en-US" dirty="0">
                <a:solidFill>
                  <a:srgbClr val="FF0000"/>
                </a:solidFill>
              </a:rPr>
              <a:t>动态需求池</a:t>
            </a:r>
            <a:r>
              <a:rPr kumimoji="1" lang="zh-CN" altLang="en-US"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en-US" altLang="zh-CN" dirty="0"/>
              <a:t>Product Backlog </a:t>
            </a:r>
            <a:r>
              <a:rPr kumimoji="1" lang="zh-CN" altLang="en-US" dirty="0"/>
              <a:t>是一份涌现的和有序的清单，它列出了改进产品所需的内容。它是 </a:t>
            </a:r>
            <a:r>
              <a:rPr kumimoji="1" lang="en-US" altLang="zh-CN" dirty="0"/>
              <a:t>Scrum Team </a:t>
            </a:r>
            <a:r>
              <a:rPr kumimoji="1" lang="zh-CN" altLang="en-US" dirty="0"/>
              <a:t>所承担工作的唯一来源。</a:t>
            </a:r>
            <a:endParaRPr kumimoji="1" lang="zh-CN" altLang="en-US" dirty="0"/>
          </a:p>
          <a:p>
            <a:r>
              <a:rPr kumimoji="1" lang="zh-CN" altLang="en-US" dirty="0"/>
              <a:t>能够被 </a:t>
            </a:r>
            <a:r>
              <a:rPr kumimoji="1" lang="en-US" altLang="zh-CN" dirty="0"/>
              <a:t>Scrum Team </a:t>
            </a:r>
            <a:r>
              <a:rPr kumimoji="1" lang="zh-CN" altLang="en-US" dirty="0"/>
              <a:t>在一个 </a:t>
            </a:r>
            <a:r>
              <a:rPr kumimoji="1" lang="en-US" altLang="zh-CN" dirty="0"/>
              <a:t>Sprint </a:t>
            </a:r>
            <a:r>
              <a:rPr kumimoji="1" lang="zh-CN" altLang="en-US" dirty="0"/>
              <a:t>中完成（</a:t>
            </a:r>
            <a:r>
              <a:rPr kumimoji="1" lang="en-US" altLang="zh-CN" dirty="0"/>
              <a:t>Done</a:t>
            </a:r>
            <a:r>
              <a:rPr kumimoji="1" lang="zh-CN" altLang="en-US" dirty="0"/>
              <a:t>）的 </a:t>
            </a:r>
            <a:r>
              <a:rPr kumimoji="1" lang="en-US" altLang="zh-CN" dirty="0"/>
              <a:t>Product Backlog </a:t>
            </a:r>
            <a:r>
              <a:rPr kumimoji="1" lang="zh-CN" altLang="en-US" dirty="0"/>
              <a:t>条目被认为准备就绪，在</a:t>
            </a:r>
            <a:r>
              <a:rPr kumimoji="1" lang="en-US" altLang="zh-CN" dirty="0"/>
              <a:t>Sprint Planning </a:t>
            </a:r>
            <a:r>
              <a:rPr kumimoji="1" lang="zh-CN" altLang="en-US" dirty="0"/>
              <a:t>事件中可供选择。它们通常在精化活动后获得这种透明度。</a:t>
            </a:r>
            <a:endParaRPr kumimoji="1" lang="en-US" altLang="zh-CN" dirty="0"/>
          </a:p>
          <a:p>
            <a:r>
              <a:rPr kumimoji="1" lang="en-US" altLang="zh-CN" dirty="0"/>
              <a:t>Product Backlog </a:t>
            </a:r>
            <a:r>
              <a:rPr kumimoji="1" lang="zh-CN" altLang="en-US" dirty="0"/>
              <a:t>精化是将 </a:t>
            </a:r>
            <a:r>
              <a:rPr kumimoji="1" lang="en-US" altLang="zh-CN" dirty="0"/>
              <a:t>Product Backlog </a:t>
            </a:r>
            <a:r>
              <a:rPr kumimoji="1" lang="zh-CN" altLang="en-US" dirty="0"/>
              <a:t>条目分解并进一步定义为更小更精确的行为。这是一项持续进行的活动，为</a:t>
            </a:r>
            <a:r>
              <a:rPr kumimoji="1" lang="en-US" altLang="zh-CN" dirty="0"/>
              <a:t>Product Backlog </a:t>
            </a:r>
            <a:r>
              <a:rPr kumimoji="1" lang="zh-CN" altLang="en-US" dirty="0"/>
              <a:t>条目增添细节，例如描述、优先顺序和规模。这些属性通常随工作领域而变化。</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什么是用户故事地图</a:t>
            </a:r>
            <a:endParaRPr kumimoji="1" lang="zh-CN" altLang="en-US" dirty="0"/>
          </a:p>
        </p:txBody>
      </p:sp>
      <p:sp>
        <p:nvSpPr>
          <p:cNvPr id="4" name="内容占位符 3"/>
          <p:cNvSpPr>
            <a:spLocks noGrp="1"/>
          </p:cNvSpPr>
          <p:nvPr>
            <p:ph idx="1"/>
          </p:nvPr>
        </p:nvSpPr>
        <p:spPr>
          <a:xfrm>
            <a:off x="838200" y="2019300"/>
            <a:ext cx="10515600" cy="4157664"/>
          </a:xfrm>
        </p:spPr>
        <p:txBody>
          <a:bodyPr/>
          <a:lstStyle/>
          <a:p>
            <a:pPr>
              <a:defRPr>
                <a:solidFill>
                  <a:srgbClr val="B51700"/>
                </a:solidFill>
              </a:defRPr>
            </a:pPr>
            <a:r>
              <a:rPr lang="zh-CN" altLang="en-US" dirty="0"/>
              <a:t>用户故事地图是一门在需求拆分过程中保持全景图的技术。 </a:t>
            </a:r>
            <a:endParaRPr lang="zh-CN" altLang="en-US" dirty="0"/>
          </a:p>
          <a:p>
            <a:r>
              <a:rPr lang="zh-CN" altLang="en-US" dirty="0"/>
              <a:t>敏捷软件开发中使用用户故事地图来发现、管理需求。</a:t>
            </a:r>
            <a:endParaRPr lang="zh-CN" altLang="en-US" dirty="0"/>
          </a:p>
          <a:p>
            <a:r>
              <a:rPr lang="en-US" altLang="zh-CN" dirty="0"/>
              <a:t>2008</a:t>
            </a:r>
            <a:r>
              <a:rPr lang="zh-CN" altLang="en-US" dirty="0"/>
              <a:t>年提出。</a:t>
            </a:r>
            <a:endParaRPr lang="zh-CN" altLang="en-US" dirty="0"/>
          </a:p>
          <a:p>
            <a:pPr lvl="1"/>
            <a:r>
              <a:rPr kumimoji="1" lang="en-US" altLang="zh-CN" dirty="0"/>
              <a:t>J. Patton, User Story Mapping: Discover the Whole Story, Build the Right Product. Sebastopol, CA: O'Reilly Media, 2014.</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一个例子（简单手机银行，开发）</a:t>
            </a:r>
            <a:endParaRPr kumimoji="1" lang="zh-CN" altLang="en-US" dirty="0"/>
          </a:p>
        </p:txBody>
      </p:sp>
      <p:pic>
        <p:nvPicPr>
          <p:cNvPr id="5" name="图像" descr="图像"/>
          <p:cNvPicPr>
            <a:picLocks noChangeAspect="1"/>
          </p:cNvPicPr>
          <p:nvPr/>
        </p:nvPicPr>
        <p:blipFill>
          <a:blip r:embed="rId1"/>
          <a:stretch>
            <a:fillRect/>
          </a:stretch>
        </p:blipFill>
        <p:spPr>
          <a:xfrm>
            <a:off x="1828800" y="827367"/>
            <a:ext cx="8570580" cy="6037191"/>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故事地图解决的问题</a:t>
            </a:r>
            <a:endParaRPr kumimoji="1" lang="zh-CN" altLang="en-US" dirty="0"/>
          </a:p>
        </p:txBody>
      </p:sp>
      <p:sp>
        <p:nvSpPr>
          <p:cNvPr id="4" name="内容占位符 3"/>
          <p:cNvSpPr>
            <a:spLocks noGrp="1"/>
          </p:cNvSpPr>
          <p:nvPr>
            <p:ph idx="1"/>
          </p:nvPr>
        </p:nvSpPr>
        <p:spPr>
          <a:xfrm>
            <a:off x="838200" y="882711"/>
            <a:ext cx="10515600" cy="6213033"/>
          </a:xfrm>
        </p:spPr>
        <p:txBody>
          <a:bodyPr>
            <a:normAutofit fontScale="62500" lnSpcReduction="20000"/>
          </a:bodyPr>
          <a:lstStyle/>
          <a:p>
            <a:r>
              <a:rPr lang="en-US" altLang="zh-CN" dirty="0"/>
              <a:t>1.</a:t>
            </a:r>
            <a:r>
              <a:rPr lang="zh-CN" altLang="en-US" b="1" dirty="0"/>
              <a:t>全局视角缺失</a:t>
            </a:r>
            <a:r>
              <a:rPr lang="zh-CN" altLang="en-US" dirty="0"/>
              <a:t>：传统的待办事项列表（</a:t>
            </a:r>
            <a:r>
              <a:rPr lang="en-US" altLang="zh-CN" dirty="0"/>
              <a:t>Backlog</a:t>
            </a:r>
            <a:r>
              <a:rPr lang="zh-CN" altLang="en-US" dirty="0"/>
              <a:t>）往往只关注单个功能，缺乏对整体产品的全局视角，导致团队难以理解产品的整体结构和用户体验流程。用户故事地图通过横向展示用户活动，纵向排列功能细节，提供了产品的全貌视图，帮助团队更好地理解用户的使用路径。 ￼</a:t>
            </a:r>
            <a:endParaRPr lang="zh-CN" altLang="en-US" dirty="0"/>
          </a:p>
          <a:p>
            <a:r>
              <a:rPr lang="en-US" altLang="zh-CN" dirty="0"/>
              <a:t>2.</a:t>
            </a:r>
            <a:r>
              <a:rPr lang="zh-CN" altLang="en-US" b="1" dirty="0"/>
              <a:t>需求优先级难以确定</a:t>
            </a:r>
            <a:r>
              <a:rPr lang="zh-CN" altLang="en-US" dirty="0"/>
              <a:t>：在复杂的项目中，众多需求可能让团队难以确定哪些功能应优先开发。用户故事地图通过将用户故事按照用户活动和任务进行组织，清晰地展示各功能的相对重要性，便于团队合理安排开发顺序。 ￼</a:t>
            </a:r>
            <a:endParaRPr lang="zh-CN" altLang="en-US" dirty="0"/>
          </a:p>
          <a:p>
            <a:r>
              <a:rPr lang="en-US" altLang="zh-CN" dirty="0"/>
              <a:t>3.</a:t>
            </a:r>
            <a:r>
              <a:rPr lang="zh-CN" altLang="en-US" b="1" dirty="0"/>
              <a:t>缺乏用户需求聚焦</a:t>
            </a:r>
            <a:r>
              <a:rPr lang="zh-CN" altLang="en-US" dirty="0"/>
              <a:t>：开发过程中，团队可能过于关注技术实现，忽视了用户的真实需求。用户故事地图强调从用户角度出发，确保开发的功能真正满足用户需求，提升用户满意度。 ￼</a:t>
            </a:r>
            <a:endParaRPr lang="zh-CN" altLang="en-US" dirty="0"/>
          </a:p>
          <a:p>
            <a:r>
              <a:rPr lang="en-US" altLang="zh-CN" dirty="0"/>
              <a:t>4.</a:t>
            </a:r>
            <a:r>
              <a:rPr lang="zh-CN" altLang="en-US" b="1" dirty="0"/>
              <a:t>难以理解功能之间的关系</a:t>
            </a:r>
            <a:r>
              <a:rPr lang="zh-CN" altLang="en-US" dirty="0"/>
              <a:t>：在大型项目中，不同功能之间的关系可能复杂，团队难以把握。用户故事地图通过结构化的方式展示功能之间的关联，帮助团队更好地理解和管理这些关系。 ￼</a:t>
            </a:r>
            <a:endParaRPr lang="zh-CN" altLang="en-US" dirty="0"/>
          </a:p>
          <a:p>
            <a:r>
              <a:rPr lang="en-US" altLang="zh-CN" dirty="0"/>
              <a:t>5.</a:t>
            </a:r>
            <a:r>
              <a:rPr lang="zh-CN" altLang="en-US" b="1" dirty="0"/>
              <a:t>发布计划不明确</a:t>
            </a:r>
            <a:r>
              <a:rPr lang="zh-CN" altLang="en-US" dirty="0"/>
              <a:t>：在敏捷开发中，确定每次发布的功能范围至关重要。用户故事地图通过清晰地展示各功能的优先级和依赖关系，帮助团队制定合理的发布计划，确保每次发布都能为用户提供有价值的功能。 </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pic>
        <p:nvPicPr>
          <p:cNvPr id="6" name="内容占位符 5"/>
          <p:cNvPicPr>
            <a:picLocks noGrp="1" noChangeAspect="1"/>
          </p:cNvPicPr>
          <p:nvPr>
            <p:ph idx="1"/>
          </p:nvPr>
        </p:nvPicPr>
        <p:blipFill>
          <a:blip r:embed="rId1"/>
          <a:stretch>
            <a:fillRect/>
          </a:stretch>
        </p:blipFill>
        <p:spPr>
          <a:xfrm>
            <a:off x="1477631" y="0"/>
            <a:ext cx="8581788" cy="396107"/>
          </a:xfrm>
          <a:prstGeom prst="rect">
            <a:avLst/>
          </a:prstGeom>
        </p:spPr>
      </p:pic>
      <p:sp>
        <p:nvSpPr>
          <p:cNvPr id="5" name="文本框 4"/>
          <p:cNvSpPr txBox="1"/>
          <p:nvPr/>
        </p:nvSpPr>
        <p:spPr>
          <a:xfrm>
            <a:off x="7455877" y="-369277"/>
            <a:ext cx="184731" cy="369332"/>
          </a:xfrm>
          <a:prstGeom prst="rect">
            <a:avLst/>
          </a:prstGeom>
          <a:noFill/>
        </p:spPr>
        <p:txBody>
          <a:bodyPr wrap="none" rtlCol="0">
            <a:spAutoFit/>
          </a:bodyPr>
          <a:lstStyle/>
          <a:p>
            <a:endParaRPr kumimoji="1" lang="zh-CN" altLang="en-US" dirty="0"/>
          </a:p>
        </p:txBody>
      </p:sp>
      <p:pic>
        <p:nvPicPr>
          <p:cNvPr id="7" name="图片 6"/>
          <p:cNvPicPr>
            <a:picLocks noChangeAspect="1"/>
          </p:cNvPicPr>
          <p:nvPr/>
        </p:nvPicPr>
        <p:blipFill>
          <a:blip r:embed="rId2"/>
          <a:stretch>
            <a:fillRect/>
          </a:stretch>
        </p:blipFill>
        <p:spPr>
          <a:xfrm>
            <a:off x="1477631" y="369332"/>
            <a:ext cx="8581788" cy="6488668"/>
          </a:xfrm>
          <a:prstGeom prst="rect">
            <a:avLst/>
          </a:prstGeom>
        </p:spPr>
      </p:pic>
      <p:sp>
        <p:nvSpPr>
          <p:cNvPr id="9" name="文本占位符 8"/>
          <p:cNvSpPr>
            <a:spLocks noGrp="1"/>
          </p:cNvSpPr>
          <p:nvPr>
            <p:ph type="body" sz="quarter" idx="13"/>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Sprint</a:t>
            </a:r>
            <a:endParaRPr kumimoji="1" lang="zh-CN" altLang="en-US" dirty="0"/>
          </a:p>
        </p:txBody>
      </p:sp>
      <p:sp>
        <p:nvSpPr>
          <p:cNvPr id="4" name="内容占位符 3"/>
          <p:cNvSpPr>
            <a:spLocks noGrp="1"/>
          </p:cNvSpPr>
          <p:nvPr>
            <p:ph idx="1"/>
          </p:nvPr>
        </p:nvSpPr>
        <p:spPr/>
        <p:txBody>
          <a:bodyPr/>
          <a:lstStyle/>
          <a:p>
            <a:r>
              <a:rPr kumimoji="1" lang="en-US" altLang="zh-CN" dirty="0"/>
              <a:t>Sprint </a:t>
            </a:r>
            <a:r>
              <a:rPr kumimoji="1" lang="zh-CN" altLang="en-US" dirty="0"/>
              <a:t>是 </a:t>
            </a:r>
            <a:r>
              <a:rPr kumimoji="1" lang="en-US" altLang="zh-CN" dirty="0"/>
              <a:t>Scrum </a:t>
            </a:r>
            <a:r>
              <a:rPr kumimoji="1" lang="zh-CN" altLang="en-US" dirty="0"/>
              <a:t>的核心，在这里创意（</a:t>
            </a:r>
            <a:r>
              <a:rPr kumimoji="1" lang="en-US" altLang="zh-CN" dirty="0"/>
              <a:t>idea</a:t>
            </a:r>
            <a:r>
              <a:rPr kumimoji="1" lang="zh-CN" altLang="en-US" dirty="0"/>
              <a:t>）转化为价值。</a:t>
            </a:r>
            <a:endParaRPr kumimoji="1" lang="zh-CN" altLang="en-US" dirty="0"/>
          </a:p>
          <a:p>
            <a:r>
              <a:rPr kumimoji="1" lang="zh-CN" altLang="en-US" dirty="0"/>
              <a:t>它们是固定时长的事件，为期一个月或更短，以保持一致性。前一个 </a:t>
            </a:r>
            <a:r>
              <a:rPr kumimoji="1" lang="en-US" altLang="zh-CN" dirty="0"/>
              <a:t>Sprint </a:t>
            </a:r>
            <a:r>
              <a:rPr kumimoji="1" lang="zh-CN" altLang="en-US" dirty="0"/>
              <a:t>结束后，下一个新的</a:t>
            </a:r>
            <a:r>
              <a:rPr kumimoji="1" lang="en-US" altLang="zh-CN" dirty="0"/>
              <a:t>Sprint </a:t>
            </a:r>
            <a:r>
              <a:rPr kumimoji="1" lang="zh-CN" altLang="en-US" dirty="0"/>
              <a:t>紧接着立即开始。</a:t>
            </a:r>
            <a:endParaRPr kumimoji="1" lang="zh-CN" altLang="en-US" dirty="0"/>
          </a:p>
          <a:p>
            <a:r>
              <a:rPr kumimoji="1" lang="zh-CN" altLang="en-US" dirty="0"/>
              <a:t>实现 </a:t>
            </a:r>
            <a:r>
              <a:rPr kumimoji="1" lang="en-US" altLang="zh-CN" dirty="0"/>
              <a:t>Product Goal </a:t>
            </a:r>
            <a:r>
              <a:rPr kumimoji="1" lang="zh-CN" altLang="en-US" dirty="0"/>
              <a:t>所需的所有工作，包括 </a:t>
            </a:r>
            <a:r>
              <a:rPr kumimoji="1" lang="en-US" altLang="zh-CN" dirty="0"/>
              <a:t>Sprint Planning</a:t>
            </a:r>
            <a:r>
              <a:rPr kumimoji="1" lang="zh-CN" altLang="en-US" dirty="0"/>
              <a:t>、</a:t>
            </a:r>
            <a:r>
              <a:rPr kumimoji="1" lang="en-US" altLang="zh-CN" dirty="0"/>
              <a:t>Daily Scrum</a:t>
            </a:r>
            <a:r>
              <a:rPr kumimoji="1" lang="zh-CN" altLang="en-US" dirty="0"/>
              <a:t>、</a:t>
            </a:r>
            <a:r>
              <a:rPr kumimoji="1" lang="en-US" altLang="zh-CN" dirty="0"/>
              <a:t>Sprint Review </a:t>
            </a:r>
            <a:r>
              <a:rPr kumimoji="1" lang="zh-CN" altLang="en-US" dirty="0"/>
              <a:t>和 </a:t>
            </a:r>
            <a:r>
              <a:rPr kumimoji="1" lang="en-US" altLang="zh-CN" dirty="0"/>
              <a:t>Sprint</a:t>
            </a:r>
            <a:r>
              <a:rPr kumimoji="1" lang="zh-CN" altLang="en-US" dirty="0"/>
              <a:t> </a:t>
            </a:r>
            <a:r>
              <a:rPr kumimoji="1" lang="en-US" altLang="zh-CN" dirty="0"/>
              <a:t>Retrospective</a:t>
            </a:r>
            <a:r>
              <a:rPr kumimoji="1" lang="zh-CN" altLang="en-US" dirty="0"/>
              <a:t>，都发生在 </a:t>
            </a:r>
            <a:r>
              <a:rPr kumimoji="1" lang="en-US" altLang="zh-CN" dirty="0"/>
              <a:t>Sprint </a:t>
            </a:r>
            <a:r>
              <a:rPr kumimoji="1" lang="zh-CN" altLang="en-US" dirty="0"/>
              <a:t>内。</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一个</a:t>
            </a:r>
            <a:r>
              <a:rPr lang="en-GB" altLang="zh-CN" dirty="0"/>
              <a:t>Sprint</a:t>
            </a:r>
            <a:r>
              <a:rPr lang="zh-CN" altLang="en-US" dirty="0"/>
              <a:t>有多长？</a:t>
            </a:r>
            <a:endParaRPr kumimoji="1" lang="zh-CN" altLang="en-US" dirty="0"/>
          </a:p>
        </p:txBody>
      </p:sp>
      <p:sp>
        <p:nvSpPr>
          <p:cNvPr id="4" name="内容占位符 3"/>
          <p:cNvSpPr>
            <a:spLocks noGrp="1"/>
          </p:cNvSpPr>
          <p:nvPr>
            <p:ph idx="1"/>
          </p:nvPr>
        </p:nvSpPr>
        <p:spPr/>
        <p:txBody>
          <a:bodyPr/>
          <a:lstStyle/>
          <a:p>
            <a:pPr>
              <a:defRPr>
                <a:solidFill>
                  <a:srgbClr val="63055F"/>
                </a:solidFill>
              </a:defRPr>
            </a:pPr>
            <a:r>
              <a:rPr lang="zh-CN" altLang="en-US" dirty="0"/>
              <a:t>确定</a:t>
            </a:r>
            <a:r>
              <a:rPr lang="en-GB" altLang="zh-CN" dirty="0"/>
              <a:t>Sprint</a:t>
            </a:r>
            <a:r>
              <a:rPr lang="zh-CN" altLang="en-US" dirty="0"/>
              <a:t>长度：</a:t>
            </a:r>
            <a:r>
              <a:rPr lang="en-GB" altLang="zh-CN" dirty="0"/>
              <a:t>Sprint</a:t>
            </a:r>
            <a:r>
              <a:rPr lang="zh-CN" altLang="en-US" dirty="0"/>
              <a:t>持续多久才算合适？</a:t>
            </a:r>
            <a:endParaRPr lang="zh-CN" altLang="en-US" dirty="0"/>
          </a:p>
          <a:p>
            <a:pPr lvl="1">
              <a:defRPr>
                <a:solidFill>
                  <a:srgbClr val="63055F"/>
                </a:solidFill>
              </a:defRPr>
            </a:pPr>
            <a:r>
              <a:rPr lang="en-US" altLang="zh-CN" dirty="0"/>
              <a:t>–</a:t>
            </a:r>
            <a:r>
              <a:rPr lang="zh-CN" altLang="en-US" dirty="0"/>
              <a:t>时间短：“敏捷”</a:t>
            </a:r>
            <a:r>
              <a:rPr lang="en-US" altLang="zh-CN" dirty="0"/>
              <a:t>——</a:t>
            </a:r>
            <a:r>
              <a:rPr lang="zh-CN" altLang="en-US" dirty="0"/>
              <a:t>短反馈周期</a:t>
            </a:r>
            <a:r>
              <a:rPr lang="en-US" altLang="zh-CN" dirty="0"/>
              <a:t>=</a:t>
            </a:r>
            <a:r>
              <a:rPr lang="zh-CN" altLang="en-US" dirty="0"/>
              <a:t>频繁交付</a:t>
            </a:r>
            <a:r>
              <a:rPr lang="en-US" altLang="zh-CN" dirty="0"/>
              <a:t>=</a:t>
            </a:r>
            <a:r>
              <a:rPr lang="zh-CN" altLang="en-US" dirty="0"/>
              <a:t>频繁客户反馈</a:t>
            </a:r>
            <a:r>
              <a:rPr lang="en-US" altLang="zh-CN" dirty="0"/>
              <a:t>=</a:t>
            </a:r>
            <a:r>
              <a:rPr lang="zh-CN" altLang="en-US" dirty="0"/>
              <a:t>错误方向持续时间短</a:t>
            </a:r>
            <a:r>
              <a:rPr lang="en-US" altLang="zh-CN" dirty="0"/>
              <a:t>=</a:t>
            </a:r>
            <a:r>
              <a:rPr lang="zh-CN" altLang="en-US" dirty="0"/>
              <a:t>学习改进速度快</a:t>
            </a:r>
            <a:r>
              <a:rPr lang="en-US" altLang="zh-CN" dirty="0"/>
              <a:t>……</a:t>
            </a:r>
            <a:endParaRPr lang="en-US" altLang="zh-CN" dirty="0"/>
          </a:p>
          <a:p>
            <a:pPr lvl="1">
              <a:defRPr>
                <a:solidFill>
                  <a:srgbClr val="63055F"/>
                </a:solidFill>
              </a:defRPr>
            </a:pPr>
            <a:r>
              <a:rPr lang="en-US" altLang="zh-CN" dirty="0"/>
              <a:t>–</a:t>
            </a:r>
            <a:r>
              <a:rPr lang="zh-CN" altLang="en-US" dirty="0"/>
              <a:t>时间长：更多时间作充分准备、解决问题、达成目标，不会被接二连三的会议压的不堪重负。</a:t>
            </a:r>
            <a:endParaRPr lang="zh-CN" altLang="en-US" dirty="0"/>
          </a:p>
          <a:p>
            <a:pPr>
              <a:defRPr>
                <a:solidFill>
                  <a:schemeClr val="accent5"/>
                </a:solidFill>
              </a:defRPr>
            </a:pPr>
            <a:r>
              <a:rPr lang="zh-CN" altLang="en-US" dirty="0">
                <a:solidFill>
                  <a:srgbClr val="FF0000"/>
                </a:solidFill>
              </a:rPr>
              <a:t>当前，</a:t>
            </a:r>
            <a:r>
              <a:rPr lang="en-GB" altLang="zh-CN" dirty="0">
                <a:solidFill>
                  <a:srgbClr val="FF0000"/>
                </a:solidFill>
              </a:rPr>
              <a:t>Scrum </a:t>
            </a:r>
            <a:r>
              <a:rPr lang="zh-CN" altLang="en-US" dirty="0">
                <a:solidFill>
                  <a:srgbClr val="FF0000"/>
                </a:solidFill>
              </a:rPr>
              <a:t>周期通常为</a:t>
            </a:r>
            <a:r>
              <a:rPr lang="en-US" altLang="zh-CN" dirty="0">
                <a:solidFill>
                  <a:srgbClr val="FF0000"/>
                </a:solidFill>
              </a:rPr>
              <a:t>2</a:t>
            </a:r>
            <a:r>
              <a:rPr lang="zh-CN" altLang="en-US" dirty="0">
                <a:solidFill>
                  <a:srgbClr val="FF0000"/>
                </a:solidFill>
              </a:rPr>
              <a:t>个星期。</a:t>
            </a:r>
            <a:endParaRPr lang="zh-CN" altLang="en-US" dirty="0">
              <a:solidFill>
                <a:srgbClr val="FF0000"/>
              </a:solidFill>
            </a:endParaRPr>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计划会议准备 </a:t>
            </a:r>
            <a:endParaRPr kumimoji="1" lang="zh-CN" altLang="en-US" dirty="0"/>
          </a:p>
        </p:txBody>
      </p:sp>
      <p:sp>
        <p:nvSpPr>
          <p:cNvPr id="4" name="内容占位符 3"/>
          <p:cNvSpPr>
            <a:spLocks noGrp="1"/>
          </p:cNvSpPr>
          <p:nvPr>
            <p:ph idx="1"/>
          </p:nvPr>
        </p:nvSpPr>
        <p:spPr>
          <a:xfrm>
            <a:off x="838200" y="1917922"/>
            <a:ext cx="10515600" cy="3301778"/>
          </a:xfrm>
        </p:spPr>
        <p:txBody>
          <a:bodyPr/>
          <a:lstStyle/>
          <a:p>
            <a:pPr>
              <a:defRPr>
                <a:solidFill>
                  <a:srgbClr val="63055F"/>
                </a:solidFill>
              </a:defRPr>
            </a:pPr>
            <a:r>
              <a:rPr lang="zh-CN" altLang="en-US" dirty="0"/>
              <a:t>所有重要的</a:t>
            </a:r>
            <a:r>
              <a:rPr lang="en-GB" altLang="zh-CN" dirty="0"/>
              <a:t>backlog</a:t>
            </a:r>
            <a:r>
              <a:rPr lang="zh-CN" altLang="en-US" dirty="0"/>
              <a:t>条目都已经根据重要性被评过分</a:t>
            </a:r>
            <a:r>
              <a:rPr lang="en-US" altLang="zh-CN" dirty="0"/>
              <a:t>,</a:t>
            </a:r>
            <a:r>
              <a:rPr lang="zh-CN" altLang="en-US" dirty="0"/>
              <a:t>不同的重要程度对应不同的分数。分数只是用来根据重要性对</a:t>
            </a:r>
            <a:r>
              <a:rPr lang="en-GB" altLang="zh-CN" dirty="0"/>
              <a:t>backlog</a:t>
            </a:r>
            <a:r>
              <a:rPr lang="zh-CN" altLang="en-US" dirty="0"/>
              <a:t>条目排序。 </a:t>
            </a:r>
            <a:endParaRPr lang="zh-CN" altLang="en-US" dirty="0"/>
          </a:p>
          <a:p>
            <a:pPr>
              <a:defRPr>
                <a:solidFill>
                  <a:srgbClr val="63055F"/>
                </a:solidFill>
              </a:defRPr>
            </a:pPr>
            <a:r>
              <a:rPr lang="zh-CN" altLang="en-US" dirty="0"/>
              <a:t>所有人都可以编写添加条目，但只有</a:t>
            </a:r>
            <a:r>
              <a:rPr lang="en-GB" altLang="zh-CN" dirty="0"/>
              <a:t>Product Owner</a:t>
            </a:r>
            <a:r>
              <a:rPr lang="zh-CN" altLang="en-US" dirty="0"/>
              <a:t>才能决定优先级。</a:t>
            </a:r>
            <a:endParaRPr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计划会议目标</a:t>
            </a:r>
            <a:endParaRPr kumimoji="1" lang="zh-CN" altLang="en-US" dirty="0"/>
          </a:p>
        </p:txBody>
      </p:sp>
      <p:sp>
        <p:nvSpPr>
          <p:cNvPr id="4" name="内容占位符 3"/>
          <p:cNvSpPr>
            <a:spLocks noGrp="1"/>
          </p:cNvSpPr>
          <p:nvPr>
            <p:ph idx="1"/>
          </p:nvPr>
        </p:nvSpPr>
        <p:spPr>
          <a:xfrm>
            <a:off x="838200" y="1619250"/>
            <a:ext cx="10515600" cy="4557714"/>
          </a:xfrm>
        </p:spPr>
        <p:txBody>
          <a:bodyPr>
            <a:normAutofit/>
          </a:bodyPr>
          <a:lstStyle/>
          <a:p>
            <a:r>
              <a:rPr kumimoji="1" lang="zh-CN" altLang="en-US" dirty="0"/>
              <a:t>以终为始</a:t>
            </a:r>
            <a:endParaRPr kumimoji="1" lang="zh-CN" altLang="en-US" dirty="0"/>
          </a:p>
          <a:p>
            <a:pPr lvl="1"/>
            <a:r>
              <a:rPr kumimoji="1" lang="en-GB" altLang="zh-CN" dirty="0"/>
              <a:t>sprint</a:t>
            </a:r>
            <a:r>
              <a:rPr kumimoji="1" lang="zh-CN" altLang="en-US" dirty="0"/>
              <a:t>目标（尽可能简单的语言，团队成员认同）。 </a:t>
            </a:r>
            <a:endParaRPr kumimoji="1" lang="zh-CN" altLang="en-US" dirty="0"/>
          </a:p>
          <a:p>
            <a:pPr lvl="1"/>
            <a:r>
              <a:rPr kumimoji="1" lang="zh-CN" altLang="en-US" dirty="0"/>
              <a:t>团队成员名单</a:t>
            </a:r>
            <a:r>
              <a:rPr kumimoji="1" lang="en-US" altLang="zh-CN" dirty="0"/>
              <a:t>(</a:t>
            </a:r>
            <a:r>
              <a:rPr kumimoji="1" lang="zh-CN" altLang="en-US" dirty="0"/>
              <a:t>以及他们的投入程度</a:t>
            </a:r>
            <a:r>
              <a:rPr kumimoji="1" lang="en-US" altLang="zh-CN" dirty="0"/>
              <a:t>,</a:t>
            </a:r>
            <a:r>
              <a:rPr kumimoji="1" lang="zh-CN" altLang="en-US" dirty="0"/>
              <a:t>如果不是</a:t>
            </a:r>
            <a:r>
              <a:rPr kumimoji="1" lang="en-US" altLang="zh-CN" dirty="0"/>
              <a:t>100%</a:t>
            </a:r>
            <a:r>
              <a:rPr kumimoji="1" lang="zh-CN" altLang="en-US" dirty="0"/>
              <a:t>的话</a:t>
            </a:r>
            <a:r>
              <a:rPr kumimoji="1" lang="en-US" altLang="zh-CN" dirty="0"/>
              <a:t>)</a:t>
            </a:r>
            <a:r>
              <a:rPr kumimoji="1" lang="zh-CN" altLang="en-US" dirty="0"/>
              <a:t>。 </a:t>
            </a:r>
            <a:endParaRPr kumimoji="1" lang="zh-CN" altLang="en-US" dirty="0"/>
          </a:p>
          <a:p>
            <a:pPr lvl="1"/>
            <a:r>
              <a:rPr kumimoji="1" lang="en-US" altLang="zh-CN" dirty="0"/>
              <a:t>S</a:t>
            </a:r>
            <a:r>
              <a:rPr kumimoji="1" lang="en-GB" altLang="zh-CN" dirty="0"/>
              <a:t>print</a:t>
            </a:r>
            <a:r>
              <a:rPr kumimoji="1" lang="zh-CN" altLang="en-US" dirty="0"/>
              <a:t> </a:t>
            </a:r>
            <a:r>
              <a:rPr kumimoji="1" lang="en-GB" altLang="zh-CN" dirty="0"/>
              <a:t>backlog(</a:t>
            </a:r>
            <a:r>
              <a:rPr kumimoji="1" lang="zh-CN" altLang="en-US" dirty="0"/>
              <a:t>即</a:t>
            </a:r>
            <a:r>
              <a:rPr kumimoji="1" lang="en-GB" altLang="zh-CN" dirty="0"/>
              <a:t>sprint</a:t>
            </a:r>
            <a:r>
              <a:rPr kumimoji="1" lang="zh-CN" altLang="en-US" dirty="0"/>
              <a:t>中包括的故事列表</a:t>
            </a:r>
            <a:r>
              <a:rPr kumimoji="1" lang="en-US" altLang="zh-CN" dirty="0"/>
              <a:t>)</a:t>
            </a:r>
            <a:r>
              <a:rPr kumimoji="1" lang="zh-CN" altLang="en-US" dirty="0"/>
              <a:t>。 </a:t>
            </a:r>
            <a:endParaRPr kumimoji="1" lang="zh-CN" altLang="en-US" dirty="0"/>
          </a:p>
          <a:p>
            <a:pPr lvl="1"/>
            <a:r>
              <a:rPr kumimoji="1" lang="zh-CN" altLang="en-US" dirty="0"/>
              <a:t>确定好</a:t>
            </a:r>
            <a:r>
              <a:rPr kumimoji="1" lang="en-GB" altLang="zh-CN" dirty="0"/>
              <a:t>sprint</a:t>
            </a:r>
            <a:r>
              <a:rPr kumimoji="1" lang="zh-CN" altLang="en-US" dirty="0"/>
              <a:t>演示日期。 </a:t>
            </a:r>
            <a:endParaRPr kumimoji="1" lang="zh-CN" altLang="en-US" dirty="0"/>
          </a:p>
          <a:p>
            <a:pPr lvl="1"/>
            <a:r>
              <a:rPr kumimoji="1" lang="zh-CN" altLang="en-US" dirty="0"/>
              <a:t>确定好时间地点</a:t>
            </a:r>
            <a:r>
              <a:rPr kumimoji="1" lang="en-US" altLang="zh-CN" dirty="0"/>
              <a:t>,</a:t>
            </a:r>
            <a:r>
              <a:rPr kumimoji="1" lang="zh-CN" altLang="en-US" dirty="0"/>
              <a:t>供举行每日</a:t>
            </a:r>
            <a:r>
              <a:rPr kumimoji="1" lang="en-GB" altLang="zh-CN" dirty="0"/>
              <a:t>scrum</a:t>
            </a:r>
            <a:r>
              <a:rPr kumimoji="1" lang="zh-CN" altLang="en-US" dirty="0"/>
              <a:t>会议。 </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Product Owner</a:t>
            </a:r>
            <a:r>
              <a:rPr lang="zh-CN" altLang="en-US" dirty="0"/>
              <a:t>必须参加计划会议</a:t>
            </a:r>
            <a:endParaRPr kumimoji="1" lang="zh-CN" altLang="en-US" dirty="0"/>
          </a:p>
        </p:txBody>
      </p:sp>
      <p:sp>
        <p:nvSpPr>
          <p:cNvPr id="4" name="内容占位符 3"/>
          <p:cNvSpPr>
            <a:spLocks noGrp="1"/>
          </p:cNvSpPr>
          <p:nvPr>
            <p:ph idx="1"/>
          </p:nvPr>
        </p:nvSpPr>
        <p:spPr>
          <a:xfrm>
            <a:off x="838200" y="1041622"/>
            <a:ext cx="10515600" cy="1606328"/>
          </a:xfrm>
        </p:spPr>
        <p:txBody>
          <a:bodyPr/>
          <a:lstStyle/>
          <a:p>
            <a:r>
              <a:rPr lang="zh-CN" altLang="en-US" dirty="0"/>
              <a:t>每个故事都含有三个变量</a:t>
            </a:r>
            <a:r>
              <a:rPr lang="en-US" altLang="zh-CN" dirty="0"/>
              <a:t>,</a:t>
            </a:r>
            <a:r>
              <a:rPr lang="zh-CN" altLang="en-US" dirty="0"/>
              <a:t>它们两两之间都对彼此有着强烈依赖。 （没有包含质量，内部质量必须最好，外部质量可以简陋一些。）</a:t>
            </a:r>
            <a:endParaRPr kumimoji="1" lang="zh-CN" altLang="en-US" dirty="0"/>
          </a:p>
        </p:txBody>
      </p:sp>
      <p:pic>
        <p:nvPicPr>
          <p:cNvPr id="5" name="图像" descr="图像"/>
          <p:cNvPicPr>
            <a:picLocks noChangeAspect="1"/>
          </p:cNvPicPr>
          <p:nvPr/>
        </p:nvPicPr>
        <p:blipFill>
          <a:blip r:embed="rId1"/>
          <a:stretch>
            <a:fillRect/>
          </a:stretch>
        </p:blipFill>
        <p:spPr>
          <a:xfrm>
            <a:off x="1143000" y="2647950"/>
            <a:ext cx="4953000" cy="2971801"/>
          </a:xfrm>
          <a:prstGeom prst="rect">
            <a:avLst/>
          </a:prstGeom>
          <a:ln w="12700">
            <a:miter lim="400000"/>
            <a:headEnd/>
            <a:tailEnd/>
          </a:ln>
        </p:spPr>
      </p:pic>
      <p:sp>
        <p:nvSpPr>
          <p:cNvPr id="6" name="范围(scope)和重要性(importance)由产品负责人设置。估算 (estimate)由团队设置。在 sprint 计划会议上,经过团队和产品负责人面对面的对话,这三个变量会逐步得到调整优化。"/>
          <p:cNvSpPr txBox="1"/>
          <p:nvPr/>
        </p:nvSpPr>
        <p:spPr>
          <a:xfrm>
            <a:off x="5827076" y="3056632"/>
            <a:ext cx="5795649" cy="2154436"/>
          </a:xfrm>
          <a:prstGeom prst="rect">
            <a:avLst/>
          </a:prstGeom>
          <a:ln w="12700">
            <a:miter lim="400000"/>
          </a:ln>
        </p:spPr>
        <p:txBody>
          <a:bodyPr wrap="square" lIns="50800" tIns="50800" rIns="50800" bIns="50800" anchor="ctr">
            <a:spAutoFit/>
          </a:bodyPr>
          <a:lstStyle/>
          <a:p>
            <a:pPr algn="l" defTabSz="457200">
              <a:defRPr sz="4265" baseline="32000">
                <a:latin typeface="宋体" panose="02010600030101010101" pitchFamily="2" charset="-122"/>
                <a:ea typeface="宋体" panose="02010600030101010101" pitchFamily="2" charset="-122"/>
                <a:cs typeface="宋体" panose="02010600030101010101" pitchFamily="2" charset="-122"/>
                <a:sym typeface="宋体" panose="02010600030101010101" pitchFamily="2" charset="-122"/>
              </a:defRPr>
            </a:pPr>
            <a:r>
              <a:rPr sz="4000" dirty="0" err="1">
                <a:latin typeface="+mn-ea"/>
              </a:rPr>
              <a:t>范围</a:t>
            </a:r>
            <a:r>
              <a:rPr sz="4000" dirty="0">
                <a:latin typeface="+mn-ea"/>
                <a:cs typeface="Calibri" panose="020F0502020204030204"/>
                <a:sym typeface="Calibri" panose="020F0502020204030204"/>
              </a:rPr>
              <a:t>(scope)</a:t>
            </a:r>
            <a:r>
              <a:rPr sz="4000" dirty="0" err="1">
                <a:latin typeface="+mn-ea"/>
              </a:rPr>
              <a:t>和重要性</a:t>
            </a:r>
            <a:r>
              <a:rPr sz="4000" dirty="0">
                <a:latin typeface="+mn-ea"/>
                <a:cs typeface="Calibri" panose="020F0502020204030204"/>
                <a:sym typeface="Calibri" panose="020F0502020204030204"/>
              </a:rPr>
              <a:t>(importance)</a:t>
            </a:r>
            <a:r>
              <a:rPr sz="4000" dirty="0" err="1">
                <a:latin typeface="+mn-ea"/>
              </a:rPr>
              <a:t>由产品负责人设置。估算</a:t>
            </a:r>
            <a:r>
              <a:rPr sz="4000" dirty="0">
                <a:latin typeface="+mn-ea"/>
              </a:rPr>
              <a:t> </a:t>
            </a:r>
            <a:r>
              <a:rPr sz="4000" dirty="0">
                <a:latin typeface="+mn-ea"/>
                <a:cs typeface="Calibri" panose="020F0502020204030204"/>
                <a:sym typeface="Calibri" panose="020F0502020204030204"/>
              </a:rPr>
              <a:t>(estimate)</a:t>
            </a:r>
            <a:r>
              <a:rPr sz="4000" dirty="0" err="1">
                <a:latin typeface="+mn-ea"/>
              </a:rPr>
              <a:t>由团队设置。在</a:t>
            </a:r>
            <a:r>
              <a:rPr sz="4000" dirty="0">
                <a:latin typeface="+mn-ea"/>
              </a:rPr>
              <a:t> </a:t>
            </a:r>
            <a:r>
              <a:rPr sz="4000" dirty="0">
                <a:latin typeface="+mn-ea"/>
                <a:cs typeface="Calibri" panose="020F0502020204030204"/>
                <a:sym typeface="Calibri" panose="020F0502020204030204"/>
              </a:rPr>
              <a:t>sprint </a:t>
            </a:r>
            <a:r>
              <a:rPr sz="4000" dirty="0" err="1">
                <a:latin typeface="+mn-ea"/>
              </a:rPr>
              <a:t>计划会议上</a:t>
            </a:r>
            <a:r>
              <a:rPr sz="4000" dirty="0" err="1">
                <a:latin typeface="+mn-ea"/>
                <a:cs typeface="Calibri" panose="020F0502020204030204"/>
                <a:sym typeface="Calibri" panose="020F0502020204030204"/>
              </a:rPr>
              <a:t>,</a:t>
            </a:r>
            <a:r>
              <a:rPr sz="4000" dirty="0" err="1">
                <a:latin typeface="+mn-ea"/>
              </a:rPr>
              <a:t>经过团队和产品负责人面对面的对话</a:t>
            </a:r>
            <a:r>
              <a:rPr sz="4000" dirty="0" err="1">
                <a:latin typeface="+mn-ea"/>
                <a:cs typeface="Calibri" panose="020F0502020204030204"/>
                <a:sym typeface="Calibri" panose="020F0502020204030204"/>
              </a:rPr>
              <a:t>,</a:t>
            </a:r>
            <a:r>
              <a:rPr sz="4000" dirty="0" err="1">
                <a:latin typeface="+mn-ea"/>
              </a:rPr>
              <a:t>这三个变量会逐步得到调整优化</a:t>
            </a:r>
            <a:r>
              <a:rPr sz="4000" dirty="0">
                <a:latin typeface="+mn-ea"/>
              </a:rPr>
              <a:t>。</a:t>
            </a:r>
            <a:endParaRPr sz="1100" dirty="0">
              <a:latin typeface="+mn-ea"/>
              <a:cs typeface="Times Roman"/>
              <a:sym typeface="Times Roman"/>
            </a:endParaRPr>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计划会议议程的一个例子</a:t>
            </a:r>
            <a:endParaRPr kumimoji="1" lang="zh-CN" altLang="en-US" dirty="0"/>
          </a:p>
        </p:txBody>
      </p:sp>
      <p:sp>
        <p:nvSpPr>
          <p:cNvPr id="4" name="内容占位符 3"/>
          <p:cNvSpPr>
            <a:spLocks noGrp="1"/>
          </p:cNvSpPr>
          <p:nvPr>
            <p:ph idx="1"/>
          </p:nvPr>
        </p:nvSpPr>
        <p:spPr/>
        <p:txBody>
          <a:bodyPr>
            <a:normAutofit fontScale="92500" lnSpcReduction="10000"/>
          </a:bodyPr>
          <a:lstStyle/>
          <a:p>
            <a:r>
              <a:rPr kumimoji="1" lang="en-GB" altLang="zh-CN" dirty="0"/>
              <a:t>Sprint </a:t>
            </a:r>
            <a:r>
              <a:rPr kumimoji="1" lang="zh-CN" altLang="en-US" dirty="0"/>
              <a:t>计划会议</a:t>
            </a:r>
            <a:r>
              <a:rPr kumimoji="1" lang="en-US" altLang="zh-CN" dirty="0"/>
              <a:t>:13:00 – 17:00 (</a:t>
            </a:r>
            <a:r>
              <a:rPr kumimoji="1" lang="zh-CN" altLang="en-US" dirty="0"/>
              <a:t>每小时休息 </a:t>
            </a:r>
            <a:r>
              <a:rPr kumimoji="1" lang="en-US" altLang="zh-CN" dirty="0"/>
              <a:t>10 </a:t>
            </a:r>
            <a:r>
              <a:rPr kumimoji="1" lang="zh-CN" altLang="en-US" dirty="0"/>
              <a:t>分钟</a:t>
            </a:r>
            <a:r>
              <a:rPr kumimoji="1" lang="en-US" altLang="zh-CN" dirty="0"/>
              <a:t>) </a:t>
            </a:r>
            <a:endParaRPr kumimoji="1" lang="en-US" altLang="zh-CN" dirty="0"/>
          </a:p>
          <a:p>
            <a:pPr lvl="1"/>
            <a:r>
              <a:rPr kumimoji="1" lang="en-US" altLang="zh-CN" dirty="0"/>
              <a:t>13:00 – 13:30</a:t>
            </a:r>
            <a:r>
              <a:rPr kumimoji="1" lang="zh-CN" altLang="en-US" dirty="0"/>
              <a:t>。产品负责人对 </a:t>
            </a:r>
            <a:r>
              <a:rPr kumimoji="1" lang="en-GB" altLang="zh-CN" dirty="0"/>
              <a:t>sprint </a:t>
            </a:r>
            <a:r>
              <a:rPr kumimoji="1" lang="zh-CN" altLang="en-US" dirty="0"/>
              <a:t>目标进行总体介绍</a:t>
            </a:r>
            <a:r>
              <a:rPr kumimoji="1" lang="en-US" altLang="zh-CN" dirty="0"/>
              <a:t>,</a:t>
            </a:r>
            <a:r>
              <a:rPr kumimoji="1" lang="zh-CN" altLang="en-US" dirty="0"/>
              <a:t>概 括产品 </a:t>
            </a:r>
            <a:r>
              <a:rPr kumimoji="1" lang="en-GB" altLang="zh-CN" dirty="0"/>
              <a:t>backlog</a:t>
            </a:r>
            <a:r>
              <a:rPr kumimoji="1" lang="zh-CN" altLang="en-GB" dirty="0"/>
              <a:t>。</a:t>
            </a:r>
            <a:r>
              <a:rPr kumimoji="1" lang="zh-CN" altLang="en-US" dirty="0"/>
              <a:t>定下演示的时间地点。 </a:t>
            </a:r>
            <a:endParaRPr kumimoji="1" lang="zh-CN" altLang="en-US" dirty="0"/>
          </a:p>
          <a:p>
            <a:pPr lvl="1"/>
            <a:r>
              <a:rPr kumimoji="1" lang="en-US" altLang="zh-CN" dirty="0"/>
              <a:t>13:30 – 15:00</a:t>
            </a:r>
            <a:r>
              <a:rPr kumimoji="1" lang="zh-CN" altLang="en-US" dirty="0"/>
              <a:t>。团队估算时间</a:t>
            </a:r>
            <a:r>
              <a:rPr kumimoji="1" lang="en-US" altLang="zh-CN" dirty="0"/>
              <a:t>,</a:t>
            </a:r>
            <a:r>
              <a:rPr kumimoji="1" lang="zh-CN" altLang="en-US" dirty="0"/>
              <a:t>在必要的情况下拆分 </a:t>
            </a:r>
            <a:r>
              <a:rPr kumimoji="1" lang="en-GB" altLang="zh-CN" dirty="0"/>
              <a:t>backlog </a:t>
            </a:r>
            <a:r>
              <a:rPr kumimoji="1" lang="zh-CN" altLang="en-US" dirty="0"/>
              <a:t>条目。产品负责人在必要时修改重要性评分。理清每个条 目的含义。所有重要性高的 </a:t>
            </a:r>
            <a:r>
              <a:rPr kumimoji="1" lang="en-GB" altLang="zh-CN" dirty="0"/>
              <a:t>backlog </a:t>
            </a:r>
            <a:r>
              <a:rPr kumimoji="1" lang="zh-CN" altLang="en-US" dirty="0"/>
              <a:t>条目都要填写“如何演 示”。 </a:t>
            </a:r>
            <a:endParaRPr kumimoji="1" lang="zh-CN" altLang="en-US" dirty="0"/>
          </a:p>
          <a:p>
            <a:pPr lvl="1"/>
            <a:r>
              <a:rPr kumimoji="1" lang="en-US" altLang="zh-CN" dirty="0"/>
              <a:t>15:00 – 16:00</a:t>
            </a:r>
            <a:r>
              <a:rPr kumimoji="1" lang="zh-CN" altLang="en-US" dirty="0"/>
              <a:t>。团队选择要放入 </a:t>
            </a:r>
            <a:r>
              <a:rPr kumimoji="1" lang="en-GB" altLang="zh-CN" dirty="0"/>
              <a:t>sprint </a:t>
            </a:r>
            <a:r>
              <a:rPr kumimoji="1" lang="zh-CN" altLang="en-US" dirty="0"/>
              <a:t>中的故事。计算生产 率</a:t>
            </a:r>
            <a:r>
              <a:rPr kumimoji="1" lang="en-US" altLang="zh-CN" dirty="0"/>
              <a:t>,</a:t>
            </a:r>
            <a:r>
              <a:rPr kumimoji="1" lang="zh-CN" altLang="en-US" dirty="0"/>
              <a:t>用作核查工作安排的基础。 </a:t>
            </a:r>
            <a:endParaRPr kumimoji="1" lang="zh-CN" altLang="en-US" dirty="0"/>
          </a:p>
          <a:p>
            <a:pPr lvl="1"/>
            <a:r>
              <a:rPr kumimoji="1" lang="en-US" altLang="zh-CN" dirty="0"/>
              <a:t>16:00 – 17:00</a:t>
            </a:r>
            <a:r>
              <a:rPr kumimoji="1" lang="zh-CN" altLang="en-US" dirty="0"/>
              <a:t>。为每日 </a:t>
            </a:r>
            <a:r>
              <a:rPr kumimoji="1" lang="en-GB" altLang="zh-CN" dirty="0"/>
              <a:t>scrum </a:t>
            </a:r>
            <a:r>
              <a:rPr kumimoji="1" lang="zh-CN" altLang="en-US" dirty="0"/>
              <a:t>会议</a:t>
            </a:r>
            <a:r>
              <a:rPr kumimoji="1" lang="en-US" altLang="zh-CN" dirty="0"/>
              <a:t>(</a:t>
            </a:r>
            <a:r>
              <a:rPr kumimoji="1" lang="zh-CN" altLang="en-US" dirty="0"/>
              <a:t>以下简称每日例会</a:t>
            </a:r>
            <a:r>
              <a:rPr kumimoji="1" lang="en-US" altLang="zh-CN" dirty="0"/>
              <a:t>)</a:t>
            </a:r>
            <a:r>
              <a:rPr kumimoji="1" lang="zh-CN" altLang="en-US" dirty="0"/>
              <a:t>安 排固定的时间地点</a:t>
            </a:r>
            <a:r>
              <a:rPr kumimoji="1" lang="en-US" altLang="zh-CN" dirty="0"/>
              <a:t>(</a:t>
            </a:r>
            <a:r>
              <a:rPr kumimoji="1" lang="zh-CN" altLang="en-US" dirty="0"/>
              <a:t>如果和上次不同的话</a:t>
            </a:r>
            <a:r>
              <a:rPr kumimoji="1" lang="en-US" altLang="zh-CN" dirty="0"/>
              <a:t>)</a:t>
            </a:r>
            <a:r>
              <a:rPr kumimoji="1" lang="zh-CN" altLang="en-US" dirty="0"/>
              <a:t>。把故事进一 步拆分成任务。 </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估算 </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zh-CN" altLang="en-US" dirty="0"/>
              <a:t>估算是很困难的，因为这是在预测未来。而历史证明，我们的估算经常是错误的</a:t>
            </a:r>
            <a:r>
              <a:rPr kumimoji="1" lang="en-US" altLang="zh-CN" dirty="0"/>
              <a:t>— </a:t>
            </a:r>
            <a:r>
              <a:rPr kumimoji="1" lang="zh-CN" altLang="en-US" dirty="0"/>
              <a:t>误差巨大，而且在很多时候都是这样。 </a:t>
            </a:r>
            <a:endParaRPr kumimoji="1" lang="zh-CN" altLang="en-US" dirty="0"/>
          </a:p>
          <a:p>
            <a:r>
              <a:rPr kumimoji="1" lang="zh-CN" altLang="en-US" dirty="0"/>
              <a:t>估算经常是错误的，但是估算过程仍然是有用的。估算过程是管理前方的不确定性的契机， 它可以被当做风险管理的工具，可以发现误解、不一致以及需要进一步调査的地方。 </a:t>
            </a:r>
            <a:endParaRPr kumimoji="1" lang="zh-CN" altLang="en-US" dirty="0"/>
          </a:p>
          <a:p>
            <a:r>
              <a:rPr kumimoji="1" lang="zh-CN" altLang="en-US" dirty="0"/>
              <a:t>团队共同完成估算可以让大家建立对工作一致的理解。</a:t>
            </a:r>
            <a:endParaRPr kumimoji="1" lang="en-US" altLang="zh-CN" dirty="0"/>
          </a:p>
          <a:p>
            <a:r>
              <a:rPr kumimoji="1" lang="zh-CN" altLang="en-US" dirty="0"/>
              <a:t>但是，根据</a:t>
            </a:r>
            <a:r>
              <a:rPr kumimoji="1" lang="zh-CN" altLang="en-US" dirty="0">
                <a:solidFill>
                  <a:srgbClr val="FF0000"/>
                </a:solidFill>
              </a:rPr>
              <a:t>收益递减原理</a:t>
            </a:r>
            <a:r>
              <a:rPr kumimoji="1" lang="zh-CN" altLang="en-US" dirty="0"/>
              <a:t>，不应在估算上花太多的时间。可以做 出一个快速但不那么准确的估计，也可以再多花一点时间做一个更准确的估计，但花上几天的时间得出精确的小时数就没用了。</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估算单位（</a:t>
            </a:r>
            <a:r>
              <a:rPr lang="en-GB" altLang="zh-CN" dirty="0"/>
              <a:t>story point</a:t>
            </a:r>
            <a:r>
              <a:rPr lang="zh-CN" altLang="en-GB" dirty="0"/>
              <a:t>）</a:t>
            </a:r>
            <a:r>
              <a:rPr lang="en-GB" altLang="zh-CN" dirty="0"/>
              <a:t>1 </a:t>
            </a:r>
            <a:endParaRPr kumimoji="1" lang="zh-CN" altLang="en-US" dirty="0"/>
          </a:p>
        </p:txBody>
      </p:sp>
      <p:sp>
        <p:nvSpPr>
          <p:cNvPr id="4" name="内容占位符 3"/>
          <p:cNvSpPr>
            <a:spLocks noGrp="1"/>
          </p:cNvSpPr>
          <p:nvPr>
            <p:ph idx="1"/>
          </p:nvPr>
        </p:nvSpPr>
        <p:spPr/>
        <p:txBody>
          <a:bodyPr>
            <a:normAutofit lnSpcReduction="10000"/>
          </a:bodyPr>
          <a:lstStyle/>
          <a:p>
            <a:r>
              <a:rPr kumimoji="1" lang="zh-CN" altLang="en-US" dirty="0"/>
              <a:t>“猜一下附近一栋高层建筑的高度”比较难；“那边的两个建筑，哪个更高？一个相对另一个高多少？”容易一些。</a:t>
            </a:r>
            <a:endParaRPr kumimoji="1" lang="zh-CN" altLang="en-US" dirty="0"/>
          </a:p>
          <a:p>
            <a:r>
              <a:rPr kumimoji="1" lang="en-GB" altLang="zh-CN" dirty="0"/>
              <a:t>Story point</a:t>
            </a:r>
            <a:r>
              <a:rPr kumimoji="1" lang="zh-CN" altLang="en-GB" dirty="0"/>
              <a:t>：</a:t>
            </a:r>
            <a:r>
              <a:rPr kumimoji="1" lang="zh-CN" altLang="en-US" dirty="0"/>
              <a:t>故事点，选取可识别的最小用例为</a:t>
            </a:r>
            <a:r>
              <a:rPr kumimoji="1" lang="en-US" altLang="zh-CN" dirty="0"/>
              <a:t>2</a:t>
            </a:r>
            <a:r>
              <a:rPr kumimoji="1" lang="zh-CN" altLang="en-US" dirty="0"/>
              <a:t>个</a:t>
            </a:r>
            <a:r>
              <a:rPr kumimoji="1" lang="en-GB" altLang="zh-CN" dirty="0"/>
              <a:t>story point.</a:t>
            </a:r>
            <a:r>
              <a:rPr kumimoji="1" lang="zh-CN" altLang="en-US" dirty="0"/>
              <a:t>其它估算都是相对值，在所有</a:t>
            </a:r>
            <a:r>
              <a:rPr kumimoji="1" lang="en-GB" altLang="zh-CN" dirty="0"/>
              <a:t>sprint</a:t>
            </a:r>
            <a:r>
              <a:rPr kumimoji="1" lang="zh-CN" altLang="en-US" dirty="0"/>
              <a:t>中保持该相对值一致。</a:t>
            </a:r>
            <a:endParaRPr kumimoji="1" lang="zh-CN" altLang="en-US" dirty="0"/>
          </a:p>
          <a:p>
            <a:r>
              <a:rPr kumimoji="1" lang="zh-CN" altLang="en-US" dirty="0"/>
              <a:t>另外的好处，可以在估算时缩小人与人的能力误差（</a:t>
            </a:r>
            <a:r>
              <a:rPr kumimoji="1" lang="en-US" altLang="zh-CN" dirty="0"/>
              <a:t>10</a:t>
            </a:r>
            <a:r>
              <a:rPr kumimoji="1" lang="zh-CN" altLang="en-US" dirty="0"/>
              <a:t>倍程序员）。</a:t>
            </a:r>
            <a:endParaRPr kumimoji="1" lang="zh-CN" altLang="en-US" dirty="0"/>
          </a:p>
          <a:p>
            <a:pPr lvl="1"/>
            <a:r>
              <a:rPr kumimoji="1" lang="zh-CN" altLang="en-US" dirty="0"/>
              <a:t>高级工程师和入门工程师完成一个任务的绝对时间是不同的，但这个工作量却是确定的。</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估算单位（</a:t>
            </a:r>
            <a:r>
              <a:rPr lang="en-GB" altLang="zh-CN" dirty="0"/>
              <a:t>story point</a:t>
            </a:r>
            <a:r>
              <a:rPr lang="zh-CN" altLang="en-GB" dirty="0"/>
              <a:t>）</a:t>
            </a:r>
            <a:r>
              <a:rPr lang="en-GB" altLang="zh-CN" dirty="0"/>
              <a:t>2 </a:t>
            </a:r>
            <a:endParaRPr kumimoji="1" lang="zh-CN" altLang="en-US" dirty="0"/>
          </a:p>
        </p:txBody>
      </p:sp>
      <p:sp>
        <p:nvSpPr>
          <p:cNvPr id="4" name="内容占位符 3"/>
          <p:cNvSpPr>
            <a:spLocks noGrp="1"/>
          </p:cNvSpPr>
          <p:nvPr>
            <p:ph idx="1"/>
          </p:nvPr>
        </p:nvSpPr>
        <p:spPr/>
        <p:txBody>
          <a:bodyPr/>
          <a:lstStyle/>
          <a:p>
            <a:r>
              <a:rPr kumimoji="1" lang="zh-CN" altLang="en-US" dirty="0"/>
              <a:t>在估算速度时，估计能在一个迭代周期内能够完成的</a:t>
            </a:r>
            <a:r>
              <a:rPr kumimoji="1" lang="en-GB" altLang="zh-CN" dirty="0"/>
              <a:t>story point</a:t>
            </a:r>
            <a:r>
              <a:rPr kumimoji="1" lang="zh-CN" altLang="en-GB" dirty="0"/>
              <a:t>。</a:t>
            </a:r>
            <a:endParaRPr kumimoji="1" lang="zh-CN" altLang="en-GB" dirty="0"/>
          </a:p>
          <a:p>
            <a:r>
              <a:rPr kumimoji="1" lang="zh-CN" altLang="en-US" dirty="0"/>
              <a:t>比如：我们一个迭代周期可以完成</a:t>
            </a:r>
            <a:r>
              <a:rPr kumimoji="1" lang="en-US" altLang="zh-CN" dirty="0"/>
              <a:t>20</a:t>
            </a:r>
            <a:r>
              <a:rPr kumimoji="1" lang="zh-CN" altLang="en-US" dirty="0"/>
              <a:t>个</a:t>
            </a:r>
            <a:r>
              <a:rPr kumimoji="1" lang="en-GB" altLang="zh-CN" dirty="0"/>
              <a:t>story point,</a:t>
            </a:r>
            <a:r>
              <a:rPr kumimoji="1" lang="zh-CN" altLang="en-US" dirty="0"/>
              <a:t>则我们可以按照优先级顺序在现有</a:t>
            </a:r>
            <a:r>
              <a:rPr kumimoji="1" lang="en-GB" altLang="zh-CN" dirty="0"/>
              <a:t>product backlog</a:t>
            </a:r>
            <a:r>
              <a:rPr kumimoji="1" lang="zh-CN" altLang="en-US" dirty="0"/>
              <a:t>中选取</a:t>
            </a:r>
            <a:r>
              <a:rPr kumimoji="1" lang="en-US" altLang="zh-CN" dirty="0"/>
              <a:t>20</a:t>
            </a:r>
            <a:r>
              <a:rPr kumimoji="1" lang="zh-CN" altLang="en-US" dirty="0"/>
              <a:t>个</a:t>
            </a:r>
            <a:r>
              <a:rPr kumimoji="1" lang="en-GB" altLang="zh-CN" dirty="0"/>
              <a:t>story point</a:t>
            </a:r>
            <a:r>
              <a:rPr kumimoji="1" lang="zh-CN" altLang="en-US" dirty="0"/>
              <a:t>以内的</a:t>
            </a:r>
            <a:r>
              <a:rPr kumimoji="1" lang="en-GB" altLang="zh-CN" dirty="0"/>
              <a:t>user story</a:t>
            </a:r>
            <a:r>
              <a:rPr kumimoji="1" lang="zh-CN" altLang="en-US" dirty="0"/>
              <a:t>放在本迭代周期内完成。</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估算单位的另一种选择</a:t>
            </a:r>
            <a:r>
              <a:rPr lang="en-US" altLang="zh-CN" dirty="0"/>
              <a:t>—</a:t>
            </a:r>
            <a:r>
              <a:rPr lang="en-GB" altLang="zh-CN" dirty="0"/>
              <a:t>T</a:t>
            </a:r>
            <a:r>
              <a:rPr lang="zh-CN" altLang="en-US" dirty="0"/>
              <a:t>恤尺码 </a:t>
            </a:r>
            <a:endParaRPr kumimoji="1" lang="zh-CN" altLang="en-US" dirty="0"/>
          </a:p>
        </p:txBody>
      </p:sp>
      <p:sp>
        <p:nvSpPr>
          <p:cNvPr id="4" name="内容占位符 3"/>
          <p:cNvSpPr>
            <a:spLocks noGrp="1"/>
          </p:cNvSpPr>
          <p:nvPr>
            <p:ph idx="1"/>
          </p:nvPr>
        </p:nvSpPr>
        <p:spPr/>
        <p:txBody>
          <a:bodyPr/>
          <a:lstStyle/>
          <a:p>
            <a:r>
              <a:rPr kumimoji="1" lang="zh-CN" altLang="en-US" dirty="0"/>
              <a:t>经常使用的序列是</a:t>
            </a:r>
            <a:r>
              <a:rPr kumimoji="1" lang="en-GB" altLang="zh-CN" dirty="0"/>
              <a:t>S</a:t>
            </a:r>
            <a:r>
              <a:rPr kumimoji="1" lang="zh-CN" altLang="en-GB" dirty="0"/>
              <a:t>、</a:t>
            </a:r>
            <a:r>
              <a:rPr kumimoji="1" lang="en-GB" altLang="zh-CN" dirty="0"/>
              <a:t>M</a:t>
            </a:r>
            <a:r>
              <a:rPr kumimoji="1" lang="zh-CN" altLang="en-GB" dirty="0"/>
              <a:t>、</a:t>
            </a:r>
            <a:r>
              <a:rPr kumimoji="1" lang="en-GB" altLang="zh-CN" dirty="0"/>
              <a:t>L</a:t>
            </a:r>
            <a:r>
              <a:rPr kumimoji="1" lang="zh-CN" altLang="en-GB" dirty="0"/>
              <a:t>。</a:t>
            </a:r>
            <a:endParaRPr kumimoji="1" lang="zh-CN" altLang="en-GB" dirty="0"/>
          </a:p>
          <a:p>
            <a:endParaRPr kumimoji="1" lang="zh-CN" altLang="en-GB" dirty="0"/>
          </a:p>
          <a:p>
            <a:r>
              <a:rPr kumimoji="1" lang="zh-CN" altLang="en-US" dirty="0"/>
              <a:t>如果工作项比</a:t>
            </a:r>
            <a:r>
              <a:rPr kumimoji="1" lang="en-GB" altLang="zh-CN" dirty="0"/>
              <a:t>L</a:t>
            </a:r>
            <a:r>
              <a:rPr kumimoji="1" lang="zh-CN" altLang="en-US" dirty="0"/>
              <a:t>大，他们会把它拆分成大小为</a:t>
            </a:r>
            <a:r>
              <a:rPr kumimoji="1" lang="en-GB" altLang="zh-CN" dirty="0"/>
              <a:t>S</a:t>
            </a:r>
            <a:r>
              <a:rPr kumimoji="1" lang="zh-CN" altLang="en-GB" dirty="0"/>
              <a:t>、</a:t>
            </a:r>
            <a:r>
              <a:rPr kumimoji="1" lang="en-GB" altLang="zh-CN" dirty="0"/>
              <a:t>M</a:t>
            </a:r>
            <a:r>
              <a:rPr kumimoji="1" lang="zh-CN" altLang="en-US" dirty="0"/>
              <a:t>和</a:t>
            </a:r>
            <a:r>
              <a:rPr kumimoji="1" lang="en-GB" altLang="zh-CN" dirty="0"/>
              <a:t>L</a:t>
            </a:r>
            <a:r>
              <a:rPr kumimoji="1" lang="zh-CN" altLang="en-US" dirty="0"/>
              <a:t>的更小条目。一个</a:t>
            </a:r>
            <a:r>
              <a:rPr kumimoji="1" lang="en-GB" altLang="zh-CN" dirty="0"/>
              <a:t>XL</a:t>
            </a:r>
            <a:r>
              <a:rPr kumimoji="1" lang="zh-CN" altLang="en-US" dirty="0"/>
              <a:t>的条目会占用团队太多的产能，也不便于管理。 </a:t>
            </a:r>
            <a:endParaRPr kumimoji="1" lang="zh-CN" altLang="en-US" dirty="0"/>
          </a:p>
          <a:p>
            <a:endParaRPr kumimoji="1" lang="zh-CN" altLang="en-US" dirty="0"/>
          </a:p>
          <a:p>
            <a:r>
              <a:rPr kumimoji="1" lang="zh-CN" altLang="en-US" dirty="0"/>
              <a:t>必要时可以使用</a:t>
            </a:r>
            <a:r>
              <a:rPr kumimoji="1" lang="en-GB" altLang="zh-CN" dirty="0"/>
              <a:t>XS</a:t>
            </a:r>
            <a:r>
              <a:rPr kumimoji="1" lang="zh-CN" altLang="en-US" dirty="0"/>
              <a:t>和</a:t>
            </a:r>
            <a:r>
              <a:rPr kumimoji="1" lang="en-GB" altLang="zh-CN" dirty="0"/>
              <a:t>XL</a:t>
            </a:r>
            <a:r>
              <a:rPr kumimoji="1" lang="zh-CN" altLang="en-GB" dirty="0"/>
              <a:t>。</a:t>
            </a:r>
            <a:endParaRPr kumimoji="1" lang="zh-CN" altLang="en-GB" dirty="0"/>
          </a:p>
          <a:p>
            <a:endParaRPr kumimoji="1" lang="zh-CN" altLang="en-GB"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估算过程</a:t>
            </a:r>
            <a:r>
              <a:rPr lang="en-US" altLang="zh-CN" dirty="0"/>
              <a:t>—</a:t>
            </a:r>
            <a:r>
              <a:rPr lang="zh-CN" altLang="en-US" dirty="0"/>
              <a:t>工具“计划扑克”</a:t>
            </a:r>
            <a:endParaRPr kumimoji="1" lang="zh-CN" altLang="en-US" dirty="0"/>
          </a:p>
        </p:txBody>
      </p:sp>
      <p:sp>
        <p:nvSpPr>
          <p:cNvPr id="4" name="内容占位符 3"/>
          <p:cNvSpPr>
            <a:spLocks noGrp="1"/>
          </p:cNvSpPr>
          <p:nvPr>
            <p:ph idx="1"/>
          </p:nvPr>
        </p:nvSpPr>
        <p:spPr>
          <a:xfrm>
            <a:off x="838200" y="3852133"/>
            <a:ext cx="10515600" cy="2538414"/>
          </a:xfrm>
        </p:spPr>
        <p:txBody>
          <a:bodyPr>
            <a:normAutofit fontScale="85000" lnSpcReduction="20000"/>
          </a:bodyPr>
          <a:lstStyle/>
          <a:p>
            <a:r>
              <a:rPr kumimoji="1" lang="en-US" altLang="zh-CN" dirty="0"/>
              <a:t>0</a:t>
            </a:r>
            <a:r>
              <a:rPr kumimoji="1" lang="zh-CN" altLang="en-US" dirty="0"/>
              <a:t>：这个故事很简单，几分钟搞定；？：一点概念没有，没想法；咖啡杯：太累了，歇会吧</a:t>
            </a:r>
            <a:endParaRPr kumimoji="1" lang="zh-CN" altLang="en-US" dirty="0"/>
          </a:p>
          <a:p>
            <a:r>
              <a:rPr kumimoji="1" lang="zh-CN" altLang="en-US" dirty="0"/>
              <a:t>斐波那契数列：</a:t>
            </a:r>
            <a:r>
              <a:rPr kumimoji="1" lang="en-US" altLang="zh-CN" dirty="0"/>
              <a:t>0,1,1,2,3,5,8,13,21,34…</a:t>
            </a:r>
            <a:endParaRPr kumimoji="1" lang="en-US" altLang="zh-CN" dirty="0"/>
          </a:p>
          <a:p>
            <a:r>
              <a:rPr kumimoji="1" lang="zh-CN" altLang="en-US" dirty="0"/>
              <a:t>微信小程序：规划卡片</a:t>
            </a:r>
            <a:endParaRPr kumimoji="1" lang="zh-CN" altLang="en-US" dirty="0"/>
          </a:p>
          <a:p>
            <a:r>
              <a:rPr kumimoji="1" lang="zh-CN" altLang="en-US" dirty="0"/>
              <a:t>应用程序：</a:t>
            </a:r>
            <a:r>
              <a:rPr kumimoji="1" lang="en-GB" altLang="zh-CN" dirty="0" err="1"/>
              <a:t>ScrumPlanningPoker</a:t>
            </a:r>
            <a:endParaRPr kumimoji="1" lang="en-GB" altLang="zh-CN" dirty="0"/>
          </a:p>
          <a:p>
            <a:endParaRPr kumimoji="1" lang="en-GB" altLang="zh-CN" dirty="0"/>
          </a:p>
          <a:p>
            <a:endParaRPr kumimoji="1" lang="zh-CN" altLang="en-US" dirty="0"/>
          </a:p>
        </p:txBody>
      </p:sp>
      <p:pic>
        <p:nvPicPr>
          <p:cNvPr id="5" name="图像" descr="图像"/>
          <p:cNvPicPr>
            <a:picLocks noChangeAspect="1"/>
          </p:cNvPicPr>
          <p:nvPr/>
        </p:nvPicPr>
        <p:blipFill>
          <a:blip r:embed="rId1"/>
          <a:stretch>
            <a:fillRect/>
          </a:stretch>
        </p:blipFill>
        <p:spPr>
          <a:xfrm>
            <a:off x="3437899" y="882711"/>
            <a:ext cx="4563101" cy="1484711"/>
          </a:xfrm>
          <a:prstGeom prst="rect">
            <a:avLst/>
          </a:prstGeom>
          <a:ln w="12700">
            <a:miter lim="400000"/>
            <a:headEnd/>
            <a:tailEnd/>
          </a:ln>
        </p:spPr>
      </p:pic>
      <p:pic>
        <p:nvPicPr>
          <p:cNvPr id="6" name="图像" descr="图像"/>
          <p:cNvPicPr>
            <a:picLocks noChangeAspect="1"/>
          </p:cNvPicPr>
          <p:nvPr/>
        </p:nvPicPr>
        <p:blipFill>
          <a:blip r:embed="rId2"/>
          <a:stretch>
            <a:fillRect/>
          </a:stretch>
        </p:blipFill>
        <p:spPr>
          <a:xfrm>
            <a:off x="3437899" y="2367422"/>
            <a:ext cx="4563101" cy="1498332"/>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估算过程</a:t>
            </a:r>
            <a:endParaRPr kumimoji="1" lang="zh-CN" altLang="en-US" dirty="0"/>
          </a:p>
        </p:txBody>
      </p:sp>
      <p:sp>
        <p:nvSpPr>
          <p:cNvPr id="4" name="内容占位符 3"/>
          <p:cNvSpPr>
            <a:spLocks noGrp="1"/>
          </p:cNvSpPr>
          <p:nvPr>
            <p:ph idx="1"/>
          </p:nvPr>
        </p:nvSpPr>
        <p:spPr>
          <a:xfrm>
            <a:off x="838200" y="1041622"/>
            <a:ext cx="10515600" cy="5518442"/>
          </a:xfrm>
        </p:spPr>
        <p:txBody>
          <a:bodyPr>
            <a:normAutofit fontScale="77500" lnSpcReduction="20000"/>
          </a:bodyPr>
          <a:lstStyle/>
          <a:p>
            <a:r>
              <a:rPr kumimoji="1" lang="en-US" altLang="zh-CN" dirty="0"/>
              <a:t>1.</a:t>
            </a:r>
            <a:r>
              <a:rPr kumimoji="1" lang="zh-CN" altLang="en-US" dirty="0"/>
              <a:t>每个团队成员拿到一组卡片。</a:t>
            </a:r>
            <a:endParaRPr kumimoji="1" lang="zh-CN" altLang="en-US" dirty="0"/>
          </a:p>
          <a:p>
            <a:r>
              <a:rPr kumimoji="1" lang="en-US" altLang="zh-CN" dirty="0"/>
              <a:t>2.</a:t>
            </a:r>
            <a:r>
              <a:rPr kumimoji="1" lang="zh-CN" altLang="en-US" dirty="0"/>
              <a:t>产品负责人或者一名团队成员扮演阅读者的角色，他负责阅读需要估算产品</a:t>
            </a:r>
            <a:r>
              <a:rPr kumimoji="1" lang="en-GB" altLang="zh-CN" dirty="0"/>
              <a:t>Backlog</a:t>
            </a:r>
            <a:r>
              <a:rPr kumimoji="1" lang="zh-CN" altLang="en-US" dirty="0"/>
              <a:t>的条目，并且询问大家是否有疑问。</a:t>
            </a:r>
            <a:endParaRPr kumimoji="1" lang="zh-CN" altLang="en-US" dirty="0"/>
          </a:p>
          <a:p>
            <a:r>
              <a:rPr kumimoji="1" lang="en-US" altLang="zh-CN" dirty="0"/>
              <a:t>3. </a:t>
            </a:r>
            <a:r>
              <a:rPr kumimoji="1" lang="zh-CN" altLang="en-US" dirty="0"/>
              <a:t>团队讨论这个条目。</a:t>
            </a:r>
            <a:endParaRPr kumimoji="1" lang="zh-CN" altLang="en-US" dirty="0"/>
          </a:p>
          <a:p>
            <a:r>
              <a:rPr kumimoji="1" lang="en-US" altLang="zh-CN" dirty="0"/>
              <a:t>4.</a:t>
            </a:r>
            <a:r>
              <a:rPr kumimoji="1" lang="zh-CN" altLang="en-US" dirty="0"/>
              <a:t>当团队理解了这个条目之后，每个团队成员按照自己的想法给出估算结果，并且选择对应的扑克出牌，估算结果不能告诉其他人，出牌时数字朝下扣在桌面上。</a:t>
            </a:r>
            <a:endParaRPr kumimoji="1" lang="zh-CN" altLang="en-US" dirty="0"/>
          </a:p>
          <a:p>
            <a:r>
              <a:rPr kumimoji="1" lang="en-US" altLang="zh-CN" dirty="0"/>
              <a:t>5.</a:t>
            </a:r>
            <a:r>
              <a:rPr kumimoji="1" lang="zh-CN" altLang="en-US" dirty="0"/>
              <a:t>阅读者向大家确认是否都已经确定估算结果，确认后，数”</a:t>
            </a:r>
            <a:r>
              <a:rPr kumimoji="1" lang="en-US" altLang="zh-CN" dirty="0"/>
              <a:t>1,2,3",</a:t>
            </a:r>
            <a:r>
              <a:rPr kumimoji="1" lang="zh-CN" altLang="en-US" dirty="0"/>
              <a:t>大家同时展示估算结果。</a:t>
            </a:r>
            <a:endParaRPr kumimoji="1" lang="zh-CN" altLang="en-US" dirty="0"/>
          </a:p>
          <a:p>
            <a:r>
              <a:rPr kumimoji="1" lang="en-US" altLang="zh-CN" dirty="0"/>
              <a:t>6.</a:t>
            </a:r>
            <a:r>
              <a:rPr kumimoji="1" lang="zh-CN" altLang="en-US" dirty="0"/>
              <a:t>团队评估不同的估算结果</a:t>
            </a:r>
            <a:r>
              <a:rPr kumimoji="1" lang="en-US" altLang="zh-CN" dirty="0"/>
              <a:t>.</a:t>
            </a:r>
            <a:r>
              <a:rPr kumimoji="1" lang="zh-CN" altLang="en-US" dirty="0"/>
              <a:t>我们是否想法一致？我们是否存在分歧？有没有什么是我没有考虑到的？团队共同讨论估算的差异，最终达成一致。如果差异不可接受，返回</a:t>
            </a:r>
            <a:r>
              <a:rPr kumimoji="1" lang="en-US" altLang="zh-CN" dirty="0"/>
              <a:t>3.</a:t>
            </a:r>
            <a:endParaRPr kumimoji="1" lang="en-US" altLang="zh-CN" dirty="0"/>
          </a:p>
          <a:p>
            <a:r>
              <a:rPr kumimoji="1" lang="en-US" altLang="zh-CN" dirty="0"/>
              <a:t>7. </a:t>
            </a:r>
            <a:r>
              <a:rPr kumimoji="1" lang="zh-CN" altLang="en-US" dirty="0"/>
              <a:t>返回</a:t>
            </a:r>
            <a:r>
              <a:rPr kumimoji="1" lang="en-US" altLang="zh-CN" dirty="0"/>
              <a:t>2</a:t>
            </a:r>
            <a:r>
              <a:rPr kumimoji="1" lang="zh-CN" altLang="en-US" dirty="0"/>
              <a:t>，开始估算下一个条目。 </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估算有差异的原因</a:t>
            </a:r>
            <a:endParaRPr kumimoji="1" lang="zh-CN" altLang="en-US" dirty="0"/>
          </a:p>
        </p:txBody>
      </p:sp>
      <p:sp>
        <p:nvSpPr>
          <p:cNvPr id="4" name="内容占位符 3"/>
          <p:cNvSpPr>
            <a:spLocks noGrp="1"/>
          </p:cNvSpPr>
          <p:nvPr>
            <p:ph idx="1"/>
          </p:nvPr>
        </p:nvSpPr>
        <p:spPr>
          <a:xfrm>
            <a:off x="838200" y="2514600"/>
            <a:ext cx="10515600" cy="3662364"/>
          </a:xfrm>
        </p:spPr>
        <p:txBody>
          <a:bodyPr/>
          <a:lstStyle/>
          <a:p>
            <a:pPr>
              <a:defRPr>
                <a:solidFill>
                  <a:srgbClr val="63055F"/>
                </a:solidFill>
              </a:defRPr>
            </a:pPr>
            <a:r>
              <a:rPr lang="en-US" altLang="zh-CN" dirty="0"/>
              <a:t>1</a:t>
            </a:r>
            <a:r>
              <a:rPr lang="zh-CN" altLang="en-US" dirty="0"/>
              <a:t>、需求理解不同。例如：复杂登陆和简单登陆。</a:t>
            </a:r>
            <a:endParaRPr lang="zh-CN" altLang="en-US" dirty="0"/>
          </a:p>
          <a:p>
            <a:pPr>
              <a:defRPr>
                <a:solidFill>
                  <a:srgbClr val="63055F"/>
                </a:solidFill>
              </a:defRPr>
            </a:pPr>
            <a:r>
              <a:rPr lang="en-US" altLang="zh-CN" dirty="0"/>
              <a:t>2</a:t>
            </a:r>
            <a:r>
              <a:rPr lang="zh-CN" altLang="en-US" dirty="0"/>
              <a:t>、技术不熟悉。例如：没有嵌入式经验的工程师估算嵌入式系统开发内容。</a:t>
            </a:r>
            <a:endParaRPr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扑克牌估算法价值 </a:t>
            </a:r>
            <a:endParaRPr kumimoji="1" lang="zh-CN" altLang="en-US" dirty="0"/>
          </a:p>
        </p:txBody>
      </p:sp>
      <p:sp>
        <p:nvSpPr>
          <p:cNvPr id="4" name="内容占位符 3"/>
          <p:cNvSpPr>
            <a:spLocks noGrp="1"/>
          </p:cNvSpPr>
          <p:nvPr>
            <p:ph idx="1"/>
          </p:nvPr>
        </p:nvSpPr>
        <p:spPr/>
        <p:txBody>
          <a:bodyPr>
            <a:normAutofit fontScale="92500"/>
          </a:bodyPr>
          <a:lstStyle/>
          <a:p>
            <a:r>
              <a:rPr kumimoji="1" lang="zh-CN" altLang="en-US" dirty="0"/>
              <a:t>传统估算通常是一个人在思考，而使用估算扑克估算时，鼓励跨职能团队的多个团队成员参与估算，团队成员可以从不同的视角来思考和分析问题，估算的过程中考虑的更加全面、估算也更加准确。</a:t>
            </a:r>
            <a:endParaRPr kumimoji="1" lang="zh-CN" altLang="en-US" dirty="0"/>
          </a:p>
          <a:p>
            <a:r>
              <a:rPr kumimoji="1" lang="zh-CN" altLang="en-US" dirty="0"/>
              <a:t>在估算的过程中，团队对估算的结果进行讨论和评判，在一个高度透明的环境下，估算的结果更加真实和客观。这样也避免了很多时候过于武断，或是拍脑袋做出的决定。</a:t>
            </a:r>
            <a:endParaRPr kumimoji="1" lang="zh-CN" altLang="en-US" dirty="0"/>
          </a:p>
          <a:p>
            <a:r>
              <a:rPr kumimoji="1" lang="zh-CN" altLang="en-US" dirty="0"/>
              <a:t>估算的过程也是一个知识分享和学习的过程，对某一个条目不清楚的成员通过其他成员的阐述会增加对该条目涉及到的要点的认识。</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另一种扑克估算法</a:t>
            </a:r>
            <a:endParaRPr kumimoji="1" lang="zh-CN" altLang="en-US" dirty="0"/>
          </a:p>
        </p:txBody>
      </p:sp>
      <p:sp>
        <p:nvSpPr>
          <p:cNvPr id="4" name="内容占位符 3"/>
          <p:cNvSpPr>
            <a:spLocks noGrp="1"/>
          </p:cNvSpPr>
          <p:nvPr>
            <p:ph idx="1"/>
          </p:nvPr>
        </p:nvSpPr>
        <p:spPr/>
        <p:txBody>
          <a:bodyPr>
            <a:normAutofit fontScale="77500" lnSpcReduction="20000"/>
          </a:bodyPr>
          <a:lstStyle/>
          <a:p>
            <a:r>
              <a:rPr kumimoji="1" lang="zh-CN" altLang="en-US" dirty="0"/>
              <a:t>在 </a:t>
            </a:r>
            <a:r>
              <a:rPr kumimoji="1" lang="en-US" altLang="zh-CN" dirty="0"/>
              <a:t>《</a:t>
            </a:r>
            <a:r>
              <a:rPr kumimoji="1" lang="en-GB" altLang="zh-CN" dirty="0"/>
              <a:t>Agile Adoption Patterns: A Roadmap to Organizational Success》</a:t>
            </a:r>
            <a:r>
              <a:rPr kumimoji="1" lang="zh-CN" altLang="en-US" dirty="0"/>
              <a:t>一书中 </a:t>
            </a:r>
            <a:r>
              <a:rPr kumimoji="1" lang="en-GB" altLang="zh-CN" dirty="0"/>
              <a:t>Amr </a:t>
            </a:r>
            <a:r>
              <a:rPr kumimoji="1" lang="en-GB" altLang="zh-CN" dirty="0" err="1"/>
              <a:t>Elssamadisy</a:t>
            </a:r>
            <a:r>
              <a:rPr kumimoji="1" lang="en-GB" altLang="zh-CN" dirty="0"/>
              <a:t> </a:t>
            </a:r>
            <a:r>
              <a:rPr kumimoji="1" lang="zh-CN" altLang="en-US" dirty="0"/>
              <a:t>以另一个方式描述了计划扑克的过程。那就是对每一个需求</a:t>
            </a:r>
            <a:r>
              <a:rPr kumimoji="1" lang="en-US" altLang="zh-CN" dirty="0"/>
              <a:t>: </a:t>
            </a:r>
            <a:endParaRPr kumimoji="1" lang="en-US" altLang="zh-CN" dirty="0"/>
          </a:p>
          <a:p>
            <a:r>
              <a:rPr kumimoji="1" lang="en-US" altLang="zh-CN" dirty="0"/>
              <a:t>( 1 ) </a:t>
            </a:r>
            <a:r>
              <a:rPr kumimoji="1" lang="zh-CN" altLang="en-US" dirty="0"/>
              <a:t>由一个领域专家向团队解释需求并回答问题，以确保大家都理解。</a:t>
            </a:r>
            <a:endParaRPr kumimoji="1" lang="zh-CN" altLang="en-US" dirty="0"/>
          </a:p>
          <a:p>
            <a:r>
              <a:rPr kumimoji="1" lang="en-US" altLang="zh-CN" dirty="0"/>
              <a:t>( 2 ) </a:t>
            </a:r>
            <a:r>
              <a:rPr kumimoji="1" lang="zh-CN" altLang="en-US" dirty="0"/>
              <a:t>进入以下轮次，只有在没能达成一致时才进入下一轮次。</a:t>
            </a:r>
            <a:endParaRPr kumimoji="1" lang="zh-CN" altLang="en-US" dirty="0"/>
          </a:p>
          <a:p>
            <a:pPr lvl="1"/>
            <a:r>
              <a:rPr kumimoji="1" lang="zh-CN" altLang="en-US" dirty="0"/>
              <a:t>第一轮</a:t>
            </a:r>
            <a:r>
              <a:rPr kumimoji="1" lang="en-US" altLang="zh-CN" dirty="0"/>
              <a:t>:</a:t>
            </a:r>
            <a:r>
              <a:rPr kumimoji="1" lang="zh-CN" altLang="en-US" dirty="0"/>
              <a:t>大家用卡片独立投票，不要讨论。比如像上面一样数</a:t>
            </a:r>
            <a:r>
              <a:rPr kumimoji="1" lang="en-US" altLang="zh-CN" dirty="0"/>
              <a:t>1, 2, 3 —</a:t>
            </a:r>
            <a:r>
              <a:rPr kumimoji="1" lang="zh-CN" altLang="en-US" dirty="0"/>
              <a:t>起投票。 </a:t>
            </a:r>
            <a:endParaRPr kumimoji="1" lang="zh-CN" altLang="en-US" dirty="0"/>
          </a:p>
          <a:p>
            <a:pPr lvl="1"/>
            <a:r>
              <a:rPr kumimoji="1" lang="zh-CN" altLang="en-US" dirty="0"/>
              <a:t>第二轮</a:t>
            </a:r>
            <a:r>
              <a:rPr kumimoji="1" lang="en-US" altLang="zh-CN" dirty="0"/>
              <a:t>:</a:t>
            </a:r>
            <a:r>
              <a:rPr kumimoji="1" lang="zh-CN" altLang="en-US" dirty="0"/>
              <a:t>让人们先思考一到两分钟，再进入下一轮独立投票，还是不要讨论。</a:t>
            </a:r>
            <a:endParaRPr kumimoji="1" lang="zh-CN" altLang="en-US" dirty="0"/>
          </a:p>
          <a:p>
            <a:pPr lvl="1"/>
            <a:r>
              <a:rPr kumimoji="1" lang="zh-CN" altLang="en-US" dirty="0"/>
              <a:t>第三轮</a:t>
            </a:r>
            <a:r>
              <a:rPr kumimoji="1" lang="en-US" altLang="zh-CN" dirty="0"/>
              <a:t>:</a:t>
            </a:r>
            <a:r>
              <a:rPr kumimoji="1" lang="zh-CN" altLang="en-US" dirty="0"/>
              <a:t>大家先解释一下自己为什么给出这样的投票，然后再次投票。</a:t>
            </a:r>
            <a:endParaRPr kumimoji="1" lang="zh-CN" altLang="en-US" dirty="0"/>
          </a:p>
          <a:p>
            <a:pPr lvl="1"/>
            <a:r>
              <a:rPr kumimoji="1" lang="zh-CN" altLang="en-US" dirty="0"/>
              <a:t>如果还没有达成一致，就暂时搁置，先进行下一个需求的估算。 </a:t>
            </a:r>
            <a:endParaRPr kumimoji="1" lang="zh-CN" altLang="en-US" dirty="0"/>
          </a:p>
          <a:p>
            <a:r>
              <a:rPr kumimoji="1" lang="zh-CN" altLang="en-US" dirty="0"/>
              <a:t>这个方法让你快速得到足够好的估计。如果能够达成一致，就不会对需求做详细的讨论了。 </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卡片队列估算法</a:t>
            </a:r>
            <a:r>
              <a:rPr lang="en-US" altLang="zh-CN" dirty="0"/>
              <a:t>1 </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en-US" altLang="zh-CN" dirty="0"/>
              <a:t>( 1 ) </a:t>
            </a:r>
            <a:r>
              <a:rPr kumimoji="1" lang="zh-CN" altLang="en-US" dirty="0"/>
              <a:t>把每个条目的描述写在单独的卡片上，这个应该在估算前就准备好。</a:t>
            </a:r>
            <a:endParaRPr kumimoji="1" lang="zh-CN" altLang="en-US" dirty="0"/>
          </a:p>
          <a:p>
            <a:r>
              <a:rPr kumimoji="1" lang="en-US" altLang="zh-CN" dirty="0"/>
              <a:t>( 2 ) </a:t>
            </a:r>
            <a:r>
              <a:rPr kumimoji="1" lang="zh-CN" altLang="en-US" dirty="0"/>
              <a:t>把所有的卡片摞成一摞放在桌上。</a:t>
            </a:r>
            <a:endParaRPr kumimoji="1" lang="zh-CN" altLang="en-US" dirty="0"/>
          </a:p>
          <a:p>
            <a:r>
              <a:rPr kumimoji="1" lang="en-US" altLang="zh-CN" dirty="0"/>
              <a:t>( 3 ) </a:t>
            </a:r>
            <a:r>
              <a:rPr kumimoji="1" lang="zh-CN" altLang="en-US" dirty="0"/>
              <a:t>拿出第一张卡片，放在旁边。</a:t>
            </a:r>
            <a:endParaRPr kumimoji="1" lang="zh-CN" altLang="en-US" dirty="0"/>
          </a:p>
          <a:p>
            <a:r>
              <a:rPr kumimoji="1" lang="en-US" altLang="zh-CN" dirty="0"/>
              <a:t>( 4 ) </a:t>
            </a:r>
            <a:r>
              <a:rPr kumimoji="1" lang="zh-CN" altLang="en-US" dirty="0"/>
              <a:t>再拿出一张，问</a:t>
            </a:r>
            <a:r>
              <a:rPr kumimoji="1" lang="en-US" altLang="zh-CN" dirty="0"/>
              <a:t>:“</a:t>
            </a:r>
            <a:r>
              <a:rPr kumimoji="1" lang="zh-CN" altLang="en-US" dirty="0"/>
              <a:t>这个比第一个大还是小</a:t>
            </a:r>
            <a:r>
              <a:rPr kumimoji="1" lang="en-US" altLang="zh-CN" dirty="0"/>
              <a:t>?” </a:t>
            </a:r>
            <a:r>
              <a:rPr kumimoji="1" lang="zh-CN" altLang="en-US" dirty="0"/>
              <a:t>为了回答这个问题，你可能需要和其他人讨论一下这个工作项是干什么的。这需要时间，但别太长，记住这是一个快速估算。</a:t>
            </a:r>
            <a:endParaRPr kumimoji="1" lang="en-US" altLang="zh-CN" dirty="0"/>
          </a:p>
          <a:p>
            <a:r>
              <a:rPr kumimoji="1" lang="zh-CN" altLang="en-US" dirty="0"/>
              <a:t> </a:t>
            </a:r>
            <a:r>
              <a:rPr kumimoji="1" lang="en-US" altLang="zh-CN" dirty="0"/>
              <a:t>( 5 ) </a:t>
            </a:r>
            <a:r>
              <a:rPr kumimoji="1" lang="zh-CN" altLang="en-US" dirty="0"/>
              <a:t>当你决定了它更大或更小后，把它放在原先卡片的上方或下方，形成一列。 </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卡片队列估算法</a:t>
            </a:r>
            <a:r>
              <a:rPr lang="en-US" altLang="zh-CN" dirty="0"/>
              <a:t>2 </a:t>
            </a:r>
            <a:endParaRPr kumimoji="1" lang="zh-CN" altLang="en-US" dirty="0"/>
          </a:p>
        </p:txBody>
      </p:sp>
      <p:sp>
        <p:nvSpPr>
          <p:cNvPr id="4" name="内容占位符 3"/>
          <p:cNvSpPr>
            <a:spLocks noGrp="1"/>
          </p:cNvSpPr>
          <p:nvPr>
            <p:ph idx="1"/>
          </p:nvPr>
        </p:nvSpPr>
        <p:spPr/>
        <p:txBody>
          <a:bodyPr>
            <a:normAutofit fontScale="92500"/>
          </a:bodyPr>
          <a:lstStyle/>
          <a:p>
            <a:r>
              <a:rPr kumimoji="1" lang="en-US" altLang="zh-CN" dirty="0"/>
              <a:t>( 6 ) </a:t>
            </a:r>
            <a:r>
              <a:rPr kumimoji="1" lang="zh-CN" altLang="en-US" dirty="0"/>
              <a:t>重 复 第 </a:t>
            </a:r>
            <a:r>
              <a:rPr kumimoji="1" lang="en-US" altLang="zh-CN" dirty="0"/>
              <a:t>4 </a:t>
            </a:r>
            <a:r>
              <a:rPr kumimoji="1" lang="zh-CN" altLang="en-US" dirty="0"/>
              <a:t>和 第 </a:t>
            </a:r>
            <a:r>
              <a:rPr kumimoji="1" lang="en-US" altLang="zh-CN" dirty="0"/>
              <a:t>5 </a:t>
            </a:r>
            <a:r>
              <a:rPr kumimoji="1" lang="zh-CN" altLang="en-US" dirty="0"/>
              <a:t>步 ，直 到 用 完 所 有 的 卡 片 。 </a:t>
            </a:r>
            <a:endParaRPr kumimoji="1" lang="zh-CN" altLang="en-US" dirty="0"/>
          </a:p>
          <a:p>
            <a:r>
              <a:rPr kumimoji="1" lang="en-US" altLang="zh-CN" dirty="0"/>
              <a:t>(7)</a:t>
            </a:r>
            <a:r>
              <a:rPr kumimoji="1" lang="zh-CN" altLang="en-US" dirty="0"/>
              <a:t>现在你可以把所有的卡片分组了</a:t>
            </a:r>
            <a:r>
              <a:rPr kumimoji="1" lang="en-US" altLang="zh-CN" dirty="0"/>
              <a:t>— </a:t>
            </a:r>
            <a:r>
              <a:rPr kumimoji="1" lang="zh-CN" altLang="en-US" dirty="0"/>
              <a:t>这也是该技术的第二阶段。从桌上底部</a:t>
            </a:r>
            <a:r>
              <a:rPr kumimoji="1" lang="en-US" altLang="zh-CN" dirty="0"/>
              <a:t>(</a:t>
            </a:r>
            <a:r>
              <a:rPr kumimoji="1" lang="zh-CN" altLang="en-US" dirty="0"/>
              <a:t>最小</a:t>
            </a:r>
            <a:r>
              <a:rPr kumimoji="1" lang="en-US" altLang="zh-CN" dirty="0"/>
              <a:t>)</a:t>
            </a:r>
            <a:r>
              <a:rPr kumimoji="1" lang="zh-CN" altLang="en-US" dirty="0"/>
              <a:t>的 卡片开始，声明第一组的估算是“小的”。 </a:t>
            </a:r>
            <a:endParaRPr kumimoji="1" lang="zh-CN" altLang="en-US" dirty="0"/>
          </a:p>
          <a:p>
            <a:r>
              <a:rPr kumimoji="1" lang="en-US" altLang="zh-CN" dirty="0"/>
              <a:t>( 8 ) </a:t>
            </a:r>
            <a:r>
              <a:rPr kumimoji="1" lang="zh-CN" altLang="en-US" dirty="0"/>
              <a:t>继续向上，决定到何时为止卡片已经变大到需要用一个新的估算值</a:t>
            </a:r>
            <a:r>
              <a:rPr kumimoji="1" lang="en-US" altLang="zh-CN" dirty="0"/>
              <a:t>(</a:t>
            </a:r>
            <a:r>
              <a:rPr kumimoji="1" lang="zh-CN" altLang="en-US" dirty="0"/>
              <a:t>如 “中等”</a:t>
            </a:r>
            <a:r>
              <a:rPr kumimoji="1" lang="en-US" altLang="zh-CN" dirty="0"/>
              <a:t>)</a:t>
            </a:r>
            <a:r>
              <a:rPr kumimoji="1" lang="zh-CN" altLang="en-US" dirty="0"/>
              <a:t>了， 让团队决定。 </a:t>
            </a:r>
            <a:endParaRPr kumimoji="1" lang="zh-CN" altLang="en-US" dirty="0"/>
          </a:p>
          <a:p>
            <a:r>
              <a:rPr kumimoji="1" lang="en-US" altLang="zh-CN" dirty="0"/>
              <a:t>( 9 ) </a:t>
            </a:r>
            <a:r>
              <a:rPr kumimoji="1" lang="zh-CN" altLang="en-US" dirty="0"/>
              <a:t>很快，你就可以把整列卡片再过一遍，并加总</a:t>
            </a:r>
            <a:r>
              <a:rPr kumimoji="1" lang="en-US" altLang="zh-CN" dirty="0"/>
              <a:t>(5 </a:t>
            </a:r>
            <a:r>
              <a:rPr kumimoji="1" lang="zh-CN" altLang="en-US" dirty="0"/>
              <a:t>个的估计是</a:t>
            </a:r>
            <a:r>
              <a:rPr kumimoji="1" lang="en-GB" altLang="zh-CN" dirty="0"/>
              <a:t>S, 4 </a:t>
            </a:r>
            <a:r>
              <a:rPr kumimoji="1" lang="zh-CN" altLang="en-US" dirty="0"/>
              <a:t>个 </a:t>
            </a:r>
            <a:r>
              <a:rPr kumimoji="1" lang="en-GB" altLang="zh-CN" dirty="0"/>
              <a:t>M ,</a:t>
            </a:r>
            <a:r>
              <a:rPr kumimoji="1" lang="zh-CN" altLang="en-US" dirty="0"/>
              <a:t>等等</a:t>
            </a:r>
            <a:r>
              <a:rPr kumimoji="1" lang="en-US" altLang="zh-CN" dirty="0"/>
              <a:t>) </a:t>
            </a:r>
            <a:r>
              <a:rPr kumimoji="1" lang="zh-CN" altLang="en-US" dirty="0"/>
              <a:t>以得到整个列的总和，这也就是需求的总工作量估计。从队列最下面的部分开始，第一部分可以被当做</a:t>
            </a:r>
            <a:r>
              <a:rPr kumimoji="1" lang="en-GB" altLang="zh-CN" dirty="0"/>
              <a:t>S</a:t>
            </a:r>
            <a:r>
              <a:rPr kumimoji="1" lang="zh-CN" altLang="en-GB" dirty="0"/>
              <a:t>。</a:t>
            </a:r>
            <a:endParaRPr kumimoji="1" lang="zh-CN" altLang="en-GB" dirty="0"/>
          </a:p>
          <a:p>
            <a:endParaRPr kumimoji="1" lang="zh-CN" altLang="en-GB"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“金发女孩” 估算技术</a:t>
            </a:r>
            <a:r>
              <a:rPr lang="zh-CN" altLang="en-US" sz="900" dirty="0">
                <a:latin typeface="Times Roman"/>
                <a:ea typeface="Times Roman"/>
                <a:cs typeface="Times Roman"/>
                <a:sym typeface="Times Roman"/>
              </a:rPr>
              <a:t> </a:t>
            </a:r>
            <a:endParaRPr kumimoji="1" lang="zh-CN" altLang="en-US" dirty="0"/>
          </a:p>
        </p:txBody>
      </p:sp>
      <p:sp>
        <p:nvSpPr>
          <p:cNvPr id="4" name="内容占位符 3"/>
          <p:cNvSpPr>
            <a:spLocks noGrp="1"/>
          </p:cNvSpPr>
          <p:nvPr>
            <p:ph idx="1"/>
          </p:nvPr>
        </p:nvSpPr>
        <p:spPr>
          <a:xfrm>
            <a:off x="838200" y="1041622"/>
            <a:ext cx="10515600" cy="2387378"/>
          </a:xfrm>
        </p:spPr>
        <p:txBody>
          <a:bodyPr>
            <a:normAutofit fontScale="92500" lnSpcReduction="10000"/>
          </a:bodyPr>
          <a:lstStyle/>
          <a:p>
            <a:r>
              <a:rPr kumimoji="1" lang="zh-CN" altLang="en-US" dirty="0"/>
              <a:t>这一技术从儿童故事</a:t>
            </a:r>
            <a:r>
              <a:rPr kumimoji="1" lang="en-US" altLang="zh-CN" dirty="0"/>
              <a:t>《</a:t>
            </a:r>
            <a:r>
              <a:rPr kumimoji="1" lang="zh-CN" altLang="en-US" dirty="0"/>
              <a:t>金发女孩和三只小熊</a:t>
            </a:r>
            <a:r>
              <a:rPr kumimoji="1" lang="en-US" altLang="zh-CN" dirty="0"/>
              <a:t>》</a:t>
            </a:r>
            <a:r>
              <a:rPr kumimoji="1" lang="zh-CN" altLang="en-US" dirty="0"/>
              <a:t>中受到启发。 </a:t>
            </a:r>
            <a:endParaRPr kumimoji="1" lang="zh-CN" altLang="en-US" dirty="0"/>
          </a:p>
          <a:p>
            <a:r>
              <a:rPr kumimoji="1" lang="zh-CN" altLang="en-US" dirty="0"/>
              <a:t>作为对工作项大小估计的替代，你可以把工作项调整到合适的大小。 </a:t>
            </a:r>
            <a:endParaRPr kumimoji="1" lang="zh-CN" altLang="en-US" dirty="0"/>
          </a:p>
          <a:p>
            <a:r>
              <a:rPr kumimoji="1" lang="zh-CN" altLang="en-US" dirty="0"/>
              <a:t>你不再是指定每个工作项的大小，而是去分割或组合工作项，让它们的规模大致相当，并便于后续操作。 </a:t>
            </a:r>
            <a:endParaRPr kumimoji="1" lang="zh-CN" altLang="en-US" dirty="0"/>
          </a:p>
          <a:p>
            <a:endParaRPr kumimoji="1" lang="zh-CN" altLang="en-US" dirty="0"/>
          </a:p>
          <a:p>
            <a:endParaRPr kumimoji="1" lang="zh-CN" altLang="en-US" dirty="0"/>
          </a:p>
        </p:txBody>
      </p:sp>
      <p:pic>
        <p:nvPicPr>
          <p:cNvPr id="5" name="图像" descr="图像"/>
          <p:cNvPicPr>
            <a:picLocks noChangeAspect="1"/>
          </p:cNvPicPr>
          <p:nvPr/>
        </p:nvPicPr>
        <p:blipFill>
          <a:blip r:embed="rId1"/>
          <a:stretch>
            <a:fillRect/>
          </a:stretch>
        </p:blipFill>
        <p:spPr>
          <a:xfrm>
            <a:off x="3655083" y="3339561"/>
            <a:ext cx="4288767" cy="3220503"/>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减小故事规模</a:t>
            </a:r>
            <a:endParaRPr kumimoji="1" lang="zh-CN" altLang="en-US" dirty="0"/>
          </a:p>
        </p:txBody>
      </p:sp>
      <p:sp>
        <p:nvSpPr>
          <p:cNvPr id="4" name="内容占位符 3"/>
          <p:cNvSpPr>
            <a:spLocks noGrp="1"/>
          </p:cNvSpPr>
          <p:nvPr>
            <p:ph idx="1"/>
          </p:nvPr>
        </p:nvSpPr>
        <p:spPr>
          <a:xfrm>
            <a:off x="838200" y="1041622"/>
            <a:ext cx="10515600" cy="1663478"/>
          </a:xfrm>
        </p:spPr>
        <p:txBody>
          <a:bodyPr/>
          <a:lstStyle/>
          <a:p>
            <a:r>
              <a:rPr lang="zh-CN" altLang="en-US" dirty="0"/>
              <a:t>很多团队要求每个故事的大小在</a:t>
            </a:r>
            <a:r>
              <a:rPr lang="en-US" altLang="zh-CN" dirty="0"/>
              <a:t>2-8</a:t>
            </a:r>
            <a:r>
              <a:rPr lang="zh-CN" altLang="en-US" dirty="0"/>
              <a:t>个故事点，大于</a:t>
            </a:r>
            <a:r>
              <a:rPr lang="en-US" altLang="zh-CN" dirty="0"/>
              <a:t>8</a:t>
            </a:r>
            <a:r>
              <a:rPr lang="zh-CN" altLang="en-US" dirty="0"/>
              <a:t>要求拆分故事。</a:t>
            </a:r>
            <a:endParaRPr lang="zh-CN" altLang="en-US" dirty="0"/>
          </a:p>
          <a:p>
            <a:endParaRPr kumimoji="1" lang="zh-CN" altLang="en-US" dirty="0"/>
          </a:p>
        </p:txBody>
      </p:sp>
      <p:pic>
        <p:nvPicPr>
          <p:cNvPr id="5" name="图像" descr="图像"/>
          <p:cNvPicPr>
            <a:picLocks noChangeAspect="1"/>
          </p:cNvPicPr>
          <p:nvPr/>
        </p:nvPicPr>
        <p:blipFill>
          <a:blip r:embed="rId1"/>
          <a:stretch>
            <a:fillRect/>
          </a:stretch>
        </p:blipFill>
        <p:spPr>
          <a:xfrm>
            <a:off x="1472807" y="3320760"/>
            <a:ext cx="9246386" cy="1922922"/>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故事（</a:t>
            </a:r>
            <a:r>
              <a:rPr lang="en-GB" altLang="zh-CN" dirty="0"/>
              <a:t>story</a:t>
            </a:r>
            <a:r>
              <a:rPr lang="zh-CN" altLang="en-GB" dirty="0"/>
              <a:t>）</a:t>
            </a:r>
            <a:r>
              <a:rPr lang="zh-CN" altLang="en-US" dirty="0"/>
              <a:t>与任务（</a:t>
            </a:r>
            <a:r>
              <a:rPr lang="en-GB" altLang="zh-CN" dirty="0"/>
              <a:t>task</a:t>
            </a:r>
            <a:r>
              <a:rPr lang="zh-CN" altLang="en-GB" dirty="0"/>
              <a:t>）</a:t>
            </a:r>
            <a:endParaRPr kumimoji="1" lang="zh-CN" altLang="en-US" dirty="0"/>
          </a:p>
        </p:txBody>
      </p:sp>
      <p:sp>
        <p:nvSpPr>
          <p:cNvPr id="4" name="内容占位符 3"/>
          <p:cNvSpPr>
            <a:spLocks noGrp="1"/>
          </p:cNvSpPr>
          <p:nvPr>
            <p:ph idx="1"/>
          </p:nvPr>
        </p:nvSpPr>
        <p:spPr>
          <a:xfrm>
            <a:off x="838200" y="1041622"/>
            <a:ext cx="10515600" cy="1549178"/>
          </a:xfrm>
        </p:spPr>
        <p:txBody>
          <a:bodyPr/>
          <a:lstStyle/>
          <a:p>
            <a:r>
              <a:rPr lang="en-GB" altLang="zh-CN" dirty="0"/>
              <a:t>Story</a:t>
            </a:r>
            <a:r>
              <a:rPr lang="zh-CN" altLang="en-US" dirty="0"/>
              <a:t>是可以交付的东西，</a:t>
            </a:r>
            <a:r>
              <a:rPr lang="en-GB" altLang="zh-CN" dirty="0"/>
              <a:t>Task</a:t>
            </a:r>
            <a:r>
              <a:rPr lang="zh-CN" altLang="en-US" dirty="0"/>
              <a:t>是不可以交付的，</a:t>
            </a:r>
            <a:r>
              <a:rPr lang="en-GB" altLang="zh-CN" dirty="0"/>
              <a:t>Product Owner</a:t>
            </a:r>
            <a:r>
              <a:rPr lang="zh-CN" altLang="en-US" dirty="0"/>
              <a:t>对</a:t>
            </a:r>
            <a:r>
              <a:rPr lang="en-GB" altLang="zh-CN" dirty="0"/>
              <a:t>Task</a:t>
            </a:r>
            <a:r>
              <a:rPr lang="zh-CN" altLang="en-US" dirty="0"/>
              <a:t>不关心；</a:t>
            </a:r>
            <a:endParaRPr lang="zh-CN" altLang="en-US" dirty="0"/>
          </a:p>
          <a:p>
            <a:endParaRPr kumimoji="1" lang="zh-CN" altLang="en-US" dirty="0"/>
          </a:p>
        </p:txBody>
      </p:sp>
      <p:pic>
        <p:nvPicPr>
          <p:cNvPr id="5" name="图像" descr="图像"/>
          <p:cNvPicPr>
            <a:picLocks noChangeAspect="1"/>
          </p:cNvPicPr>
          <p:nvPr/>
        </p:nvPicPr>
        <p:blipFill>
          <a:blip r:embed="rId1"/>
          <a:stretch>
            <a:fillRect/>
          </a:stretch>
        </p:blipFill>
        <p:spPr>
          <a:xfrm>
            <a:off x="4806951" y="2133601"/>
            <a:ext cx="3124200" cy="4267200"/>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计划会议（续）</a:t>
            </a:r>
            <a:endParaRPr kumimoji="1" lang="zh-CN" altLang="en-US" dirty="0"/>
          </a:p>
        </p:txBody>
      </p:sp>
      <p:sp>
        <p:nvSpPr>
          <p:cNvPr id="4" name="内容占位符 3"/>
          <p:cNvSpPr>
            <a:spLocks noGrp="1"/>
          </p:cNvSpPr>
          <p:nvPr>
            <p:ph idx="1"/>
          </p:nvPr>
        </p:nvSpPr>
        <p:spPr>
          <a:xfrm>
            <a:off x="838200" y="1619250"/>
            <a:ext cx="10515600" cy="4557714"/>
          </a:xfrm>
        </p:spPr>
        <p:txBody>
          <a:bodyPr/>
          <a:lstStyle/>
          <a:p>
            <a:pPr>
              <a:defRPr>
                <a:solidFill>
                  <a:srgbClr val="63055F"/>
                </a:solidFill>
              </a:defRPr>
            </a:pPr>
            <a:r>
              <a:rPr lang="zh-CN" altLang="en-US" dirty="0"/>
              <a:t>定下每日例会的时间和地点：这必须是每一个成员都能接受的时间和地点。</a:t>
            </a:r>
            <a:endParaRPr lang="zh-CN" altLang="en-US" dirty="0"/>
          </a:p>
          <a:p>
            <a:pPr>
              <a:defRPr>
                <a:solidFill>
                  <a:srgbClr val="63055F"/>
                </a:solidFill>
              </a:defRPr>
            </a:pPr>
            <a:r>
              <a:rPr lang="zh-CN" altLang="en-US" dirty="0"/>
              <a:t>确定技术故事：需要完成但是不属于可交付物的东西，如：</a:t>
            </a:r>
            <a:endParaRPr lang="zh-CN" altLang="en-US" dirty="0"/>
          </a:p>
          <a:p>
            <a:pPr lvl="1">
              <a:defRPr>
                <a:solidFill>
                  <a:srgbClr val="63055F"/>
                </a:solidFill>
              </a:defRPr>
            </a:pPr>
            <a:r>
              <a:rPr lang="en-US" altLang="zh-CN" dirty="0"/>
              <a:t>-</a:t>
            </a:r>
            <a:r>
              <a:rPr lang="zh-CN" altLang="en-US" dirty="0"/>
              <a:t>安装持续构建服务器</a:t>
            </a:r>
            <a:endParaRPr lang="zh-CN" altLang="en-US" dirty="0"/>
          </a:p>
          <a:p>
            <a:pPr lvl="1">
              <a:defRPr>
                <a:solidFill>
                  <a:srgbClr val="63055F"/>
                </a:solidFill>
              </a:defRPr>
            </a:pPr>
            <a:r>
              <a:rPr lang="en-US" altLang="zh-CN" dirty="0"/>
              <a:t>-</a:t>
            </a:r>
            <a:r>
              <a:rPr lang="zh-CN" altLang="en-US" dirty="0"/>
              <a:t>编写系统设计概览 </a:t>
            </a:r>
            <a:endParaRPr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计划会议产物</a:t>
            </a:r>
            <a:r>
              <a:rPr lang="en-US" altLang="zh-CN" dirty="0"/>
              <a:t>—</a:t>
            </a:r>
            <a:r>
              <a:rPr lang="en-GB" altLang="zh-CN" dirty="0"/>
              <a:t>Sprint</a:t>
            </a:r>
            <a:r>
              <a:rPr lang="zh-CN" altLang="en-US" dirty="0"/>
              <a:t>信息页 </a:t>
            </a:r>
            <a:endParaRPr kumimoji="1" lang="zh-CN" altLang="en-US" dirty="0"/>
          </a:p>
        </p:txBody>
      </p:sp>
      <p:pic>
        <p:nvPicPr>
          <p:cNvPr id="7" name="内容占位符 6"/>
          <p:cNvPicPr>
            <a:picLocks noGrp="1" noChangeAspect="1"/>
          </p:cNvPicPr>
          <p:nvPr>
            <p:ph idx="1"/>
          </p:nvPr>
        </p:nvPicPr>
        <p:blipFill>
          <a:blip r:embed="rId1"/>
          <a:stretch>
            <a:fillRect/>
          </a:stretch>
        </p:blipFill>
        <p:spPr>
          <a:xfrm>
            <a:off x="3626453" y="1290638"/>
            <a:ext cx="4939093" cy="488632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 </a:t>
            </a:r>
            <a:r>
              <a:rPr lang="zh-CN" altLang="en-US" dirty="0"/>
              <a:t>管理 </a:t>
            </a:r>
            <a:r>
              <a:rPr lang="en-US" altLang="zh-CN" dirty="0"/>
              <a:t>—</a:t>
            </a:r>
            <a:r>
              <a:rPr lang="zh-CN" altLang="en-US" dirty="0"/>
              <a:t>白板 </a:t>
            </a:r>
            <a:r>
              <a:rPr lang="en-US" altLang="zh-CN" dirty="0"/>
              <a:t>Scrum</a:t>
            </a:r>
            <a:r>
              <a:rPr lang="zh-CN" altLang="en-US" dirty="0"/>
              <a:t>任务板（</a:t>
            </a:r>
            <a:r>
              <a:rPr lang="en-US" altLang="zh-CN" dirty="0"/>
              <a:t>Scrum Board</a:t>
            </a:r>
            <a:r>
              <a:rPr lang="zh-CN" altLang="en-US" dirty="0"/>
              <a:t>）</a:t>
            </a:r>
            <a:endParaRPr kumimoji="1" lang="zh-CN" altLang="en-US" dirty="0"/>
          </a:p>
        </p:txBody>
      </p:sp>
      <p:pic>
        <p:nvPicPr>
          <p:cNvPr id="5" name="图像" descr="图像"/>
          <p:cNvPicPr>
            <a:picLocks noGrp="1" noChangeAspect="1"/>
          </p:cNvPicPr>
          <p:nvPr>
            <p:ph idx="1"/>
          </p:nvPr>
        </p:nvPicPr>
        <p:blipFill>
          <a:blip r:embed="rId1"/>
          <a:stretch>
            <a:fillRect/>
          </a:stretch>
        </p:blipFill>
        <p:spPr>
          <a:xfrm>
            <a:off x="2151236" y="1271081"/>
            <a:ext cx="7889528" cy="5135563"/>
          </a:xfrm>
          <a:prstGeom prst="rect">
            <a:avLst/>
          </a:prstGeom>
          <a:ln w="12700">
            <a:miter lim="400000"/>
            <a:headEnd/>
            <a:tailEnd/>
          </a:ln>
        </p:spPr>
      </p:pic>
      <p:sp>
        <p:nvSpPr>
          <p:cNvPr id="4" name="文本框 3"/>
          <p:cNvSpPr txBox="1"/>
          <p:nvPr/>
        </p:nvSpPr>
        <p:spPr>
          <a:xfrm>
            <a:off x="2650210" y="901749"/>
            <a:ext cx="6570901" cy="369332"/>
          </a:xfrm>
          <a:prstGeom prst="rect">
            <a:avLst/>
          </a:prstGeom>
          <a:noFill/>
        </p:spPr>
        <p:txBody>
          <a:bodyPr wrap="none" rtlCol="0">
            <a:spAutoFit/>
          </a:bodyPr>
          <a:lstStyle/>
          <a:p>
            <a:r>
              <a:rPr lang="zh-CN" altLang="en-US" b="0" i="0" u="none" strike="noStrike" dirty="0">
                <a:solidFill>
                  <a:srgbClr val="1F0909"/>
                </a:solidFill>
                <a:effectLst/>
                <a:latin typeface="PT Serif" panose="020A0603040505020204" pitchFamily="18" charset="0"/>
              </a:rPr>
              <a:t>“</a:t>
            </a:r>
            <a:r>
              <a:rPr lang="zh-CN" altLang="en-US" b="1" i="0" u="none" strike="noStrike" dirty="0">
                <a:solidFill>
                  <a:srgbClr val="1F0909"/>
                </a:solidFill>
                <a:effectLst/>
                <a:latin typeface="PT Serif" panose="020A0603040505020204" pitchFamily="18" charset="0"/>
              </a:rPr>
              <a:t>待办</a:t>
            </a:r>
            <a:r>
              <a:rPr lang="zh-CN" altLang="en-US" b="0" i="0" u="none" strike="noStrike" dirty="0">
                <a:solidFill>
                  <a:srgbClr val="1F0909"/>
                </a:solidFill>
                <a:effectLst/>
                <a:latin typeface="PT Serif" panose="020A0603040505020204" pitchFamily="18" charset="0"/>
              </a:rPr>
              <a:t>（</a:t>
            </a:r>
            <a:r>
              <a:rPr lang="en-US" altLang="zh-CN" b="0" i="0" u="none" strike="noStrike" dirty="0">
                <a:solidFill>
                  <a:srgbClr val="1F0909"/>
                </a:solidFill>
                <a:effectLst/>
                <a:latin typeface="PT Serif" panose="020A0603040505020204" pitchFamily="18" charset="0"/>
              </a:rPr>
              <a:t>To Do</a:t>
            </a:r>
            <a:r>
              <a:rPr lang="zh-CN" altLang="en-US" b="0" i="0" u="none" strike="noStrike" dirty="0">
                <a:solidFill>
                  <a:srgbClr val="1F0909"/>
                </a:solidFill>
                <a:effectLst/>
                <a:latin typeface="PT Serif" panose="020A0603040505020204" pitchFamily="18" charset="0"/>
              </a:rPr>
              <a:t>）”“</a:t>
            </a:r>
            <a:r>
              <a:rPr lang="zh-CN" altLang="en-US" b="1" i="0" u="none" strike="noStrike" dirty="0">
                <a:solidFill>
                  <a:srgbClr val="1F0909"/>
                </a:solidFill>
                <a:effectLst/>
                <a:latin typeface="PT Serif" panose="020A0603040505020204" pitchFamily="18" charset="0"/>
              </a:rPr>
              <a:t>进行中</a:t>
            </a:r>
            <a:r>
              <a:rPr lang="zh-CN" altLang="en-US" b="0" i="0" u="none" strike="noStrike" dirty="0">
                <a:solidFill>
                  <a:srgbClr val="1F0909"/>
                </a:solidFill>
                <a:effectLst/>
                <a:latin typeface="PT Serif" panose="020A0603040505020204" pitchFamily="18" charset="0"/>
              </a:rPr>
              <a:t>（</a:t>
            </a:r>
            <a:r>
              <a:rPr lang="en-US" altLang="zh-CN" b="0" i="0" u="none" strike="noStrike" dirty="0">
                <a:solidFill>
                  <a:srgbClr val="1F0909"/>
                </a:solidFill>
                <a:effectLst/>
                <a:latin typeface="PT Serif" panose="020A0603040505020204" pitchFamily="18" charset="0"/>
              </a:rPr>
              <a:t>Doing</a:t>
            </a:r>
            <a:r>
              <a:rPr lang="zh-CN" altLang="en-US" b="0" i="0" u="none" strike="noStrike" dirty="0">
                <a:solidFill>
                  <a:srgbClr val="1F0909"/>
                </a:solidFill>
                <a:effectLst/>
                <a:latin typeface="PT Serif" panose="020A0603040505020204" pitchFamily="18" charset="0"/>
              </a:rPr>
              <a:t>）”“</a:t>
            </a:r>
            <a:r>
              <a:rPr lang="zh-CN" altLang="en-US" b="1" i="0" u="none" strike="noStrike" dirty="0">
                <a:solidFill>
                  <a:srgbClr val="1F0909"/>
                </a:solidFill>
                <a:effectLst/>
                <a:latin typeface="PT Serif" panose="020A0603040505020204" pitchFamily="18" charset="0"/>
              </a:rPr>
              <a:t>已完成</a:t>
            </a:r>
            <a:r>
              <a:rPr lang="zh-CN" altLang="en-US" b="0" i="0" u="none" strike="noStrike" dirty="0">
                <a:solidFill>
                  <a:srgbClr val="1F0909"/>
                </a:solidFill>
                <a:effectLst/>
                <a:latin typeface="PT Serif" panose="020A0603040505020204" pitchFamily="18" charset="0"/>
              </a:rPr>
              <a:t>（</a:t>
            </a:r>
            <a:r>
              <a:rPr lang="en-US" altLang="zh-CN" b="0" i="0" u="none" strike="noStrike" dirty="0">
                <a:solidFill>
                  <a:srgbClr val="1F0909"/>
                </a:solidFill>
                <a:effectLst/>
                <a:latin typeface="PT Serif" panose="020A0603040505020204" pitchFamily="18" charset="0"/>
              </a:rPr>
              <a:t>Done</a:t>
            </a:r>
            <a:r>
              <a:rPr lang="zh-CN" altLang="en-US" b="0" i="0" u="none" strike="noStrike" dirty="0">
                <a:solidFill>
                  <a:srgbClr val="1F0909"/>
                </a:solidFill>
                <a:effectLst/>
                <a:latin typeface="PT Serif" panose="020A0603040505020204" pitchFamily="18" charset="0"/>
              </a:rPr>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首次工作日之后的白板 </a:t>
            </a:r>
            <a:endParaRPr kumimoji="1" lang="zh-CN" altLang="en-US" dirty="0"/>
          </a:p>
        </p:txBody>
      </p:sp>
      <p:pic>
        <p:nvPicPr>
          <p:cNvPr id="5" name="图像" descr="图像"/>
          <p:cNvPicPr>
            <a:picLocks noGrp="1" noChangeAspect="1"/>
          </p:cNvPicPr>
          <p:nvPr>
            <p:ph idx="1"/>
          </p:nvPr>
        </p:nvPicPr>
        <p:blipFill>
          <a:blip r:embed="rId1"/>
          <a:stretch>
            <a:fillRect/>
          </a:stretch>
        </p:blipFill>
        <p:spPr>
          <a:xfrm>
            <a:off x="2169032" y="1041400"/>
            <a:ext cx="7853936" cy="5135563"/>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几天之后的白板 </a:t>
            </a:r>
            <a:endParaRPr kumimoji="1" lang="zh-CN" altLang="en-US" dirty="0"/>
          </a:p>
        </p:txBody>
      </p:sp>
      <p:pic>
        <p:nvPicPr>
          <p:cNvPr id="5" name="图像" descr="图像"/>
          <p:cNvPicPr>
            <a:picLocks noGrp="1" noChangeAspect="1"/>
          </p:cNvPicPr>
          <p:nvPr>
            <p:ph idx="1"/>
          </p:nvPr>
        </p:nvPicPr>
        <p:blipFill>
          <a:blip r:embed="rId1"/>
          <a:stretch>
            <a:fillRect/>
          </a:stretch>
        </p:blipFill>
        <p:spPr>
          <a:xfrm>
            <a:off x="2185693" y="1041400"/>
            <a:ext cx="7820613" cy="5135563"/>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白板的警示</a:t>
            </a:r>
            <a:endParaRPr kumimoji="1" lang="zh-CN" altLang="en-US" dirty="0"/>
          </a:p>
        </p:txBody>
      </p:sp>
      <p:pic>
        <p:nvPicPr>
          <p:cNvPr id="5" name="图像" descr="图像"/>
          <p:cNvPicPr>
            <a:picLocks noGrp="1" noChangeAspect="1"/>
          </p:cNvPicPr>
          <p:nvPr>
            <p:ph idx="1"/>
          </p:nvPr>
        </p:nvPicPr>
        <p:blipFill>
          <a:blip r:embed="rId1"/>
          <a:stretch>
            <a:fillRect/>
          </a:stretch>
        </p:blipFill>
        <p:spPr>
          <a:xfrm>
            <a:off x="2449679" y="1041400"/>
            <a:ext cx="7292642" cy="5135563"/>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跟踪进度</a:t>
            </a:r>
            <a:r>
              <a:rPr lang="en-US" altLang="zh-CN" dirty="0"/>
              <a:t>—</a:t>
            </a:r>
            <a:r>
              <a:rPr lang="zh-CN" altLang="en-US" dirty="0"/>
              <a:t>燃尽图</a:t>
            </a:r>
            <a:endParaRPr kumimoji="1" lang="zh-CN" altLang="en-US" dirty="0"/>
          </a:p>
        </p:txBody>
      </p:sp>
      <p:sp>
        <p:nvSpPr>
          <p:cNvPr id="5" name="包含信息：…"/>
          <p:cNvSpPr txBox="1"/>
          <p:nvPr/>
        </p:nvSpPr>
        <p:spPr>
          <a:xfrm>
            <a:off x="495300" y="984331"/>
            <a:ext cx="5143500" cy="5873669"/>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150000"/>
              </a:lnSpc>
              <a:spcBef>
                <a:spcPts val="0"/>
              </a:spcBef>
              <a:buFont typeface="Arial" panose="020B0604020202020204" pitchFamily="34" charset="0"/>
              <a:buChar char="•"/>
              <a:defRPr sz="2800" kern="1200" baseline="0">
                <a:solidFill>
                  <a:srgbClr val="6A005F"/>
                </a:solidFill>
                <a:latin typeface="+mn-lt"/>
                <a:ea typeface="+mn-ea"/>
                <a:cs typeface="+mn-cs"/>
              </a:defRPr>
            </a:lvl1pPr>
            <a:lvl2pPr marL="685800" indent="-228600" algn="l" defTabSz="914400" rtl="0" eaLnBrk="1" latinLnBrk="0" hangingPunct="1">
              <a:lnSpc>
                <a:spcPct val="150000"/>
              </a:lnSpc>
              <a:spcBef>
                <a:spcPts val="0"/>
              </a:spcBef>
              <a:buFont typeface="Arial" panose="020B0604020202020204" pitchFamily="34" charset="0"/>
              <a:buChar char="•"/>
              <a:defRPr sz="2400" kern="1200" baseline="0">
                <a:solidFill>
                  <a:srgbClr val="6A005F"/>
                </a:solidFill>
                <a:latin typeface="+mn-lt"/>
                <a:ea typeface="+mn-ea"/>
                <a:cs typeface="+mn-cs"/>
              </a:defRPr>
            </a:lvl2pPr>
            <a:lvl3pPr marL="1143000" indent="-228600" algn="l" defTabSz="914400" rtl="0" eaLnBrk="1" latinLnBrk="0" hangingPunct="1">
              <a:lnSpc>
                <a:spcPct val="150000"/>
              </a:lnSpc>
              <a:spcBef>
                <a:spcPts val="0"/>
              </a:spcBef>
              <a:buFont typeface="Arial" panose="020B0604020202020204" pitchFamily="34" charset="0"/>
              <a:buChar char="•"/>
              <a:defRPr sz="2000" kern="1200" baseline="0">
                <a:solidFill>
                  <a:srgbClr val="6A005F"/>
                </a:solidFill>
                <a:latin typeface="+mn-lt"/>
                <a:ea typeface="+mn-ea"/>
                <a:cs typeface="+mn-cs"/>
              </a:defRPr>
            </a:lvl3pPr>
            <a:lvl4pPr marL="16002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4pPr>
            <a:lvl5pPr marL="2057400" indent="-228600" algn="l" defTabSz="914400" rtl="0" eaLnBrk="1" latinLnBrk="0" hangingPunct="1">
              <a:lnSpc>
                <a:spcPct val="150000"/>
              </a:lnSpc>
              <a:spcBef>
                <a:spcPts val="0"/>
              </a:spcBef>
              <a:buFont typeface="Arial" panose="020B0604020202020204" pitchFamily="34" charset="0"/>
              <a:buChar char="•"/>
              <a:defRPr sz="1800" kern="1200" baseline="0">
                <a:solidFill>
                  <a:srgbClr val="6A005F"/>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00050" indent="-400050" defTabSz="525780">
              <a:spcBef>
                <a:spcPts val="3700"/>
              </a:spcBef>
              <a:defRPr sz="3240">
                <a:solidFill>
                  <a:srgbClr val="63055F"/>
                </a:solidFill>
              </a:defRPr>
            </a:pPr>
            <a:r>
              <a:rPr lang="zh-CN" altLang="en-US" sz="3200" dirty="0">
                <a:solidFill>
                  <a:srgbClr val="63055F"/>
                </a:solidFill>
              </a:rPr>
              <a:t>包含信息：</a:t>
            </a:r>
            <a:endParaRPr lang="zh-CN" altLang="en-US" sz="3200" dirty="0">
              <a:solidFill>
                <a:srgbClr val="63055F"/>
              </a:solidFill>
            </a:endParaRPr>
          </a:p>
          <a:p>
            <a:pPr marL="800100" lvl="1" indent="-400050" defTabSz="525780">
              <a:spcBef>
                <a:spcPts val="3700"/>
              </a:spcBef>
              <a:defRPr sz="3240">
                <a:solidFill>
                  <a:srgbClr val="63055F"/>
                </a:solidFill>
              </a:defRPr>
            </a:pPr>
            <a:r>
              <a:rPr lang="en-US" altLang="zh-CN" dirty="0">
                <a:solidFill>
                  <a:srgbClr val="63055F"/>
                </a:solidFill>
              </a:rPr>
              <a:t>–</a:t>
            </a:r>
            <a:r>
              <a:rPr lang="zh-CN" altLang="en-US" dirty="0">
                <a:solidFill>
                  <a:srgbClr val="63055F"/>
                </a:solidFill>
              </a:rPr>
              <a:t>该</a:t>
            </a:r>
            <a:r>
              <a:rPr lang="en-GB" dirty="0">
                <a:solidFill>
                  <a:srgbClr val="63055F"/>
                </a:solidFill>
              </a:rPr>
              <a:t>Sprint</a:t>
            </a:r>
            <a:r>
              <a:rPr lang="zh-CN" altLang="en-US" dirty="0">
                <a:solidFill>
                  <a:srgbClr val="63055F"/>
                </a:solidFill>
              </a:rPr>
              <a:t>共需要完成</a:t>
            </a:r>
            <a:r>
              <a:rPr lang="en-US" altLang="zh-CN" dirty="0">
                <a:solidFill>
                  <a:srgbClr val="63055F"/>
                </a:solidFill>
              </a:rPr>
              <a:t>70</a:t>
            </a:r>
            <a:r>
              <a:rPr lang="zh-CN" altLang="en-US" dirty="0">
                <a:solidFill>
                  <a:srgbClr val="63055F"/>
                </a:solidFill>
              </a:rPr>
              <a:t>个故事点；</a:t>
            </a:r>
            <a:endParaRPr lang="zh-CN" altLang="en-US" dirty="0">
              <a:solidFill>
                <a:srgbClr val="63055F"/>
              </a:solidFill>
            </a:endParaRPr>
          </a:p>
          <a:p>
            <a:pPr marL="800100" lvl="1" indent="-400050" defTabSz="525780">
              <a:spcBef>
                <a:spcPts val="3700"/>
              </a:spcBef>
              <a:defRPr sz="3240">
                <a:solidFill>
                  <a:srgbClr val="63055F"/>
                </a:solidFill>
              </a:defRPr>
            </a:pPr>
            <a:r>
              <a:rPr lang="en-US" altLang="zh-CN" dirty="0">
                <a:solidFill>
                  <a:srgbClr val="63055F"/>
                </a:solidFill>
              </a:rPr>
              <a:t>–</a:t>
            </a:r>
            <a:r>
              <a:rPr lang="zh-CN" altLang="en-US" dirty="0">
                <a:solidFill>
                  <a:srgbClr val="63055F"/>
                </a:solidFill>
              </a:rPr>
              <a:t>目前团队还剩下</a:t>
            </a:r>
            <a:r>
              <a:rPr lang="en-US" altLang="zh-CN" dirty="0">
                <a:solidFill>
                  <a:srgbClr val="63055F"/>
                </a:solidFill>
              </a:rPr>
              <a:t>15</a:t>
            </a:r>
            <a:r>
              <a:rPr lang="zh-CN" altLang="en-US" dirty="0">
                <a:solidFill>
                  <a:srgbClr val="63055F"/>
                </a:solidFill>
              </a:rPr>
              <a:t>个故事点要完成</a:t>
            </a:r>
            <a:endParaRPr lang="zh-CN" altLang="en-US" dirty="0">
              <a:solidFill>
                <a:srgbClr val="63055F"/>
              </a:solidFill>
            </a:endParaRPr>
          </a:p>
          <a:p>
            <a:pPr marL="800100" lvl="1" indent="-400050" defTabSz="525780">
              <a:spcBef>
                <a:spcPts val="3700"/>
              </a:spcBef>
              <a:defRPr sz="3240">
                <a:solidFill>
                  <a:srgbClr val="63055F"/>
                </a:solidFill>
              </a:defRPr>
            </a:pPr>
            <a:r>
              <a:rPr lang="en-US" altLang="zh-CN" dirty="0">
                <a:solidFill>
                  <a:srgbClr val="63055F"/>
                </a:solidFill>
              </a:rPr>
              <a:t>–</a:t>
            </a:r>
            <a:r>
              <a:rPr lang="zh-CN" altLang="en-US" dirty="0">
                <a:solidFill>
                  <a:srgbClr val="63055F"/>
                </a:solidFill>
              </a:rPr>
              <a:t>估计：按照目前速度该</a:t>
            </a:r>
            <a:r>
              <a:rPr lang="en-GB" dirty="0">
                <a:solidFill>
                  <a:srgbClr val="63055F"/>
                </a:solidFill>
              </a:rPr>
              <a:t>Sprint</a:t>
            </a:r>
            <a:r>
              <a:rPr lang="zh-CN" altLang="en-US" dirty="0">
                <a:solidFill>
                  <a:srgbClr val="63055F"/>
                </a:solidFill>
              </a:rPr>
              <a:t>目标可以达到</a:t>
            </a:r>
            <a:endParaRPr lang="zh-CN" altLang="en-US" dirty="0">
              <a:solidFill>
                <a:srgbClr val="63055F"/>
              </a:solidFill>
            </a:endParaRPr>
          </a:p>
        </p:txBody>
      </p:sp>
      <p:pic>
        <p:nvPicPr>
          <p:cNvPr id="6" name="图像" descr="图像"/>
          <p:cNvPicPr>
            <a:picLocks noChangeAspect="1"/>
          </p:cNvPicPr>
          <p:nvPr/>
        </p:nvPicPr>
        <p:blipFill>
          <a:blip r:embed="rId1"/>
          <a:stretch>
            <a:fillRect/>
          </a:stretch>
        </p:blipFill>
        <p:spPr>
          <a:xfrm>
            <a:off x="5638800" y="882711"/>
            <a:ext cx="5857013" cy="4013139"/>
          </a:xfrm>
          <a:prstGeom prst="rect">
            <a:avLst/>
          </a:prstGeom>
          <a:ln w="12700">
            <a:miter lim="400000"/>
            <a:headEnd/>
            <a:tailEnd/>
          </a:ln>
        </p:spPr>
      </p:pic>
      <p:pic>
        <p:nvPicPr>
          <p:cNvPr id="7" name="图像" descr="图像"/>
          <p:cNvPicPr>
            <a:picLocks noChangeAspect="1"/>
          </p:cNvPicPr>
          <p:nvPr/>
        </p:nvPicPr>
        <p:blipFill>
          <a:blip r:embed="rId2"/>
          <a:stretch>
            <a:fillRect/>
          </a:stretch>
        </p:blipFill>
        <p:spPr>
          <a:xfrm>
            <a:off x="5462157" y="4997470"/>
            <a:ext cx="6234543" cy="660380"/>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燃尽图的警示</a:t>
            </a:r>
            <a:endParaRPr kumimoji="1" lang="zh-CN" altLang="en-US" dirty="0"/>
          </a:p>
        </p:txBody>
      </p:sp>
      <p:pic>
        <p:nvPicPr>
          <p:cNvPr id="5" name="图像" descr="图像"/>
          <p:cNvPicPr>
            <a:picLocks noGrp="1" noChangeAspect="1"/>
          </p:cNvPicPr>
          <p:nvPr>
            <p:ph idx="1"/>
          </p:nvPr>
        </p:nvPicPr>
        <p:blipFill>
          <a:blip r:embed="rId1"/>
          <a:stretch>
            <a:fillRect/>
          </a:stretch>
        </p:blipFill>
        <p:spPr>
          <a:xfrm>
            <a:off x="872718" y="1041400"/>
            <a:ext cx="10446564" cy="5135563"/>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每日站会</a:t>
            </a:r>
            <a:r>
              <a:rPr lang="en-US" altLang="zh-CN" dirty="0"/>
              <a:t>—</a:t>
            </a:r>
            <a:r>
              <a:rPr lang="en-GB" altLang="zh-CN" dirty="0"/>
              <a:t>Daily Scrum</a:t>
            </a:r>
            <a:r>
              <a:rPr lang="en-GB" altLang="zh-CN" sz="900" dirty="0">
                <a:latin typeface="Times Roman"/>
                <a:ea typeface="Times Roman"/>
                <a:cs typeface="Times Roman"/>
                <a:sym typeface="Times Roman"/>
              </a:rPr>
              <a:t> </a:t>
            </a:r>
            <a:endParaRPr kumimoji="1" lang="zh-CN" altLang="en-US" dirty="0"/>
          </a:p>
        </p:txBody>
      </p:sp>
      <p:sp>
        <p:nvSpPr>
          <p:cNvPr id="4" name="内容占位符 3"/>
          <p:cNvSpPr>
            <a:spLocks noGrp="1"/>
          </p:cNvSpPr>
          <p:nvPr>
            <p:ph idx="1"/>
          </p:nvPr>
        </p:nvSpPr>
        <p:spPr/>
        <p:txBody>
          <a:bodyPr>
            <a:normAutofit lnSpcReduction="10000"/>
          </a:bodyPr>
          <a:lstStyle/>
          <a:p>
            <a:r>
              <a:rPr kumimoji="1" lang="zh-CN" altLang="en-US" dirty="0"/>
              <a:t>不超过</a:t>
            </a:r>
            <a:r>
              <a:rPr kumimoji="1" lang="en-US" altLang="zh-CN" dirty="0"/>
              <a:t>15</a:t>
            </a:r>
            <a:r>
              <a:rPr kumimoji="1" lang="zh-CN" altLang="en-US" dirty="0"/>
              <a:t>分钟</a:t>
            </a:r>
            <a:endParaRPr kumimoji="1" lang="zh-CN" altLang="en-US" dirty="0"/>
          </a:p>
          <a:p>
            <a:r>
              <a:rPr kumimoji="1" lang="zh-CN" altLang="en-US" dirty="0"/>
              <a:t>回答三个问题：</a:t>
            </a:r>
            <a:endParaRPr kumimoji="1" lang="zh-CN" altLang="en-US" dirty="0"/>
          </a:p>
          <a:p>
            <a:pPr lvl="1"/>
            <a:r>
              <a:rPr kumimoji="1" lang="en-US" altLang="zh-CN" dirty="0"/>
              <a:t>“</a:t>
            </a:r>
            <a:r>
              <a:rPr kumimoji="1" lang="zh-CN" altLang="en-US" dirty="0"/>
              <a:t>昨天我做了什么。”</a:t>
            </a:r>
            <a:endParaRPr kumimoji="1" lang="zh-CN" altLang="en-US" dirty="0"/>
          </a:p>
          <a:p>
            <a:pPr lvl="1"/>
            <a:r>
              <a:rPr kumimoji="1" lang="en-US" altLang="zh-CN" dirty="0"/>
              <a:t>“</a:t>
            </a:r>
            <a:r>
              <a:rPr kumimoji="1" lang="zh-CN" altLang="en-US" dirty="0"/>
              <a:t>今天准备干什么。”</a:t>
            </a:r>
            <a:endParaRPr kumimoji="1" lang="zh-CN" altLang="en-US" dirty="0"/>
          </a:p>
          <a:p>
            <a:pPr lvl="1"/>
            <a:r>
              <a:rPr kumimoji="1" lang="en-US" altLang="zh-CN" dirty="0"/>
              <a:t>“</a:t>
            </a:r>
            <a:r>
              <a:rPr kumimoji="1" lang="zh-CN" altLang="en-US" dirty="0"/>
              <a:t>你遇到了什么障碍，需要其他人如何帮你。”</a:t>
            </a:r>
            <a:endParaRPr kumimoji="1" lang="zh-CN" altLang="en-US" dirty="0"/>
          </a:p>
          <a:p>
            <a:r>
              <a:rPr kumimoji="1" lang="zh-CN" altLang="en-US" dirty="0"/>
              <a:t>移动任务板上的即时贴到对应的地方</a:t>
            </a:r>
            <a:endParaRPr kumimoji="1" lang="zh-CN" altLang="en-US" dirty="0"/>
          </a:p>
          <a:p>
            <a:r>
              <a:rPr kumimoji="1" lang="zh-CN" altLang="en-US" dirty="0"/>
              <a:t>每日例会一结束就要计算剩余工作故事点并更新燃尽图</a:t>
            </a:r>
            <a:endParaRPr kumimoji="1" lang="zh-CN" altLang="en-US" dirty="0"/>
          </a:p>
          <a:p>
            <a:r>
              <a:rPr kumimoji="1" lang="zh-CN" altLang="en-US" dirty="0"/>
              <a:t>团队每日报到、简短、及时开始与结束、聚焦重点、有规律性 </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zh-CN" altLang="en-US" dirty="0"/>
              <a:t>另一种站会 </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关注事</a:t>
            </a:r>
            <a:r>
              <a:rPr kumimoji="1" lang="en-US" altLang="zh-CN" dirty="0"/>
              <a:t>(</a:t>
            </a:r>
            <a:r>
              <a:rPr kumimoji="1" lang="zh-CN" altLang="en-US" dirty="0"/>
              <a:t>接力棒</a:t>
            </a:r>
            <a:r>
              <a:rPr kumimoji="1" lang="en-US" altLang="zh-CN" dirty="0"/>
              <a:t>)— </a:t>
            </a:r>
            <a:r>
              <a:rPr kumimoji="1" lang="zh-CN" altLang="en-US" dirty="0"/>
              <a:t>而不是人</a:t>
            </a:r>
            <a:r>
              <a:rPr kumimoji="1" lang="en-US" altLang="zh-CN" dirty="0"/>
              <a:t>(</a:t>
            </a:r>
            <a:r>
              <a:rPr kumimoji="1" lang="zh-CN" altLang="en-US" dirty="0"/>
              <a:t>运动员</a:t>
            </a:r>
            <a:r>
              <a:rPr kumimoji="1" lang="en-US" altLang="zh-CN" dirty="0"/>
              <a:t>) </a:t>
            </a:r>
            <a:endParaRPr kumimoji="1" lang="en-US" altLang="zh-CN" dirty="0"/>
          </a:p>
          <a:p>
            <a:pPr lvl="1"/>
            <a:r>
              <a:rPr kumimoji="1" lang="en-US" altLang="zh-CN" dirty="0"/>
              <a:t>–</a:t>
            </a:r>
            <a:r>
              <a:rPr kumimoji="1" lang="zh-CN" altLang="en-US" dirty="0"/>
              <a:t>不关注每个人做了或没做什么，而是关注整个工作流或者单个工作项的流动是否有什么问题。 </a:t>
            </a:r>
            <a:endParaRPr kumimoji="1" lang="zh-CN" altLang="en-US" dirty="0"/>
          </a:p>
          <a:p>
            <a:r>
              <a:rPr kumimoji="1" lang="zh-CN" altLang="en-US" dirty="0"/>
              <a:t>遍历看板墙 </a:t>
            </a:r>
            <a:endParaRPr kumimoji="1" lang="zh-CN" altLang="en-US" dirty="0"/>
          </a:p>
          <a:p>
            <a:r>
              <a:rPr kumimoji="1" lang="zh-CN" altLang="en-US" dirty="0"/>
              <a:t>关注味道 </a:t>
            </a:r>
            <a:endParaRPr kumimoji="1" lang="zh-CN" altLang="en-US" dirty="0"/>
          </a:p>
          <a:p>
            <a:r>
              <a:rPr kumimoji="1" lang="zh-CN" altLang="en-US" dirty="0"/>
              <a:t>每日站会之后，鼓励自发改善会议 </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演示会议 </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为什么定义</a:t>
            </a:r>
            <a:r>
              <a:rPr kumimoji="1" lang="en-GB" altLang="zh-CN" dirty="0"/>
              <a:t>Sprint</a:t>
            </a:r>
            <a:r>
              <a:rPr kumimoji="1" lang="zh-CN" altLang="en-US" dirty="0"/>
              <a:t>结束于演示：</a:t>
            </a:r>
            <a:endParaRPr kumimoji="1" lang="zh-CN" altLang="en-US" dirty="0"/>
          </a:p>
          <a:p>
            <a:pPr lvl="1"/>
            <a:r>
              <a:rPr kumimoji="1" lang="zh-CN" altLang="en-US" dirty="0"/>
              <a:t>其他人可以了解你的团队在做什么</a:t>
            </a:r>
            <a:endParaRPr kumimoji="1" lang="zh-CN" altLang="en-US" dirty="0"/>
          </a:p>
          <a:p>
            <a:pPr lvl="1"/>
            <a:r>
              <a:rPr kumimoji="1" lang="zh-CN" altLang="en-US" dirty="0"/>
              <a:t>团队得到认可，团队成员感觉很好</a:t>
            </a:r>
            <a:endParaRPr kumimoji="1" lang="zh-CN" altLang="en-US" dirty="0"/>
          </a:p>
          <a:p>
            <a:pPr lvl="1"/>
            <a:r>
              <a:rPr kumimoji="1" lang="zh-CN" altLang="en-US" dirty="0"/>
              <a:t>不同的团队得到交流，讨论各自工作</a:t>
            </a:r>
            <a:endParaRPr kumimoji="1" lang="zh-CN" altLang="en-US" dirty="0"/>
          </a:p>
          <a:p>
            <a:pPr lvl="1"/>
            <a:r>
              <a:rPr kumimoji="1" lang="zh-CN" altLang="en-US" dirty="0"/>
              <a:t>演示可以吸引相干人士的关注，并得到重要的反馈</a:t>
            </a:r>
            <a:endParaRPr kumimoji="1" lang="zh-CN" altLang="en-US" dirty="0"/>
          </a:p>
          <a:p>
            <a:pPr lvl="1"/>
            <a:r>
              <a:rPr kumimoji="1" lang="zh-CN" altLang="en-US" dirty="0"/>
              <a:t>演示会迫使团队真正完成一些工作而不是貌似完成，这样不会污染下一个</a:t>
            </a:r>
            <a:r>
              <a:rPr kumimoji="1" lang="en-GB" altLang="zh-CN" dirty="0"/>
              <a:t>Sprint</a:t>
            </a:r>
            <a:r>
              <a:rPr kumimoji="1" lang="zh-CN" altLang="en-GB" dirty="0"/>
              <a:t>。</a:t>
            </a:r>
            <a:endParaRPr kumimoji="1" lang="zh-CN" altLang="en-GB" dirty="0"/>
          </a:p>
          <a:p>
            <a:endParaRPr kumimoji="1" lang="zh-CN" altLang="en-GB"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演示</a:t>
            </a:r>
            <a:r>
              <a:rPr lang="en-US" altLang="zh-CN" dirty="0"/>
              <a:t>——</a:t>
            </a:r>
            <a:r>
              <a:rPr lang="zh-CN" altLang="en-US" dirty="0"/>
              <a:t>检查列表 </a:t>
            </a:r>
            <a:endParaRPr kumimoji="1" lang="zh-CN" altLang="en-US" dirty="0"/>
          </a:p>
        </p:txBody>
      </p:sp>
      <p:sp>
        <p:nvSpPr>
          <p:cNvPr id="4" name="内容占位符 3"/>
          <p:cNvSpPr>
            <a:spLocks noGrp="1"/>
          </p:cNvSpPr>
          <p:nvPr>
            <p:ph idx="1"/>
          </p:nvPr>
        </p:nvSpPr>
        <p:spPr/>
        <p:txBody>
          <a:bodyPr/>
          <a:lstStyle/>
          <a:p>
            <a:pPr>
              <a:defRPr>
                <a:solidFill>
                  <a:srgbClr val="63055F"/>
                </a:solidFill>
              </a:defRPr>
            </a:pPr>
            <a:r>
              <a:rPr lang="zh-CN" altLang="en-US" dirty="0"/>
              <a:t>确保明确阐述</a:t>
            </a:r>
            <a:r>
              <a:rPr lang="en-GB" altLang="zh-CN" dirty="0"/>
              <a:t>Sprint</a:t>
            </a:r>
            <a:r>
              <a:rPr lang="zh-CN" altLang="en-US" dirty="0"/>
              <a:t>目标</a:t>
            </a:r>
            <a:endParaRPr lang="zh-CN" altLang="en-US" dirty="0"/>
          </a:p>
          <a:p>
            <a:pPr>
              <a:defRPr>
                <a:solidFill>
                  <a:srgbClr val="63055F"/>
                </a:solidFill>
              </a:defRPr>
            </a:pPr>
            <a:r>
              <a:rPr lang="zh-CN" altLang="en-US" dirty="0"/>
              <a:t>集中精力演示可以实际工作的代码</a:t>
            </a:r>
            <a:endParaRPr lang="zh-CN" altLang="en-US" dirty="0"/>
          </a:p>
          <a:p>
            <a:pPr>
              <a:defRPr>
                <a:solidFill>
                  <a:srgbClr val="63055F"/>
                </a:solidFill>
              </a:defRPr>
            </a:pPr>
            <a:r>
              <a:rPr lang="zh-CN" altLang="en-US" dirty="0"/>
              <a:t>演示保持快节奏</a:t>
            </a:r>
            <a:endParaRPr lang="zh-CN" altLang="en-US" dirty="0"/>
          </a:p>
          <a:p>
            <a:pPr>
              <a:defRPr>
                <a:solidFill>
                  <a:srgbClr val="63055F"/>
                </a:solidFill>
              </a:defRPr>
            </a:pPr>
            <a:r>
              <a:rPr lang="zh-CN" altLang="en-US" dirty="0"/>
              <a:t>演示我们做了什么而不是我们怎么做的</a:t>
            </a:r>
            <a:endParaRPr lang="zh-CN" altLang="en-US" dirty="0"/>
          </a:p>
          <a:p>
            <a:pPr>
              <a:defRPr>
                <a:solidFill>
                  <a:srgbClr val="63055F"/>
                </a:solidFill>
              </a:defRPr>
            </a:pPr>
            <a:r>
              <a:rPr lang="zh-CN" altLang="en-US" dirty="0"/>
              <a:t>不演示细碎</a:t>
            </a:r>
            <a:r>
              <a:rPr lang="en-GB" altLang="zh-CN" dirty="0"/>
              <a:t>bug</a:t>
            </a:r>
            <a:r>
              <a:rPr lang="zh-CN" altLang="en-US" dirty="0"/>
              <a:t>的修复和微不足道的特性</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回顾会议</a:t>
            </a:r>
            <a:endParaRPr kumimoji="1" lang="zh-CN" altLang="en-US" dirty="0"/>
          </a:p>
        </p:txBody>
      </p:sp>
      <p:sp>
        <p:nvSpPr>
          <p:cNvPr id="4" name="内容占位符 3"/>
          <p:cNvSpPr>
            <a:spLocks noGrp="1"/>
          </p:cNvSpPr>
          <p:nvPr>
            <p:ph idx="1"/>
          </p:nvPr>
        </p:nvSpPr>
        <p:spPr>
          <a:xfrm>
            <a:off x="838200" y="1041622"/>
            <a:ext cx="10515600" cy="2203602"/>
          </a:xfrm>
        </p:spPr>
        <p:txBody>
          <a:bodyPr/>
          <a:lstStyle/>
          <a:p>
            <a:r>
              <a:rPr kumimoji="1" lang="en-GB" altLang="zh-CN" dirty="0"/>
              <a:t>Sprint</a:t>
            </a:r>
            <a:r>
              <a:rPr kumimoji="1" lang="zh-CN" altLang="en-US" dirty="0"/>
              <a:t>回顾是仅次于</a:t>
            </a:r>
            <a:r>
              <a:rPr kumimoji="1" lang="en-GB" altLang="zh-CN" dirty="0"/>
              <a:t>Sprint</a:t>
            </a:r>
            <a:r>
              <a:rPr kumimoji="1" lang="zh-CN" altLang="en-US" dirty="0"/>
              <a:t>计划的第二重要的事件！</a:t>
            </a:r>
            <a:endParaRPr kumimoji="1" lang="zh-CN" altLang="en-US" dirty="0"/>
          </a:p>
          <a:p>
            <a:r>
              <a:rPr kumimoji="1" lang="zh-CN" altLang="en-US" dirty="0"/>
              <a:t>这是做出改进的最佳时期。</a:t>
            </a:r>
            <a:endParaRPr kumimoji="1" lang="zh-CN" altLang="en-US" dirty="0"/>
          </a:p>
          <a:p>
            <a:r>
              <a:rPr kumimoji="1" lang="zh-CN" altLang="en-US" dirty="0"/>
              <a:t>主题：我们怎样才能在下个</a:t>
            </a:r>
            <a:r>
              <a:rPr kumimoji="1" lang="en-GB" altLang="zh-CN" dirty="0"/>
              <a:t>Sprint</a:t>
            </a:r>
            <a:r>
              <a:rPr kumimoji="1" lang="zh-CN" altLang="en-US" dirty="0"/>
              <a:t>中做的更好，不是追究责任！</a:t>
            </a:r>
            <a:endParaRPr kumimoji="1" lang="zh-CN" altLang="en-US" dirty="0"/>
          </a:p>
          <a:p>
            <a:endParaRPr kumimoji="1" lang="zh-CN" altLang="en-US" dirty="0"/>
          </a:p>
          <a:p>
            <a:endParaRPr kumimoji="1" lang="zh-CN" altLang="en-US" dirty="0"/>
          </a:p>
        </p:txBody>
      </p:sp>
      <p:pic>
        <p:nvPicPr>
          <p:cNvPr id="5" name="图像" descr="图像"/>
          <p:cNvPicPr>
            <a:picLocks noChangeAspect="1"/>
          </p:cNvPicPr>
          <p:nvPr/>
        </p:nvPicPr>
        <p:blipFill>
          <a:blip r:embed="rId1"/>
          <a:stretch>
            <a:fillRect/>
          </a:stretch>
        </p:blipFill>
        <p:spPr>
          <a:xfrm>
            <a:off x="3219685" y="3245224"/>
            <a:ext cx="5752630" cy="2730457"/>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回顾</a:t>
            </a:r>
            <a:r>
              <a:rPr lang="en-US" altLang="zh-CN" dirty="0"/>
              <a:t>——</a:t>
            </a:r>
            <a:r>
              <a:rPr lang="zh-CN" altLang="en-US" dirty="0"/>
              <a:t>活动列表</a:t>
            </a:r>
            <a:r>
              <a:rPr lang="en-US" altLang="zh-CN" dirty="0"/>
              <a:t>1 </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根据要讨论的内容范围</a:t>
            </a:r>
            <a:r>
              <a:rPr kumimoji="1" lang="en-US" altLang="zh-CN" dirty="0"/>
              <a:t>,</a:t>
            </a:r>
            <a:r>
              <a:rPr kumimoji="1" lang="zh-CN" altLang="en-US" dirty="0"/>
              <a:t>设定时间为 </a:t>
            </a:r>
            <a:r>
              <a:rPr kumimoji="1" lang="en-US" altLang="zh-CN" dirty="0"/>
              <a:t>1 </a:t>
            </a:r>
            <a:r>
              <a:rPr kumimoji="1" lang="zh-CN" altLang="en-US" dirty="0"/>
              <a:t>至 </a:t>
            </a:r>
            <a:r>
              <a:rPr kumimoji="1" lang="en-US" altLang="zh-CN" dirty="0"/>
              <a:t>3 </a:t>
            </a:r>
            <a:r>
              <a:rPr kumimoji="1" lang="zh-CN" altLang="en-US" dirty="0"/>
              <a:t>个小时。</a:t>
            </a:r>
            <a:endParaRPr kumimoji="1" lang="zh-CN" altLang="en-US" dirty="0"/>
          </a:p>
          <a:p>
            <a:pPr lvl="1"/>
            <a:r>
              <a:rPr kumimoji="1" lang="zh-CN" altLang="en-US" dirty="0"/>
              <a:t>参与者</a:t>
            </a:r>
            <a:r>
              <a:rPr kumimoji="1" lang="en-US" altLang="zh-CN" dirty="0"/>
              <a:t>:</a:t>
            </a:r>
            <a:r>
              <a:rPr kumimoji="1" lang="zh-CN" altLang="en-US" dirty="0"/>
              <a:t>产品负责人</a:t>
            </a:r>
            <a:r>
              <a:rPr kumimoji="1" lang="en-US" altLang="zh-CN" dirty="0"/>
              <a:t>,</a:t>
            </a:r>
            <a:r>
              <a:rPr kumimoji="1" lang="zh-CN" altLang="en-US" dirty="0"/>
              <a:t>整个团队还有我自己。</a:t>
            </a:r>
            <a:endParaRPr kumimoji="1" lang="zh-CN" altLang="en-US" dirty="0"/>
          </a:p>
          <a:p>
            <a:pPr lvl="1"/>
            <a:r>
              <a:rPr kumimoji="1" lang="zh-CN" altLang="en-US" dirty="0"/>
              <a:t>我们换到一个封闭的房间中</a:t>
            </a:r>
            <a:r>
              <a:rPr kumimoji="1" lang="en-US" altLang="zh-CN" dirty="0"/>
              <a:t>,</a:t>
            </a:r>
            <a:r>
              <a:rPr kumimoji="1" lang="zh-CN" altLang="en-US" dirty="0"/>
              <a:t>或者舒适的沙发角</a:t>
            </a:r>
            <a:r>
              <a:rPr kumimoji="1" lang="en-US" altLang="zh-CN" dirty="0"/>
              <a:t>,</a:t>
            </a:r>
            <a:r>
              <a:rPr kumimoji="1" lang="zh-CN" altLang="en-US" dirty="0"/>
              <a:t>或者屋顶平台等等类似的场所。只要能够在不受干扰的情况下讨论就好。</a:t>
            </a:r>
            <a:endParaRPr kumimoji="1" lang="zh-CN" altLang="en-US" dirty="0"/>
          </a:p>
          <a:p>
            <a:pPr lvl="1"/>
            <a:r>
              <a:rPr kumimoji="1" lang="zh-CN" altLang="en-US" dirty="0"/>
              <a:t>我们一般不会在团队房间中进行回顾</a:t>
            </a:r>
            <a:r>
              <a:rPr kumimoji="1" lang="en-US" altLang="zh-CN" dirty="0"/>
              <a:t>,</a:t>
            </a:r>
            <a:r>
              <a:rPr kumimoji="1" lang="zh-CN" altLang="en-US" dirty="0"/>
              <a:t>因为这往往会分散大家的注意力。</a:t>
            </a:r>
            <a:endParaRPr kumimoji="1" lang="zh-CN" altLang="en-US" dirty="0"/>
          </a:p>
          <a:p>
            <a:pPr lvl="1"/>
            <a:r>
              <a:rPr kumimoji="1" lang="zh-CN" altLang="en-US" dirty="0"/>
              <a:t>指定某人当秘书。</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回顾</a:t>
            </a:r>
            <a:r>
              <a:rPr lang="en-US" altLang="zh-CN" dirty="0"/>
              <a:t>——</a:t>
            </a:r>
            <a:r>
              <a:rPr lang="zh-CN" altLang="en-US" dirty="0"/>
              <a:t>活动列表</a:t>
            </a:r>
            <a:r>
              <a:rPr lang="en-US" altLang="zh-CN" dirty="0"/>
              <a:t>2 </a:t>
            </a:r>
            <a:endParaRPr kumimoji="1" lang="zh-CN" altLang="en-US" dirty="0"/>
          </a:p>
        </p:txBody>
      </p:sp>
      <p:sp>
        <p:nvSpPr>
          <p:cNvPr id="4" name="内容占位符 3"/>
          <p:cNvSpPr>
            <a:spLocks noGrp="1"/>
          </p:cNvSpPr>
          <p:nvPr>
            <p:ph idx="1"/>
          </p:nvPr>
        </p:nvSpPr>
        <p:spPr>
          <a:xfrm>
            <a:off x="838200" y="1398494"/>
            <a:ext cx="10515600" cy="4778470"/>
          </a:xfrm>
        </p:spPr>
        <p:txBody>
          <a:bodyPr>
            <a:normAutofit fontScale="77500" lnSpcReduction="20000"/>
          </a:bodyPr>
          <a:lstStyle/>
          <a:p>
            <a:r>
              <a:rPr kumimoji="1" lang="en-GB" altLang="zh-CN" dirty="0"/>
              <a:t>Scrum master </a:t>
            </a:r>
            <a:r>
              <a:rPr kumimoji="1" lang="zh-CN" altLang="en-US" dirty="0"/>
              <a:t>向大家展示 </a:t>
            </a:r>
            <a:r>
              <a:rPr kumimoji="1" lang="en-GB" altLang="zh-CN" dirty="0"/>
              <a:t>sprint backlog,</a:t>
            </a:r>
            <a:r>
              <a:rPr kumimoji="1" lang="zh-CN" altLang="en-US" dirty="0"/>
              <a:t>在团队的帮助下对</a:t>
            </a:r>
            <a:r>
              <a:rPr kumimoji="1" lang="en-GB" altLang="zh-CN" dirty="0"/>
              <a:t>sprint </a:t>
            </a:r>
            <a:r>
              <a:rPr kumimoji="1" lang="zh-CN" altLang="en-US" dirty="0"/>
              <a:t>做总结。包括重要事件和决策等。</a:t>
            </a:r>
            <a:endParaRPr kumimoji="1" lang="zh-CN" altLang="en-US" dirty="0"/>
          </a:p>
          <a:p>
            <a:endParaRPr kumimoji="1" lang="zh-CN" altLang="en-US" dirty="0"/>
          </a:p>
          <a:p>
            <a:r>
              <a:rPr kumimoji="1" lang="zh-CN" altLang="en-US" dirty="0"/>
              <a:t>我们会轮流发言。每个人都有机会在不被人打断的情况下讲出自己的想法</a:t>
            </a:r>
            <a:r>
              <a:rPr kumimoji="1" lang="en-US" altLang="zh-CN" dirty="0"/>
              <a:t>,</a:t>
            </a:r>
            <a:r>
              <a:rPr kumimoji="1" lang="zh-CN" altLang="en-US" dirty="0"/>
              <a:t>他认为什么是好的</a:t>
            </a:r>
            <a:r>
              <a:rPr kumimoji="1" lang="en-US" altLang="zh-CN" dirty="0"/>
              <a:t>,</a:t>
            </a:r>
            <a:r>
              <a:rPr kumimoji="1" lang="zh-CN" altLang="en-US" dirty="0"/>
              <a:t>哪些可以做的更好</a:t>
            </a:r>
            <a:r>
              <a:rPr kumimoji="1" lang="en-US" altLang="zh-CN" dirty="0"/>
              <a:t>,</a:t>
            </a:r>
            <a:r>
              <a:rPr kumimoji="1" lang="zh-CN" altLang="en-US" dirty="0"/>
              <a:t>哪些需要在下个 </a:t>
            </a:r>
            <a:r>
              <a:rPr kumimoji="1" lang="en-GB" altLang="zh-CN" dirty="0"/>
              <a:t>sprint </a:t>
            </a:r>
            <a:r>
              <a:rPr kumimoji="1" lang="zh-CN" altLang="en-US" dirty="0"/>
              <a:t>中改变。</a:t>
            </a:r>
            <a:endParaRPr kumimoji="1" lang="zh-CN" altLang="en-US" dirty="0"/>
          </a:p>
          <a:p>
            <a:endParaRPr kumimoji="1" lang="zh-CN" altLang="en-US" dirty="0"/>
          </a:p>
          <a:p>
            <a:r>
              <a:rPr kumimoji="1" lang="zh-CN" altLang="en-US" dirty="0"/>
              <a:t>我们对预估生产率和实际生产率进行比较。如果差异比较大的话</a:t>
            </a:r>
            <a:r>
              <a:rPr kumimoji="1" lang="en-US" altLang="zh-CN" dirty="0"/>
              <a:t>,</a:t>
            </a:r>
            <a:r>
              <a:rPr kumimoji="1" lang="zh-CN" altLang="en-US" dirty="0"/>
              <a:t>我们会分析原因。</a:t>
            </a:r>
            <a:endParaRPr kumimoji="1" lang="zh-CN" altLang="en-US" dirty="0"/>
          </a:p>
          <a:p>
            <a:endParaRPr kumimoji="1" lang="zh-CN" altLang="en-US" dirty="0"/>
          </a:p>
          <a:p>
            <a:r>
              <a:rPr kumimoji="1" lang="zh-CN" altLang="en-US" dirty="0"/>
              <a:t>快结束的时候</a:t>
            </a:r>
            <a:r>
              <a:rPr kumimoji="1" lang="en-US" altLang="zh-CN" dirty="0"/>
              <a:t>,</a:t>
            </a:r>
            <a:r>
              <a:rPr kumimoji="1" lang="en-GB" altLang="zh-CN" dirty="0"/>
              <a:t>Scrum master </a:t>
            </a:r>
            <a:r>
              <a:rPr kumimoji="1" lang="zh-CN" altLang="en-US" dirty="0"/>
              <a:t>对具体建议进行总结</a:t>
            </a:r>
            <a:r>
              <a:rPr kumimoji="1" lang="en-US" altLang="zh-CN" dirty="0"/>
              <a:t>,</a:t>
            </a:r>
            <a:r>
              <a:rPr kumimoji="1" lang="zh-CN" altLang="en-US" dirty="0"/>
              <a:t>得出下个 </a:t>
            </a:r>
            <a:r>
              <a:rPr kumimoji="1" lang="en-GB" altLang="zh-CN" dirty="0"/>
              <a:t>sprint </a:t>
            </a:r>
            <a:r>
              <a:rPr kumimoji="1" lang="zh-CN" altLang="en-US" dirty="0"/>
              <a:t>需要改进的地方。</a:t>
            </a:r>
            <a:endParaRPr kumimoji="1" lang="zh-CN" altLang="en-US" dirty="0"/>
          </a:p>
          <a:p>
            <a:endParaRPr kumimoji="1" lang="zh-CN" altLang="en-US" dirty="0"/>
          </a:p>
          <a:p>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Sprint</a:t>
            </a:r>
            <a:r>
              <a:rPr lang="zh-CN" altLang="en-US" dirty="0"/>
              <a:t>回顾</a:t>
            </a:r>
            <a:r>
              <a:rPr lang="en-US" altLang="zh-CN" dirty="0"/>
              <a:t>——</a:t>
            </a:r>
            <a:r>
              <a:rPr lang="zh-CN" altLang="en-US" dirty="0"/>
              <a:t>使用白板 </a:t>
            </a:r>
            <a:endParaRPr kumimoji="1" lang="zh-CN" altLang="en-US" dirty="0"/>
          </a:p>
        </p:txBody>
      </p:sp>
      <p:sp>
        <p:nvSpPr>
          <p:cNvPr id="5" name="Good：哪些做法可以保持…"/>
          <p:cNvSpPr txBox="1">
            <a:spLocks noGrp="1"/>
          </p:cNvSpPr>
          <p:nvPr>
            <p:ph idx="1"/>
          </p:nvPr>
        </p:nvSpPr>
        <p:spPr>
          <a:xfrm>
            <a:off x="838200" y="1041622"/>
            <a:ext cx="3931024" cy="5135342"/>
          </a:xfrm>
          <a:prstGeom prst="rect">
            <a:avLst/>
          </a:prstGeom>
        </p:spPr>
        <p:txBody>
          <a:bodyPr/>
          <a:lstStyle/>
          <a:p>
            <a:pPr>
              <a:defRPr>
                <a:solidFill>
                  <a:srgbClr val="63055F"/>
                </a:solidFill>
              </a:defRPr>
            </a:pPr>
            <a:r>
              <a:rPr dirty="0" err="1"/>
              <a:t>Good：哪些做法可以保持</a:t>
            </a:r>
            <a:endParaRPr dirty="0"/>
          </a:p>
          <a:p>
            <a:pPr>
              <a:defRPr>
                <a:solidFill>
                  <a:srgbClr val="63055F"/>
                </a:solidFill>
              </a:defRPr>
            </a:pPr>
            <a:r>
              <a:rPr dirty="0"/>
              <a:t>Could have been </a:t>
            </a:r>
            <a:r>
              <a:rPr dirty="0" err="1"/>
              <a:t>better：那些做法需要改变</a:t>
            </a:r>
            <a:endParaRPr dirty="0"/>
          </a:p>
          <a:p>
            <a:pPr>
              <a:defRPr>
                <a:solidFill>
                  <a:srgbClr val="63055F"/>
                </a:solidFill>
              </a:defRPr>
            </a:pPr>
            <a:r>
              <a:rPr dirty="0" err="1"/>
              <a:t>Improvements：具体改进想法</a:t>
            </a:r>
            <a:endParaRPr dirty="0"/>
          </a:p>
        </p:txBody>
      </p:sp>
      <p:pic>
        <p:nvPicPr>
          <p:cNvPr id="6" name="图像" descr="图像"/>
          <p:cNvPicPr>
            <a:picLocks noChangeAspect="1"/>
          </p:cNvPicPr>
          <p:nvPr/>
        </p:nvPicPr>
        <p:blipFill>
          <a:blip r:embed="rId1"/>
          <a:stretch>
            <a:fillRect/>
          </a:stretch>
        </p:blipFill>
        <p:spPr>
          <a:xfrm>
            <a:off x="4769224" y="1547795"/>
            <a:ext cx="7339089" cy="4193765"/>
          </a:xfrm>
          <a:prstGeom prst="rect">
            <a:avLst/>
          </a:prstGeom>
          <a:ln w="12700">
            <a:miter lim="400000"/>
            <a:headEnd/>
            <a:tailEnd/>
          </a:ln>
        </p:spPr>
      </p:pic>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lang="en-GB" altLang="zh-CN" dirty="0"/>
              <a:t>Scrum</a:t>
            </a:r>
            <a:r>
              <a:rPr lang="zh-CN" altLang="en-US" dirty="0"/>
              <a:t>局限</a:t>
            </a:r>
            <a:endParaRPr kumimoji="1" lang="zh-CN" altLang="en-US" dirty="0"/>
          </a:p>
        </p:txBody>
      </p:sp>
      <p:sp>
        <p:nvSpPr>
          <p:cNvPr id="4" name="内容占位符 3"/>
          <p:cNvSpPr>
            <a:spLocks noGrp="1"/>
          </p:cNvSpPr>
          <p:nvPr>
            <p:ph idx="1"/>
          </p:nvPr>
        </p:nvSpPr>
        <p:spPr>
          <a:xfrm>
            <a:off x="838200" y="2563906"/>
            <a:ext cx="10515600" cy="3613058"/>
          </a:xfrm>
        </p:spPr>
        <p:txBody>
          <a:bodyPr/>
          <a:lstStyle/>
          <a:p>
            <a:pPr>
              <a:defRPr b="1">
                <a:solidFill>
                  <a:schemeClr val="accent5"/>
                </a:solidFill>
                <a:latin typeface="Helvetica"/>
                <a:ea typeface="Helvetica"/>
                <a:cs typeface="Helvetica"/>
                <a:sym typeface="Helvetica"/>
              </a:defRPr>
            </a:pPr>
            <a:r>
              <a:rPr lang="zh-CN" altLang="en-US" dirty="0">
                <a:solidFill>
                  <a:srgbClr val="FF0000"/>
                </a:solidFill>
              </a:rPr>
              <a:t>没有技术实践！</a:t>
            </a:r>
            <a:endParaRPr lang="zh-CN" altLang="en-US" dirty="0">
              <a:solidFill>
                <a:srgbClr val="FF0000"/>
              </a:solidFill>
            </a:endParaRPr>
          </a:p>
          <a:p>
            <a:pPr>
              <a:defRPr b="1">
                <a:solidFill>
                  <a:schemeClr val="accent5"/>
                </a:solidFill>
                <a:latin typeface="Helvetica"/>
                <a:ea typeface="Helvetica"/>
                <a:cs typeface="Helvetica"/>
                <a:sym typeface="Helvetica"/>
              </a:defRPr>
            </a:pPr>
            <a:r>
              <a:rPr lang="en-US" altLang="zh-CN" dirty="0">
                <a:solidFill>
                  <a:srgbClr val="FF0000"/>
                </a:solidFill>
              </a:rPr>
              <a:t>Scrum</a:t>
            </a:r>
            <a:r>
              <a:rPr lang="zh-CN" altLang="en-US" dirty="0">
                <a:solidFill>
                  <a:srgbClr val="FF0000"/>
                </a:solidFill>
              </a:rPr>
              <a:t>关注项目管理和团队过程，而</a:t>
            </a:r>
            <a:r>
              <a:rPr lang="en-US" altLang="zh-CN" dirty="0">
                <a:solidFill>
                  <a:srgbClr val="FF0000"/>
                </a:solidFill>
              </a:rPr>
              <a:t>XP</a:t>
            </a:r>
            <a:r>
              <a:rPr lang="zh-CN" altLang="en-US" dirty="0">
                <a:solidFill>
                  <a:srgbClr val="FF0000"/>
                </a:solidFill>
              </a:rPr>
              <a:t>侧重工程实践和代码质量</a:t>
            </a:r>
            <a:endParaRPr lang="en-US" altLang="zh-CN" dirty="0">
              <a:solidFill>
                <a:srgbClr val="FF0000"/>
              </a:solidFill>
            </a:endParaRPr>
          </a:p>
          <a:p>
            <a:pPr>
              <a:defRPr b="1">
                <a:solidFill>
                  <a:schemeClr val="accent5"/>
                </a:solidFill>
                <a:latin typeface="Helvetica"/>
                <a:ea typeface="Helvetica"/>
                <a:cs typeface="Helvetica"/>
                <a:sym typeface="Helvetica"/>
              </a:defRPr>
            </a:pPr>
            <a:r>
              <a:rPr kumimoji="1" lang="en-US" altLang="zh-CN" dirty="0"/>
              <a:t>“Scrum</a:t>
            </a:r>
            <a:r>
              <a:rPr kumimoji="1" lang="zh-CN" altLang="en-US" dirty="0"/>
              <a:t>不包含技术实践，但如果没有</a:t>
            </a:r>
            <a:r>
              <a:rPr kumimoji="1" lang="en-US" altLang="zh-CN" dirty="0"/>
              <a:t>XP</a:t>
            </a:r>
            <a:r>
              <a:rPr kumimoji="1" lang="zh-CN" altLang="en-US" dirty="0"/>
              <a:t>实践的支撑，</a:t>
            </a:r>
            <a:r>
              <a:rPr kumimoji="1" lang="en-US" altLang="zh-CN" dirty="0"/>
              <a:t>Scrum</a:t>
            </a:r>
            <a:r>
              <a:rPr kumimoji="1" lang="zh-CN" altLang="en-US" dirty="0"/>
              <a:t>难以成功。”</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 Guide 2020 </a:t>
            </a:r>
            <a:r>
              <a:rPr kumimoji="1" lang="zh-CN" altLang="en-US" dirty="0"/>
              <a:t>核心变更与争议</a:t>
            </a:r>
            <a:endParaRPr kumimoji="1" lang="zh-CN" altLang="en-US" dirty="0"/>
          </a:p>
        </p:txBody>
      </p:sp>
      <p:sp>
        <p:nvSpPr>
          <p:cNvPr id="4" name="内容占位符 3"/>
          <p:cNvSpPr>
            <a:spLocks noGrp="1"/>
          </p:cNvSpPr>
          <p:nvPr>
            <p:ph idx="1"/>
          </p:nvPr>
        </p:nvSpPr>
        <p:spPr/>
        <p:txBody>
          <a:bodyPr>
            <a:normAutofit lnSpcReduction="10000"/>
          </a:bodyPr>
          <a:lstStyle/>
          <a:p>
            <a:r>
              <a:rPr kumimoji="1" lang="zh-CN" altLang="en-US" dirty="0"/>
              <a:t>一、关键改进</a:t>
            </a:r>
            <a:endParaRPr kumimoji="1" lang="zh-CN" altLang="en-US" dirty="0"/>
          </a:p>
          <a:p>
            <a:pPr lvl="1"/>
            <a:r>
              <a:rPr kumimoji="1" lang="zh-CN" altLang="en-US" dirty="0"/>
              <a:t>团队结构简化：取消</a:t>
            </a:r>
            <a:r>
              <a:rPr kumimoji="1" lang="en-US" altLang="zh-CN" dirty="0"/>
              <a:t>"</a:t>
            </a:r>
            <a:r>
              <a:rPr kumimoji="1" lang="zh-CN" altLang="en-US" dirty="0"/>
              <a:t>开发团队</a:t>
            </a:r>
            <a:r>
              <a:rPr kumimoji="1" lang="en-US" altLang="zh-CN" dirty="0"/>
              <a:t>"</a:t>
            </a:r>
            <a:r>
              <a:rPr kumimoji="1" lang="zh-CN" altLang="en-US" dirty="0"/>
              <a:t>专属称谓，统称</a:t>
            </a:r>
            <a:r>
              <a:rPr kumimoji="1" lang="en-US" altLang="zh-CN" dirty="0"/>
              <a:t>"</a:t>
            </a:r>
            <a:r>
              <a:rPr kumimoji="1" lang="zh-CN" altLang="en-US" dirty="0"/>
              <a:t>开发者</a:t>
            </a:r>
            <a:r>
              <a:rPr kumimoji="1" lang="en-US" altLang="zh-CN" dirty="0"/>
              <a:t>"</a:t>
            </a:r>
            <a:endParaRPr kumimoji="1" lang="en-US" altLang="zh-CN" dirty="0"/>
          </a:p>
          <a:p>
            <a:pPr lvl="1"/>
            <a:r>
              <a:rPr kumimoji="1" lang="zh-CN" altLang="en-US" dirty="0"/>
              <a:t>目标体系强化：引入产品目标、冲刺目标、承诺性待办项三层目标架构</a:t>
            </a:r>
            <a:endParaRPr kumimoji="1" lang="zh-CN" altLang="en-US" dirty="0"/>
          </a:p>
          <a:p>
            <a:pPr lvl="1"/>
            <a:r>
              <a:rPr kumimoji="1" lang="zh-CN" altLang="en-US" dirty="0"/>
              <a:t>仪式优化：每日站会取消固定三问，聚焦进度与障碍</a:t>
            </a:r>
            <a:endParaRPr kumimoji="1" lang="zh-CN" altLang="en-US" dirty="0"/>
          </a:p>
          <a:p>
            <a:pPr lvl="1"/>
            <a:r>
              <a:rPr kumimoji="1" lang="zh-CN" altLang="en-US" dirty="0"/>
              <a:t>指导原则：删减</a:t>
            </a:r>
            <a:r>
              <a:rPr kumimoji="1" lang="en-US" altLang="zh-CN" dirty="0"/>
              <a:t>50%</a:t>
            </a:r>
            <a:r>
              <a:rPr kumimoji="1" lang="zh-CN" altLang="en-US" dirty="0"/>
              <a:t>内容，强调适应性与精简</a:t>
            </a:r>
            <a:endParaRPr kumimoji="1" lang="zh-CN" altLang="en-US" dirty="0"/>
          </a:p>
          <a:p>
            <a:r>
              <a:rPr kumimoji="1" lang="zh-CN" altLang="en-US" dirty="0"/>
              <a:t>二、主要争议</a:t>
            </a:r>
            <a:endParaRPr kumimoji="1" lang="zh-CN" altLang="en-US" dirty="0"/>
          </a:p>
          <a:p>
            <a:pPr lvl="1"/>
            <a:r>
              <a:rPr kumimoji="1" lang="zh-CN" altLang="en-US" dirty="0"/>
              <a:t>角色职责模糊化争议</a:t>
            </a:r>
            <a:endParaRPr kumimoji="1" lang="zh-CN" altLang="en-US" dirty="0"/>
          </a:p>
          <a:p>
            <a:pPr lvl="1"/>
            <a:r>
              <a:rPr kumimoji="1" lang="zh-CN" altLang="en-US" dirty="0"/>
              <a:t>仪式灵活性带来的执行差异</a:t>
            </a:r>
            <a:endParaRPr kumimoji="1" lang="zh-CN" altLang="en-US" dirty="0"/>
          </a:p>
          <a:p>
            <a:pPr lvl="1"/>
            <a:r>
              <a:rPr kumimoji="1" lang="en-US" altLang="zh-CN" dirty="0"/>
              <a:t> </a:t>
            </a:r>
            <a:r>
              <a:rPr kumimoji="1" lang="zh-CN" altLang="en-US" dirty="0"/>
              <a:t>精简版指南对新手支持不足</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三大理论支柱</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透明</a:t>
            </a:r>
            <a:endParaRPr kumimoji="1" lang="zh-CN" altLang="en-US" dirty="0"/>
          </a:p>
          <a:p>
            <a:pPr lvl="1"/>
            <a:r>
              <a:rPr kumimoji="1" lang="zh-CN" altLang="en-US" dirty="0"/>
              <a:t>过程与工作成果对团队和利益相关者可见</a:t>
            </a:r>
            <a:endParaRPr kumimoji="1" lang="zh-CN" altLang="en-US" dirty="0"/>
          </a:p>
          <a:p>
            <a:r>
              <a:rPr kumimoji="1" lang="zh-CN" altLang="en-US" dirty="0"/>
              <a:t>检视</a:t>
            </a:r>
            <a:endParaRPr kumimoji="1" lang="zh-CN" altLang="en-US" dirty="0"/>
          </a:p>
          <a:p>
            <a:pPr lvl="1"/>
            <a:r>
              <a:rPr kumimoji="1" lang="zh-CN" altLang="en-US" dirty="0"/>
              <a:t>定期审查进展，识别偏差（通过</a:t>
            </a:r>
            <a:r>
              <a:rPr kumimoji="1" lang="en-US" altLang="zh-CN" dirty="0"/>
              <a:t>5</a:t>
            </a:r>
            <a:r>
              <a:rPr kumimoji="1" lang="zh-CN" altLang="en-US" dirty="0"/>
              <a:t>大事件实现）</a:t>
            </a:r>
            <a:endParaRPr kumimoji="1" lang="zh-CN" altLang="en-US" dirty="0"/>
          </a:p>
          <a:p>
            <a:r>
              <a:rPr kumimoji="1" lang="zh-CN" altLang="en-US" dirty="0"/>
              <a:t>适应</a:t>
            </a:r>
            <a:endParaRPr kumimoji="1" lang="zh-CN" altLang="en-US" dirty="0"/>
          </a:p>
          <a:p>
            <a:pPr lvl="1"/>
            <a:r>
              <a:rPr kumimoji="1" lang="zh-CN" altLang="en-US" dirty="0"/>
              <a:t>及时调整偏离目标或质量的问题</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五大价值观</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承诺 ▶️ 专注目标</a:t>
            </a:r>
            <a:endParaRPr kumimoji="1" lang="zh-CN" altLang="en-US" dirty="0"/>
          </a:p>
          <a:p>
            <a:r>
              <a:rPr kumimoji="1" lang="zh-CN" altLang="en-US" dirty="0"/>
              <a:t>专注 ▶️ 聚焦</a:t>
            </a:r>
            <a:r>
              <a:rPr kumimoji="1" lang="en-US" altLang="zh-CN" dirty="0"/>
              <a:t>Sprint</a:t>
            </a:r>
            <a:r>
              <a:rPr kumimoji="1" lang="zh-CN" altLang="en-US" dirty="0"/>
              <a:t>任务</a:t>
            </a:r>
            <a:endParaRPr kumimoji="1" lang="zh-CN" altLang="en-US" dirty="0"/>
          </a:p>
          <a:p>
            <a:r>
              <a:rPr kumimoji="1" lang="zh-CN" altLang="en-US" dirty="0"/>
              <a:t>开放 ▶️ 坦诚面对挑战</a:t>
            </a:r>
            <a:endParaRPr kumimoji="1" lang="zh-CN" altLang="en-US" dirty="0"/>
          </a:p>
          <a:p>
            <a:r>
              <a:rPr kumimoji="1" lang="zh-CN" altLang="en-US" dirty="0"/>
              <a:t>尊重 ▶️ 认可成员能力</a:t>
            </a:r>
            <a:endParaRPr kumimoji="1" lang="zh-CN" altLang="en-US" dirty="0"/>
          </a:p>
          <a:p>
            <a:r>
              <a:rPr kumimoji="1" lang="zh-CN" altLang="en-US" dirty="0"/>
              <a:t>勇气 ▶️ 解决棘手问题</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团队结构</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组成</a:t>
            </a:r>
            <a:endParaRPr kumimoji="1" lang="zh-CN" altLang="en-US" dirty="0"/>
          </a:p>
          <a:p>
            <a:pPr lvl="1"/>
            <a:r>
              <a:rPr kumimoji="1" lang="en-US" altLang="zh-CN" dirty="0"/>
              <a:t>Product Owner</a:t>
            </a:r>
            <a:r>
              <a:rPr kumimoji="1" lang="zh-CN" altLang="en-US" dirty="0"/>
              <a:t>：最大化产品价值，管理</a:t>
            </a:r>
            <a:r>
              <a:rPr kumimoji="1" lang="en-US" altLang="zh-CN" dirty="0"/>
              <a:t>Product Backlog</a:t>
            </a:r>
            <a:endParaRPr kumimoji="1" lang="en-US" altLang="zh-CN" dirty="0"/>
          </a:p>
          <a:p>
            <a:pPr lvl="1"/>
            <a:r>
              <a:rPr kumimoji="1" lang="en-US" altLang="zh-CN" dirty="0"/>
              <a:t>Scrum Master</a:t>
            </a:r>
            <a:r>
              <a:rPr kumimoji="1" lang="zh-CN" altLang="en-US" dirty="0"/>
              <a:t>：确保框架实施，移除障碍</a:t>
            </a:r>
            <a:endParaRPr kumimoji="1" lang="zh-CN" altLang="en-US" dirty="0"/>
          </a:p>
          <a:p>
            <a:pPr lvl="1"/>
            <a:r>
              <a:rPr kumimoji="1" lang="en-US" altLang="zh-CN" dirty="0"/>
              <a:t>Developers</a:t>
            </a:r>
            <a:r>
              <a:rPr kumimoji="1" lang="zh-CN" altLang="en-US" dirty="0"/>
              <a:t>：跨职能开发，交付可用增量</a:t>
            </a:r>
            <a:endParaRPr kumimoji="1" lang="zh-CN" altLang="en-US" dirty="0"/>
          </a:p>
          <a:p>
            <a:r>
              <a:rPr kumimoji="1" lang="zh-CN" altLang="en-US" dirty="0"/>
              <a:t>团队特性</a:t>
            </a:r>
            <a:endParaRPr kumimoji="1" lang="zh-CN" altLang="en-US" dirty="0"/>
          </a:p>
          <a:p>
            <a:pPr lvl="1"/>
            <a:r>
              <a:rPr kumimoji="1" lang="en-US" altLang="zh-CN" dirty="0"/>
              <a:t>10</a:t>
            </a:r>
            <a:r>
              <a:rPr kumimoji="1" lang="zh-CN" altLang="en-US" dirty="0"/>
              <a:t>人以内，自管理、跨职能、专注单一</a:t>
            </a:r>
            <a:r>
              <a:rPr kumimoji="1" lang="en-US" altLang="zh-CN" dirty="0"/>
              <a:t>Product Goal</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五大事件</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en-US" altLang="zh-CN" dirty="0"/>
              <a:t>Sprint</a:t>
            </a:r>
            <a:endParaRPr kumimoji="1" lang="en-US" altLang="zh-CN" dirty="0"/>
          </a:p>
          <a:p>
            <a:pPr lvl="1"/>
            <a:r>
              <a:rPr kumimoji="1" lang="zh-CN" altLang="en-US" dirty="0"/>
              <a:t>固定周期（≤</a:t>
            </a:r>
            <a:r>
              <a:rPr kumimoji="1" lang="en-US" altLang="zh-CN" dirty="0"/>
              <a:t>1</a:t>
            </a:r>
            <a:r>
              <a:rPr kumimoji="1" lang="zh-CN" altLang="en-US" dirty="0"/>
              <a:t>个月），不可变更目标与质量</a:t>
            </a:r>
            <a:endParaRPr kumimoji="1" lang="zh-CN" altLang="en-US" dirty="0"/>
          </a:p>
          <a:p>
            <a:r>
              <a:rPr kumimoji="1" lang="en-US" altLang="zh-CN" dirty="0"/>
              <a:t>Sprint Planning</a:t>
            </a:r>
            <a:endParaRPr kumimoji="1" lang="en-US" altLang="zh-CN" dirty="0"/>
          </a:p>
          <a:p>
            <a:pPr lvl="1"/>
            <a:r>
              <a:rPr kumimoji="1" lang="zh-CN" altLang="en-US" dirty="0"/>
              <a:t>确定</a:t>
            </a:r>
            <a:r>
              <a:rPr kumimoji="1" lang="en-US" altLang="zh-CN" dirty="0"/>
              <a:t>Sprint Goal</a:t>
            </a:r>
            <a:r>
              <a:rPr kumimoji="1" lang="zh-CN" altLang="en-US" dirty="0"/>
              <a:t>与交付计划（时间盒：</a:t>
            </a:r>
            <a:r>
              <a:rPr kumimoji="1" lang="en-US" altLang="zh-CN" dirty="0"/>
              <a:t>8</a:t>
            </a:r>
            <a:r>
              <a:rPr kumimoji="1" lang="zh-CN" altLang="en-US" dirty="0"/>
              <a:t>小时</a:t>
            </a:r>
            <a:r>
              <a:rPr kumimoji="1" lang="en-US" altLang="zh-CN" dirty="0"/>
              <a:t>/</a:t>
            </a:r>
            <a:r>
              <a:rPr kumimoji="1" lang="zh-CN" altLang="en-US" dirty="0"/>
              <a:t>月）</a:t>
            </a:r>
            <a:endParaRPr kumimoji="1" lang="zh-CN" altLang="en-US" dirty="0"/>
          </a:p>
          <a:p>
            <a:r>
              <a:rPr kumimoji="1" lang="en-US" altLang="zh-CN" dirty="0"/>
              <a:t>Daily Scrum</a:t>
            </a:r>
            <a:endParaRPr kumimoji="1" lang="en-US" altLang="zh-CN" dirty="0"/>
          </a:p>
          <a:p>
            <a:pPr lvl="1"/>
            <a:r>
              <a:rPr kumimoji="1" lang="en-US" altLang="zh-CN" dirty="0"/>
              <a:t>15</a:t>
            </a:r>
            <a:r>
              <a:rPr kumimoji="1" lang="zh-CN" altLang="en-US" dirty="0"/>
              <a:t>分钟每日站会，调整当日计划</a:t>
            </a:r>
            <a:endParaRPr kumimoji="1" lang="zh-CN" altLang="en-US" dirty="0"/>
          </a:p>
          <a:p>
            <a:r>
              <a:rPr kumimoji="1" lang="en-US" altLang="zh-CN" dirty="0"/>
              <a:t>Sprint Review</a:t>
            </a:r>
            <a:endParaRPr kumimoji="1" lang="en-US" altLang="zh-CN" dirty="0"/>
          </a:p>
          <a:p>
            <a:pPr lvl="1"/>
            <a:r>
              <a:rPr kumimoji="1" lang="zh-CN" altLang="en-US" dirty="0"/>
              <a:t>展示增量，调整</a:t>
            </a:r>
            <a:r>
              <a:rPr kumimoji="1" lang="en-US" altLang="zh-CN" dirty="0"/>
              <a:t>Backlog</a:t>
            </a:r>
            <a:r>
              <a:rPr kumimoji="1" lang="zh-CN" altLang="en-US" dirty="0"/>
              <a:t>（时间盒：</a:t>
            </a:r>
            <a:r>
              <a:rPr kumimoji="1" lang="en-US" altLang="zh-CN" dirty="0"/>
              <a:t>4</a:t>
            </a:r>
            <a:r>
              <a:rPr kumimoji="1" lang="zh-CN" altLang="en-US" dirty="0"/>
              <a:t>小时</a:t>
            </a:r>
            <a:r>
              <a:rPr kumimoji="1" lang="en-US" altLang="zh-CN" dirty="0"/>
              <a:t>/</a:t>
            </a:r>
            <a:r>
              <a:rPr kumimoji="1" lang="zh-CN" altLang="en-US" dirty="0"/>
              <a:t>月）</a:t>
            </a:r>
            <a:endParaRPr kumimoji="1" lang="zh-CN" altLang="en-US" dirty="0"/>
          </a:p>
          <a:p>
            <a:r>
              <a:rPr kumimoji="1" lang="en-US" altLang="zh-CN" dirty="0"/>
              <a:t>Sprint Retrospective</a:t>
            </a:r>
            <a:endParaRPr kumimoji="1" lang="en-US" altLang="zh-CN" dirty="0"/>
          </a:p>
          <a:p>
            <a:pPr lvl="1"/>
            <a:r>
              <a:rPr kumimoji="1" lang="zh-CN" altLang="en-US" dirty="0"/>
              <a:t>改进流程与效能（时间盒：</a:t>
            </a:r>
            <a:r>
              <a:rPr kumimoji="1" lang="en-US" altLang="zh-CN" dirty="0"/>
              <a:t>3</a:t>
            </a:r>
            <a:r>
              <a:rPr kumimoji="1" lang="zh-CN" altLang="en-US" dirty="0"/>
              <a:t>小时</a:t>
            </a:r>
            <a:r>
              <a:rPr kumimoji="1" lang="en-US" altLang="zh-CN" dirty="0"/>
              <a:t>/</a:t>
            </a:r>
            <a:r>
              <a:rPr kumimoji="1" lang="zh-CN" altLang="en-US" dirty="0"/>
              <a:t>月）</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三大工件与承诺</a:t>
            </a:r>
            <a:endParaRPr kumimoji="1" lang="zh-CN" altLang="en-US" dirty="0"/>
          </a:p>
        </p:txBody>
      </p:sp>
      <p:graphicFrame>
        <p:nvGraphicFramePr>
          <p:cNvPr id="5" name="内容占位符 4"/>
          <p:cNvGraphicFramePr>
            <a:graphicFrameLocks noGrp="1"/>
          </p:cNvGraphicFramePr>
          <p:nvPr>
            <p:ph idx="1"/>
          </p:nvPr>
        </p:nvGraphicFramePr>
        <p:xfrm>
          <a:off x="1169334" y="1610958"/>
          <a:ext cx="9498666" cy="3875443"/>
        </p:xfrm>
        <a:graphic>
          <a:graphicData uri="http://schemas.openxmlformats.org/drawingml/2006/table">
            <a:tbl>
              <a:tblPr/>
              <a:tblGrid>
                <a:gridCol w="3166222"/>
                <a:gridCol w="3166222"/>
                <a:gridCol w="3166222"/>
              </a:tblGrid>
              <a:tr h="553635">
                <a:tc>
                  <a:txBody>
                    <a:bodyPr/>
                    <a:lstStyle/>
                    <a:p>
                      <a:r>
                        <a:rPr lang="zh-CN" altLang="en-US" b="1" dirty="0">
                          <a:effectLst/>
                          <a:latin typeface="-apple-system"/>
                        </a:rPr>
                        <a:t>工件</a:t>
                      </a:r>
                      <a:endParaRPr lang="zh-CN" altLang="en-US" b="1" dirty="0">
                        <a:effectLst/>
                        <a:latin typeface="-apple-system"/>
                      </a:endParaRPr>
                    </a:p>
                  </a:txBody>
                  <a:tcPr anchor="ctr">
                    <a:lnL>
                      <a:noFill/>
                    </a:lnL>
                    <a:lnR>
                      <a:noFill/>
                    </a:lnR>
                    <a:lnT>
                      <a:noFill/>
                    </a:lnT>
                    <a:lnB>
                      <a:noFill/>
                    </a:lnB>
                    <a:solidFill>
                      <a:schemeClr val="accent5">
                        <a:lumMod val="20000"/>
                        <a:lumOff val="80000"/>
                      </a:schemeClr>
                    </a:solidFill>
                  </a:tcPr>
                </a:tc>
                <a:tc>
                  <a:txBody>
                    <a:bodyPr/>
                    <a:lstStyle/>
                    <a:p>
                      <a:r>
                        <a:rPr lang="zh-CN" altLang="en-US" b="1" dirty="0">
                          <a:effectLst/>
                          <a:latin typeface="-apple-system"/>
                        </a:rPr>
                        <a:t>定义</a:t>
                      </a:r>
                      <a:endParaRPr lang="zh-CN" altLang="en-US" b="1" dirty="0">
                        <a:effectLst/>
                        <a:latin typeface="-apple-system"/>
                      </a:endParaRPr>
                    </a:p>
                  </a:txBody>
                  <a:tcPr anchor="ctr">
                    <a:lnL>
                      <a:noFill/>
                    </a:lnL>
                    <a:lnR>
                      <a:noFill/>
                    </a:lnR>
                    <a:lnT>
                      <a:noFill/>
                    </a:lnT>
                    <a:lnB>
                      <a:noFill/>
                    </a:lnB>
                    <a:solidFill>
                      <a:schemeClr val="accent5">
                        <a:lumMod val="20000"/>
                        <a:lumOff val="80000"/>
                      </a:schemeClr>
                    </a:solidFill>
                  </a:tcPr>
                </a:tc>
                <a:tc>
                  <a:txBody>
                    <a:bodyPr/>
                    <a:lstStyle/>
                    <a:p>
                      <a:r>
                        <a:rPr lang="zh-CN" altLang="en-US" b="1" dirty="0">
                          <a:effectLst/>
                          <a:latin typeface="-apple-system"/>
                        </a:rPr>
                        <a:t>承诺</a:t>
                      </a:r>
                      <a:endParaRPr lang="zh-CN" altLang="en-US" b="1" dirty="0">
                        <a:effectLst/>
                        <a:latin typeface="-apple-system"/>
                      </a:endParaRPr>
                    </a:p>
                  </a:txBody>
                  <a:tcPr anchor="ctr">
                    <a:lnL>
                      <a:noFill/>
                    </a:lnL>
                    <a:lnR>
                      <a:noFill/>
                    </a:lnR>
                    <a:lnT>
                      <a:noFill/>
                    </a:lnT>
                    <a:lnB>
                      <a:noFill/>
                    </a:lnB>
                    <a:solidFill>
                      <a:schemeClr val="accent5">
                        <a:lumMod val="20000"/>
                        <a:lumOff val="80000"/>
                      </a:schemeClr>
                    </a:solidFill>
                  </a:tcPr>
                </a:tc>
              </a:tr>
              <a:tr h="968861">
                <a:tc>
                  <a:txBody>
                    <a:bodyPr/>
                    <a:lstStyle/>
                    <a:p>
                      <a:r>
                        <a:rPr lang="en-US" b="0" dirty="0">
                          <a:effectLst/>
                        </a:rPr>
                        <a:t>Product Backlog</a:t>
                      </a:r>
                      <a:endParaRPr lang="en-US" b="0" dirty="0">
                        <a:effectLst/>
                      </a:endParaRPr>
                    </a:p>
                  </a:txBody>
                  <a:tcPr anchor="ctr">
                    <a:lnL>
                      <a:noFill/>
                    </a:lnL>
                    <a:lnR>
                      <a:noFill/>
                    </a:lnR>
                    <a:lnT>
                      <a:noFill/>
                    </a:lnT>
                    <a:lnB>
                      <a:noFill/>
                    </a:lnB>
                    <a:solidFill>
                      <a:srgbClr val="FFFFFF"/>
                    </a:solidFill>
                  </a:tcPr>
                </a:tc>
                <a:tc>
                  <a:txBody>
                    <a:bodyPr/>
                    <a:lstStyle/>
                    <a:p>
                      <a:r>
                        <a:rPr lang="zh-CN" altLang="en-US" b="0" dirty="0">
                          <a:effectLst/>
                        </a:rPr>
                        <a:t>产品需求动态清单</a:t>
                      </a:r>
                      <a:endParaRPr lang="zh-CN" altLang="en-US" b="0" dirty="0">
                        <a:effectLst/>
                      </a:endParaRPr>
                    </a:p>
                  </a:txBody>
                  <a:tcPr anchor="ctr">
                    <a:lnL>
                      <a:noFill/>
                    </a:lnL>
                    <a:lnR>
                      <a:noFill/>
                    </a:lnR>
                    <a:lnT>
                      <a:noFill/>
                    </a:lnT>
                    <a:lnB>
                      <a:noFill/>
                    </a:lnB>
                    <a:solidFill>
                      <a:srgbClr val="FFFFFF"/>
                    </a:solidFill>
                  </a:tcPr>
                </a:tc>
                <a:tc>
                  <a:txBody>
                    <a:bodyPr/>
                    <a:lstStyle/>
                    <a:p>
                      <a:r>
                        <a:rPr lang="en-US" b="0">
                          <a:effectLst/>
                        </a:rPr>
                        <a:t>Product Goal（</a:t>
                      </a:r>
                      <a:r>
                        <a:rPr lang="zh-CN" altLang="en-US" b="0">
                          <a:effectLst/>
                        </a:rPr>
                        <a:t>产品愿景）</a:t>
                      </a:r>
                      <a:endParaRPr lang="zh-CN" altLang="en-US" b="0">
                        <a:effectLst/>
                      </a:endParaRPr>
                    </a:p>
                  </a:txBody>
                  <a:tcPr anchor="ctr">
                    <a:lnL>
                      <a:noFill/>
                    </a:lnL>
                    <a:lnR>
                      <a:noFill/>
                    </a:lnR>
                    <a:lnT>
                      <a:noFill/>
                    </a:lnT>
                    <a:lnB>
                      <a:noFill/>
                    </a:lnB>
                    <a:solidFill>
                      <a:srgbClr val="FFFFFF"/>
                    </a:solidFill>
                  </a:tcPr>
                </a:tc>
              </a:tr>
              <a:tr h="1384086">
                <a:tc>
                  <a:txBody>
                    <a:bodyPr/>
                    <a:lstStyle/>
                    <a:p>
                      <a:r>
                        <a:rPr lang="en-US" b="0">
                          <a:effectLst/>
                        </a:rPr>
                        <a:t>Sprint Backlog</a:t>
                      </a:r>
                      <a:endParaRPr lang="en-US" b="0">
                        <a:effectLst/>
                      </a:endParaRPr>
                    </a:p>
                  </a:txBody>
                  <a:tcPr anchor="ctr">
                    <a:lnL>
                      <a:noFill/>
                    </a:lnL>
                    <a:lnR>
                      <a:noFill/>
                    </a:lnR>
                    <a:lnT>
                      <a:noFill/>
                    </a:lnT>
                    <a:lnB>
                      <a:noFill/>
                    </a:lnB>
                    <a:solidFill>
                      <a:srgbClr val="FFFFFF"/>
                    </a:solidFill>
                  </a:tcPr>
                </a:tc>
                <a:tc>
                  <a:txBody>
                    <a:bodyPr/>
                    <a:lstStyle/>
                    <a:p>
                      <a:r>
                        <a:rPr lang="en-US" b="0" dirty="0">
                          <a:effectLst/>
                        </a:rPr>
                        <a:t>Sprint</a:t>
                      </a:r>
                      <a:r>
                        <a:rPr lang="zh-CN" altLang="en-US" b="0" dirty="0">
                          <a:effectLst/>
                        </a:rPr>
                        <a:t>任务计划（目标</a:t>
                      </a:r>
                      <a:r>
                        <a:rPr lang="en-US" altLang="zh-CN" b="0" dirty="0">
                          <a:effectLst/>
                        </a:rPr>
                        <a:t>+</a:t>
                      </a:r>
                      <a:r>
                        <a:rPr lang="zh-CN" altLang="en-US" b="0" dirty="0">
                          <a:effectLst/>
                        </a:rPr>
                        <a:t>选定的条目）</a:t>
                      </a:r>
                      <a:endParaRPr lang="zh-CN" altLang="en-US" b="0" dirty="0">
                        <a:effectLst/>
                      </a:endParaRPr>
                    </a:p>
                  </a:txBody>
                  <a:tcPr anchor="ctr">
                    <a:lnL>
                      <a:noFill/>
                    </a:lnL>
                    <a:lnR>
                      <a:noFill/>
                    </a:lnR>
                    <a:lnT>
                      <a:noFill/>
                    </a:lnT>
                    <a:lnB>
                      <a:noFill/>
                    </a:lnB>
                    <a:solidFill>
                      <a:srgbClr val="FFFFFF"/>
                    </a:solidFill>
                  </a:tcPr>
                </a:tc>
                <a:tc>
                  <a:txBody>
                    <a:bodyPr/>
                    <a:lstStyle/>
                    <a:p>
                      <a:r>
                        <a:rPr lang="en-US" b="0" dirty="0">
                          <a:effectLst/>
                        </a:rPr>
                        <a:t>Sprint Goal（</a:t>
                      </a:r>
                      <a:r>
                        <a:rPr lang="zh-CN" altLang="en-US" b="0" dirty="0">
                          <a:effectLst/>
                        </a:rPr>
                        <a:t>迭代目标）</a:t>
                      </a:r>
                      <a:endParaRPr lang="zh-CN" altLang="en-US" b="0" dirty="0">
                        <a:effectLst/>
                      </a:endParaRPr>
                    </a:p>
                  </a:txBody>
                  <a:tcPr anchor="ctr">
                    <a:lnL>
                      <a:noFill/>
                    </a:lnL>
                    <a:lnR>
                      <a:noFill/>
                    </a:lnR>
                    <a:lnT>
                      <a:noFill/>
                    </a:lnT>
                    <a:lnB>
                      <a:noFill/>
                    </a:lnB>
                    <a:solidFill>
                      <a:srgbClr val="FFFFFF"/>
                    </a:solidFill>
                  </a:tcPr>
                </a:tc>
              </a:tr>
              <a:tr h="968861">
                <a:tc>
                  <a:txBody>
                    <a:bodyPr/>
                    <a:lstStyle/>
                    <a:p>
                      <a:r>
                        <a:rPr lang="en-US" b="0">
                          <a:effectLst/>
                        </a:rPr>
                        <a:t>Increment</a:t>
                      </a:r>
                      <a:endParaRPr lang="en-US" b="0">
                        <a:effectLst/>
                      </a:endParaRPr>
                    </a:p>
                  </a:txBody>
                  <a:tcPr anchor="ctr">
                    <a:lnL>
                      <a:noFill/>
                    </a:lnL>
                    <a:lnR>
                      <a:noFill/>
                    </a:lnR>
                    <a:lnT>
                      <a:noFill/>
                    </a:lnT>
                    <a:lnB>
                      <a:noFill/>
                    </a:lnB>
                    <a:solidFill>
                      <a:srgbClr val="FFFFFF"/>
                    </a:solidFill>
                  </a:tcPr>
                </a:tc>
                <a:tc>
                  <a:txBody>
                    <a:bodyPr/>
                    <a:lstStyle/>
                    <a:p>
                      <a:r>
                        <a:rPr lang="zh-CN" altLang="en-US" b="0" dirty="0">
                          <a:effectLst/>
                        </a:rPr>
                        <a:t>符合完成标准的可交付成果</a:t>
                      </a:r>
                      <a:endParaRPr lang="zh-CN" altLang="en-US" b="0" dirty="0">
                        <a:effectLst/>
                      </a:endParaRPr>
                    </a:p>
                  </a:txBody>
                  <a:tcPr anchor="ctr">
                    <a:lnL>
                      <a:noFill/>
                    </a:lnL>
                    <a:lnR>
                      <a:noFill/>
                    </a:lnR>
                    <a:lnT>
                      <a:noFill/>
                    </a:lnT>
                    <a:lnB>
                      <a:noFill/>
                    </a:lnB>
                    <a:solidFill>
                      <a:srgbClr val="FFFFFF"/>
                    </a:solidFill>
                  </a:tcPr>
                </a:tc>
                <a:tc>
                  <a:txBody>
                    <a:bodyPr/>
                    <a:lstStyle/>
                    <a:p>
                      <a:r>
                        <a:rPr lang="en-US" b="0" dirty="0">
                          <a:effectLst/>
                        </a:rPr>
                        <a:t>Definition of Done（</a:t>
                      </a:r>
                      <a:r>
                        <a:rPr lang="zh-CN" altLang="en-US" b="0" dirty="0">
                          <a:effectLst/>
                        </a:rPr>
                        <a:t>完成标准）</a:t>
                      </a:r>
                      <a:endParaRPr lang="zh-CN" altLang="en-US" b="0" dirty="0">
                        <a:effectLst/>
                      </a:endParaRPr>
                    </a:p>
                  </a:txBody>
                  <a:tcPr anchor="ctr">
                    <a:lnL>
                      <a:noFill/>
                    </a:lnL>
                    <a:lnR>
                      <a:noFill/>
                    </a:lnR>
                    <a:lnT>
                      <a:noFill/>
                    </a:lnT>
                    <a:lnB>
                      <a:noFill/>
                    </a:lnB>
                    <a:solidFill>
                      <a:srgbClr val="FFFFFF"/>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a:t>Scrum</a:t>
            </a:r>
            <a:r>
              <a:rPr kumimoji="1" lang="zh-CN" altLang="en-US" dirty="0"/>
              <a:t>的核心优势</a:t>
            </a:r>
            <a:endParaRPr kumimoji="1" lang="zh-CN" altLang="en-US" dirty="0"/>
          </a:p>
        </p:txBody>
      </p:sp>
      <p:sp>
        <p:nvSpPr>
          <p:cNvPr id="4" name="内容占位符 3"/>
          <p:cNvSpPr>
            <a:spLocks noGrp="1"/>
          </p:cNvSpPr>
          <p:nvPr>
            <p:ph idx="1"/>
          </p:nvPr>
        </p:nvSpPr>
        <p:spPr/>
        <p:txBody>
          <a:bodyPr>
            <a:normAutofit/>
          </a:bodyPr>
          <a:lstStyle/>
          <a:p>
            <a:r>
              <a:rPr kumimoji="1" lang="zh-CN" altLang="en-US" dirty="0"/>
              <a:t>轻量灵活：仅定义必要规则，兼容多种实践</a:t>
            </a:r>
            <a:endParaRPr kumimoji="1" lang="zh-CN" altLang="en-US" dirty="0"/>
          </a:p>
          <a:p>
            <a:r>
              <a:rPr kumimoji="1" lang="zh-CN" altLang="en-US" dirty="0"/>
              <a:t>持续改进：通过事件循环实现经验反馈</a:t>
            </a:r>
            <a:endParaRPr kumimoji="1" lang="zh-CN" altLang="en-US" dirty="0"/>
          </a:p>
          <a:p>
            <a:r>
              <a:rPr kumimoji="1" lang="zh-CN" altLang="en-US" dirty="0"/>
              <a:t>价值驱动：以</a:t>
            </a:r>
            <a:r>
              <a:rPr kumimoji="1" lang="en-US" altLang="zh-CN" dirty="0"/>
              <a:t>Product Goal</a:t>
            </a:r>
            <a:r>
              <a:rPr kumimoji="1" lang="zh-CN" altLang="en-US" dirty="0"/>
              <a:t>为导向，确保交付有效性</a:t>
            </a:r>
            <a:endParaRPr kumimoji="1" lang="zh-CN" altLang="en-US" dirty="0"/>
          </a:p>
          <a:p>
            <a:r>
              <a:rPr kumimoji="1" lang="zh-CN" altLang="en-US" dirty="0"/>
              <a:t>协作透明：跨角色协作，信息共享最大化</a:t>
            </a:r>
            <a:endParaRPr kumimoji="1" lang="en-US" altLang="zh-CN" dirty="0"/>
          </a:p>
          <a:p>
            <a:endParaRPr kumimoji="1" lang="en-US" altLang="zh-CN" dirty="0"/>
          </a:p>
          <a:p>
            <a:r>
              <a:rPr kumimoji="1" lang="en-US" altLang="zh-CN" dirty="0"/>
              <a:t>Scrum</a:t>
            </a:r>
            <a:r>
              <a:rPr kumimoji="1" lang="zh-CN" altLang="en-US" dirty="0"/>
              <a:t>适用性</a:t>
            </a:r>
            <a:endParaRPr kumimoji="1" lang="zh-CN" altLang="en-US" dirty="0"/>
          </a:p>
          <a:p>
            <a:pPr lvl="1"/>
            <a:r>
              <a:rPr kumimoji="1" lang="zh-CN" altLang="en-US" dirty="0"/>
              <a:t>超越软件领域，适用于复杂创新工作</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大规模敏捷 </a:t>
            </a:r>
            <a:r>
              <a:rPr kumimoji="1" lang="en-US" altLang="zh-CN" dirty="0"/>
              <a:t>–</a:t>
            </a:r>
            <a:r>
              <a:rPr kumimoji="1" lang="zh-CN" altLang="en-US" dirty="0"/>
              <a:t> </a:t>
            </a:r>
            <a:r>
              <a:rPr kumimoji="1" lang="en-US" altLang="zh-CN" dirty="0" err="1"/>
              <a:t>SAFe</a:t>
            </a:r>
            <a:endParaRPr kumimoji="1" lang="zh-CN" altLang="en-US" dirty="0"/>
          </a:p>
        </p:txBody>
      </p:sp>
      <p:sp>
        <p:nvSpPr>
          <p:cNvPr id="4" name="内容占位符 3"/>
          <p:cNvSpPr>
            <a:spLocks noGrp="1"/>
          </p:cNvSpPr>
          <p:nvPr>
            <p:ph idx="1"/>
          </p:nvPr>
        </p:nvSpPr>
        <p:spPr/>
        <p:txBody>
          <a:bodyPr>
            <a:normAutofit fontScale="85000" lnSpcReduction="10000"/>
          </a:bodyPr>
          <a:lstStyle/>
          <a:p>
            <a:r>
              <a:rPr kumimoji="1" lang="en-US" altLang="zh-CN" dirty="0" err="1"/>
              <a:t>SAFe</a:t>
            </a:r>
            <a:r>
              <a:rPr kumimoji="1" lang="zh-CN" altLang="en-US" dirty="0"/>
              <a:t>（</a:t>
            </a:r>
            <a:r>
              <a:rPr kumimoji="1" lang="en-US" altLang="zh-CN" dirty="0"/>
              <a:t>Scaled Agile Framework</a:t>
            </a:r>
            <a:r>
              <a:rPr kumimoji="1" lang="zh-CN" altLang="en-US" dirty="0"/>
              <a:t>）由</a:t>
            </a:r>
            <a:r>
              <a:rPr kumimoji="1" lang="en-US" altLang="zh-CN" dirty="0"/>
              <a:t>Dean Leffingwell</a:t>
            </a:r>
            <a:r>
              <a:rPr kumimoji="1" lang="zh-CN" altLang="en-US" dirty="0"/>
              <a:t>等人创建，融合了敏捷和精益思想，为大企业提供一个分层次的敏捷实施蓝图。</a:t>
            </a:r>
            <a:r>
              <a:rPr kumimoji="1" lang="en-US" altLang="zh-CN" dirty="0"/>
              <a:t>2011</a:t>
            </a:r>
            <a:r>
              <a:rPr kumimoji="1" lang="zh-CN" altLang="en-US" dirty="0"/>
              <a:t>年发布。</a:t>
            </a:r>
            <a:endParaRPr kumimoji="1" lang="en-US" altLang="zh-CN" dirty="0"/>
          </a:p>
          <a:p>
            <a:r>
              <a:rPr kumimoji="1" lang="en-US" altLang="zh-CN" dirty="0" err="1"/>
              <a:t>SAFe</a:t>
            </a:r>
            <a:r>
              <a:rPr kumimoji="1" lang="zh-CN" altLang="en-US" dirty="0"/>
              <a:t> 定义了团队层、项目群（</a:t>
            </a:r>
            <a:r>
              <a:rPr kumimoji="1" lang="en-US" altLang="zh-CN" dirty="0"/>
              <a:t>Program</a:t>
            </a:r>
            <a:r>
              <a:rPr kumimoji="1" lang="zh-CN" altLang="en-US" dirty="0"/>
              <a:t>）层、解决方案层、组合（</a:t>
            </a:r>
            <a:r>
              <a:rPr kumimoji="1" lang="en-US" altLang="zh-CN" dirty="0"/>
              <a:t>Portfolio</a:t>
            </a:r>
            <a:r>
              <a:rPr kumimoji="1" lang="zh-CN" altLang="en-US" dirty="0"/>
              <a:t>）层等层级，每层都有相应的角色和事件，以协调大量</a:t>
            </a:r>
            <a:r>
              <a:rPr kumimoji="1" lang="en-US" altLang="zh-CN" dirty="0"/>
              <a:t>Scrum</a:t>
            </a:r>
            <a:r>
              <a:rPr kumimoji="1" lang="zh-CN" altLang="en-US" dirty="0"/>
              <a:t>团队的工作</a:t>
            </a:r>
            <a:r>
              <a:rPr kumimoji="1" lang="en-US" altLang="zh-CN" dirty="0"/>
              <a:t>.</a:t>
            </a:r>
            <a:endParaRPr kumimoji="1" lang="en-US" altLang="zh-CN" dirty="0"/>
          </a:p>
          <a:p>
            <a:r>
              <a:rPr kumimoji="1" lang="zh-CN" altLang="en-US" dirty="0"/>
              <a:t>在项目群层，引入了</a:t>
            </a:r>
            <a:r>
              <a:rPr kumimoji="1" lang="en-US" altLang="zh-CN" dirty="0"/>
              <a:t>Agile Release Train</a:t>
            </a:r>
            <a:r>
              <a:rPr kumimoji="1" lang="zh-CN" altLang="en-US" dirty="0"/>
              <a:t>（</a:t>
            </a:r>
            <a:r>
              <a:rPr kumimoji="1" lang="en-US" altLang="zh-CN" dirty="0"/>
              <a:t>ART</a:t>
            </a:r>
            <a:r>
              <a:rPr kumimoji="1" lang="zh-CN" altLang="en-US" dirty="0"/>
              <a:t>）的概念，将</a:t>
            </a:r>
            <a:r>
              <a:rPr kumimoji="1" lang="en-US" altLang="zh-CN" dirty="0"/>
              <a:t>5-12</a:t>
            </a:r>
            <a:r>
              <a:rPr kumimoji="1" lang="zh-CN" altLang="en-US" dirty="0"/>
              <a:t>个团队组成一个发布“列车”，以</a:t>
            </a:r>
            <a:r>
              <a:rPr kumimoji="1" lang="en-US" altLang="zh-CN" dirty="0"/>
              <a:t>PI</a:t>
            </a:r>
            <a:r>
              <a:rPr kumimoji="1" lang="zh-CN" altLang="en-US" dirty="0"/>
              <a:t>（</a:t>
            </a:r>
            <a:r>
              <a:rPr kumimoji="1" lang="en-US" altLang="zh-CN" dirty="0"/>
              <a:t>Program Increment</a:t>
            </a:r>
            <a:r>
              <a:rPr kumimoji="1" lang="zh-CN" altLang="en-US" dirty="0"/>
              <a:t>）为周期（通常</a:t>
            </a:r>
            <a:r>
              <a:rPr kumimoji="1" lang="en-US" altLang="zh-CN" dirty="0"/>
              <a:t>5</a:t>
            </a:r>
            <a:r>
              <a:rPr kumimoji="1" lang="zh-CN" altLang="en-US" dirty="0"/>
              <a:t>个</a:t>
            </a:r>
            <a:r>
              <a:rPr kumimoji="1" lang="en-US" altLang="zh-CN" dirty="0"/>
              <a:t>Sprint</a:t>
            </a:r>
            <a:r>
              <a:rPr kumimoji="1" lang="zh-CN" altLang="en-US" dirty="0"/>
              <a:t>左右）进行同步规划和交付。</a:t>
            </a:r>
            <a:r>
              <a:rPr kumimoji="1" lang="en-US" altLang="zh-CN" dirty="0"/>
              <a:t>ART</a:t>
            </a:r>
            <a:r>
              <a:rPr kumimoji="1" lang="zh-CN" altLang="en-US" dirty="0"/>
              <a:t>有专门的</a:t>
            </a:r>
            <a:r>
              <a:rPr kumimoji="1" lang="en-US" altLang="zh-CN" dirty="0"/>
              <a:t>Release Train Engineer</a:t>
            </a:r>
            <a:r>
              <a:rPr kumimoji="1" lang="zh-CN" altLang="en-US" dirty="0"/>
              <a:t>（类似超级</a:t>
            </a:r>
            <a:r>
              <a:rPr kumimoji="1" lang="en-US" altLang="zh-CN" dirty="0"/>
              <a:t>Scrum Master</a:t>
            </a:r>
            <a:r>
              <a:rPr kumimoji="1" lang="zh-CN" altLang="en-US" dirty="0"/>
              <a:t>）和</a:t>
            </a:r>
            <a:r>
              <a:rPr kumimoji="1" lang="en-US" altLang="zh-CN" dirty="0"/>
              <a:t>Product Management</a:t>
            </a:r>
            <a:r>
              <a:rPr kumimoji="1" lang="zh-CN" altLang="en-US" dirty="0"/>
              <a:t>（多产品负责人的协调）角色，来管理列车的协同</a:t>
            </a:r>
            <a:r>
              <a:rPr kumimoji="1" lang="en-US" altLang="zh-CN"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endParaRPr kumimoji="1" lang="zh-CN" altLang="en-US" dirty="0"/>
          </a:p>
        </p:txBody>
      </p:sp>
      <p:sp>
        <p:nvSpPr>
          <p:cNvPr id="4" name="内容占位符 3"/>
          <p:cNvSpPr>
            <a:spLocks noGrp="1"/>
          </p:cNvSpPr>
          <p:nvPr>
            <p:ph idx="1"/>
          </p:nvPr>
        </p:nvSpPr>
        <p:spPr/>
        <p:txBody>
          <a:bodyPr>
            <a:normAutofit lnSpcReduction="10000"/>
          </a:bodyPr>
          <a:lstStyle/>
          <a:p>
            <a:r>
              <a:rPr kumimoji="1" lang="en-US" altLang="zh-CN" dirty="0" err="1"/>
              <a:t>SAFe</a:t>
            </a:r>
            <a:r>
              <a:rPr kumimoji="1" lang="zh-CN" altLang="en-US" dirty="0"/>
              <a:t>强调通过统一节奏和里程碑来协调多个团队。</a:t>
            </a:r>
            <a:endParaRPr kumimoji="1" lang="en-US" altLang="zh-CN" dirty="0"/>
          </a:p>
          <a:p>
            <a:r>
              <a:rPr kumimoji="1" lang="zh-CN" altLang="en-US" dirty="0"/>
              <a:t>比如所有团队按相同</a:t>
            </a:r>
            <a:r>
              <a:rPr kumimoji="1" lang="en-US" altLang="zh-CN" dirty="0"/>
              <a:t>Sprint</a:t>
            </a:r>
            <a:r>
              <a:rPr kumimoji="1" lang="zh-CN" altLang="en-US" dirty="0"/>
              <a:t>节奏工作，每隔一定</a:t>
            </a:r>
            <a:r>
              <a:rPr kumimoji="1" lang="en-US" altLang="zh-CN" dirty="0"/>
              <a:t>Sprint</a:t>
            </a:r>
            <a:r>
              <a:rPr kumimoji="1" lang="zh-CN" altLang="en-US" dirty="0"/>
              <a:t>统一在</a:t>
            </a:r>
            <a:r>
              <a:rPr kumimoji="1" lang="en-US" altLang="zh-CN" dirty="0"/>
              <a:t>PI</a:t>
            </a:r>
            <a:r>
              <a:rPr kumimoji="1" lang="zh-CN" altLang="en-US" dirty="0"/>
              <a:t>规划大会上协同计划下个</a:t>
            </a:r>
            <a:r>
              <a:rPr kumimoji="1" lang="en-US" altLang="zh-CN" dirty="0"/>
              <a:t>PI</a:t>
            </a:r>
            <a:r>
              <a:rPr kumimoji="1" lang="zh-CN" altLang="en-US" dirty="0"/>
              <a:t>目标。</a:t>
            </a:r>
            <a:endParaRPr kumimoji="1" lang="en-US" altLang="zh-CN" dirty="0"/>
          </a:p>
          <a:p>
            <a:r>
              <a:rPr kumimoji="1" lang="zh-CN" altLang="en-US" dirty="0"/>
              <a:t>还有</a:t>
            </a:r>
            <a:r>
              <a:rPr kumimoji="1" lang="en-US" altLang="zh-CN" dirty="0"/>
              <a:t>Scrum of Scrums(</a:t>
            </a:r>
            <a:r>
              <a:rPr kumimoji="1" lang="zh-CN" altLang="en-US" dirty="0"/>
              <a:t>各团队</a:t>
            </a:r>
            <a:r>
              <a:rPr kumimoji="1" lang="en-US" altLang="zh-CN" dirty="0"/>
              <a:t>Scrum Master</a:t>
            </a:r>
            <a:r>
              <a:rPr kumimoji="1" lang="zh-CN" altLang="en-US" dirty="0"/>
              <a:t>参加）和</a:t>
            </a:r>
            <a:r>
              <a:rPr kumimoji="1" lang="en-US" altLang="zh-CN" dirty="0"/>
              <a:t>PO</a:t>
            </a:r>
            <a:r>
              <a:rPr kumimoji="1" lang="zh-CN" altLang="en-US" dirty="0"/>
              <a:t>同步会等，解决跨团队的依赖。</a:t>
            </a:r>
            <a:endParaRPr kumimoji="1" lang="en-US" altLang="zh-CN" dirty="0"/>
          </a:p>
          <a:p>
            <a:r>
              <a:rPr kumimoji="1" lang="zh-CN" altLang="en-US" dirty="0"/>
              <a:t>当然</a:t>
            </a:r>
            <a:r>
              <a:rPr kumimoji="1" lang="en-US" altLang="zh-CN" dirty="0" err="1"/>
              <a:t>SAFe</a:t>
            </a:r>
            <a:r>
              <a:rPr kumimoji="1" lang="zh-CN" altLang="en-US" dirty="0"/>
              <a:t>也有争议，被一些敏捷倡导者批评为“过于繁重”或“披着敏捷外衣的瀑布”。批评者认为</a:t>
            </a:r>
            <a:r>
              <a:rPr kumimoji="1" lang="en-US" altLang="zh-CN" dirty="0" err="1"/>
              <a:t>SAFe</a:t>
            </a:r>
            <a:r>
              <a:rPr kumimoji="1" lang="zh-CN" altLang="en-US" dirty="0"/>
              <a:t>层级过多，引入大量新角色和流程，可能与敏捷初心相悖 </a:t>
            </a:r>
            <a:r>
              <a:rPr kumimoji="1" lang="en-US" altLang="zh-CN"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en-US" altLang="zh-CN" dirty="0" err="1"/>
              <a:t>LeSS</a:t>
            </a:r>
            <a:r>
              <a:rPr kumimoji="1" lang="zh-CN" altLang="en-US" dirty="0"/>
              <a:t>（</a:t>
            </a:r>
            <a:r>
              <a:rPr kumimoji="1" lang="en-US" altLang="zh-CN" dirty="0"/>
              <a:t>Large-Scale Scrum</a:t>
            </a:r>
            <a:r>
              <a:rPr kumimoji="1" lang="zh-CN" altLang="en-US" dirty="0"/>
              <a:t>）</a:t>
            </a:r>
            <a:endParaRPr kumimoji="1" lang="zh-CN" altLang="en-US" dirty="0"/>
          </a:p>
        </p:txBody>
      </p:sp>
      <p:sp>
        <p:nvSpPr>
          <p:cNvPr id="4" name="内容占位符 3"/>
          <p:cNvSpPr>
            <a:spLocks noGrp="1"/>
          </p:cNvSpPr>
          <p:nvPr>
            <p:ph idx="1"/>
          </p:nvPr>
        </p:nvSpPr>
        <p:spPr/>
        <p:txBody>
          <a:bodyPr>
            <a:normAutofit fontScale="92500" lnSpcReduction="20000"/>
          </a:bodyPr>
          <a:lstStyle/>
          <a:p>
            <a:r>
              <a:rPr kumimoji="1" lang="en-US" altLang="zh-CN" dirty="0" err="1"/>
              <a:t>LeSS</a:t>
            </a:r>
            <a:r>
              <a:rPr kumimoji="1" lang="zh-CN" altLang="en-US" dirty="0"/>
              <a:t>由</a:t>
            </a:r>
            <a:r>
              <a:rPr kumimoji="1" lang="en-US" altLang="zh-CN" dirty="0"/>
              <a:t>Craig </a:t>
            </a:r>
            <a:r>
              <a:rPr kumimoji="1" lang="en-US" altLang="zh-CN" dirty="0" err="1"/>
              <a:t>Larman</a:t>
            </a:r>
            <a:r>
              <a:rPr kumimoji="1" lang="zh-CN" altLang="en-US" dirty="0"/>
              <a:t>等提出，仅在一个产品待办列表下扩展多个</a:t>
            </a:r>
            <a:r>
              <a:rPr kumimoji="1" lang="en-US" altLang="zh-CN" dirty="0"/>
              <a:t>Scrum</a:t>
            </a:r>
            <a:r>
              <a:rPr kumimoji="1" lang="zh-CN" altLang="en-US" dirty="0"/>
              <a:t>团队，尽量减少额外角色。</a:t>
            </a:r>
            <a:endParaRPr kumimoji="1" lang="en-US" altLang="zh-CN" dirty="0"/>
          </a:p>
          <a:p>
            <a:r>
              <a:rPr kumimoji="1" lang="en-US" altLang="zh-CN" dirty="0" err="1"/>
              <a:t>LeSS</a:t>
            </a:r>
            <a:r>
              <a:rPr kumimoji="1" lang="zh-CN" altLang="en-US" dirty="0"/>
              <a:t>的核心理念是“</a:t>
            </a:r>
            <a:r>
              <a:rPr kumimoji="1" lang="en-US" altLang="zh-CN" dirty="0"/>
              <a:t>Large-Scale Scrum is Scrum”</a:t>
            </a:r>
            <a:r>
              <a:rPr kumimoji="1" lang="zh-CN" altLang="en-US" dirty="0"/>
              <a:t>，即大规模</a:t>
            </a:r>
            <a:r>
              <a:rPr kumimoji="1" lang="en-US" altLang="zh-CN" dirty="0"/>
              <a:t>Scrum</a:t>
            </a:r>
            <a:r>
              <a:rPr kumimoji="1" lang="zh-CN" altLang="en-US" dirty="0"/>
              <a:t>仍然是</a:t>
            </a:r>
            <a:r>
              <a:rPr kumimoji="1" lang="en-US" altLang="zh-CN" dirty="0"/>
              <a:t>Scrum</a:t>
            </a:r>
            <a:r>
              <a:rPr kumimoji="1" lang="zh-CN" altLang="en-US" dirty="0"/>
              <a:t>，不引入额外的复杂框架，而是通过扩展</a:t>
            </a:r>
            <a:r>
              <a:rPr kumimoji="1" lang="en-US" altLang="zh-CN" dirty="0"/>
              <a:t>Scrum</a:t>
            </a:r>
            <a:r>
              <a:rPr kumimoji="1" lang="zh-CN" altLang="en-US" dirty="0"/>
              <a:t>的基本原则和实践来适应多团队环境。</a:t>
            </a:r>
            <a:endParaRPr kumimoji="1" lang="en-US" altLang="zh-CN" dirty="0"/>
          </a:p>
          <a:p>
            <a:r>
              <a:rPr kumimoji="1" lang="en-US" altLang="zh-CN" dirty="0" err="1"/>
              <a:t>LeSS</a:t>
            </a:r>
            <a:r>
              <a:rPr kumimoji="1" lang="zh-CN" altLang="en-US" dirty="0"/>
              <a:t>提供了两种框架，分别适用于不同规模的团队：</a:t>
            </a:r>
            <a:endParaRPr kumimoji="1" lang="zh-CN" altLang="en-US" dirty="0"/>
          </a:p>
          <a:p>
            <a:pPr lvl="1"/>
            <a:r>
              <a:rPr kumimoji="1" lang="zh-CN" altLang="en-US" dirty="0"/>
              <a:t>基本</a:t>
            </a:r>
            <a:r>
              <a:rPr kumimoji="1" lang="en-US" altLang="zh-CN" dirty="0" err="1"/>
              <a:t>LeSS</a:t>
            </a:r>
            <a:r>
              <a:rPr kumimoji="1" lang="zh-CN" altLang="en-US" dirty="0"/>
              <a:t>（</a:t>
            </a:r>
            <a:r>
              <a:rPr kumimoji="1" lang="en-US" altLang="zh-CN" dirty="0"/>
              <a:t>Basic </a:t>
            </a:r>
            <a:r>
              <a:rPr kumimoji="1" lang="en-US" altLang="zh-CN" dirty="0" err="1"/>
              <a:t>LeSS</a:t>
            </a:r>
            <a:r>
              <a:rPr kumimoji="1" lang="zh-CN" altLang="en-US" dirty="0"/>
              <a:t>）： 适用于</a:t>
            </a:r>
            <a:r>
              <a:rPr kumimoji="1" lang="en-US" altLang="zh-CN" dirty="0"/>
              <a:t>2-8</a:t>
            </a:r>
            <a:r>
              <a:rPr kumimoji="1" lang="zh-CN" altLang="en-US" dirty="0"/>
              <a:t>个团队（每个团队通常</a:t>
            </a:r>
            <a:r>
              <a:rPr kumimoji="1" lang="en-US" altLang="zh-CN" dirty="0"/>
              <a:t>5-9</a:t>
            </a:r>
            <a:r>
              <a:rPr kumimoji="1" lang="zh-CN" altLang="en-US" dirty="0"/>
              <a:t>人），共同开发一个产品。</a:t>
            </a:r>
            <a:endParaRPr kumimoji="1" lang="zh-CN" altLang="en-US" dirty="0"/>
          </a:p>
          <a:p>
            <a:pPr lvl="1"/>
            <a:r>
              <a:rPr kumimoji="1" lang="en-US" altLang="zh-CN" dirty="0" err="1"/>
              <a:t>LeSS</a:t>
            </a:r>
            <a:r>
              <a:rPr kumimoji="1" lang="en-US" altLang="zh-CN" dirty="0"/>
              <a:t> Huge</a:t>
            </a:r>
            <a:r>
              <a:rPr kumimoji="1" lang="zh-CN" altLang="en-US" dirty="0"/>
              <a:t>： 适用于</a:t>
            </a:r>
            <a:r>
              <a:rPr kumimoji="1" lang="en-US" altLang="zh-CN" dirty="0"/>
              <a:t>8</a:t>
            </a:r>
            <a:r>
              <a:rPr kumimoji="1" lang="zh-CN" altLang="en-US" dirty="0"/>
              <a:t>个以上团队，通常用于超大规模产品开发，可能涉及数百甚至数千人。</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51D91E7F-84B6-4064-9D4E-CC7D244BCA04}" type="slidenum">
              <a:rPr lang="zh-CN" altLang="en-US" smtClean="0"/>
            </a:fld>
            <a:endParaRPr lang="zh-CN" altLang="en-US"/>
          </a:p>
        </p:txBody>
      </p:sp>
      <p:sp>
        <p:nvSpPr>
          <p:cNvPr id="3" name="文本占位符 2"/>
          <p:cNvSpPr>
            <a:spLocks noGrp="1"/>
          </p:cNvSpPr>
          <p:nvPr>
            <p:ph type="body" sz="quarter" idx="13"/>
          </p:nvPr>
        </p:nvSpPr>
        <p:spPr/>
        <p:txBody>
          <a:bodyPr/>
          <a:lstStyle/>
          <a:p>
            <a:r>
              <a:rPr kumimoji="1" lang="zh-CN" altLang="en-US" dirty="0"/>
              <a:t>基本</a:t>
            </a:r>
            <a:r>
              <a:rPr kumimoji="1" lang="en-US" altLang="zh-CN" dirty="0" err="1"/>
              <a:t>LeSS</a:t>
            </a:r>
            <a:r>
              <a:rPr kumimoji="1" lang="zh-CN" altLang="en-US" dirty="0"/>
              <a:t>的结构</a:t>
            </a:r>
            <a:endParaRPr kumimoji="1" lang="zh-CN" altLang="en-US" dirty="0"/>
          </a:p>
        </p:txBody>
      </p:sp>
      <p:sp>
        <p:nvSpPr>
          <p:cNvPr id="4" name="内容占位符 3"/>
          <p:cNvSpPr>
            <a:spLocks noGrp="1"/>
          </p:cNvSpPr>
          <p:nvPr>
            <p:ph idx="1"/>
          </p:nvPr>
        </p:nvSpPr>
        <p:spPr/>
        <p:txBody>
          <a:bodyPr>
            <a:normAutofit fontScale="77500" lnSpcReduction="20000"/>
          </a:bodyPr>
          <a:lstStyle/>
          <a:p>
            <a:r>
              <a:rPr kumimoji="1" lang="zh-CN" altLang="en-US" dirty="0"/>
              <a:t>一个产品负责人（</a:t>
            </a:r>
            <a:r>
              <a:rPr kumimoji="1" lang="en-US" altLang="zh-CN" dirty="0"/>
              <a:t>Product Owner</a:t>
            </a:r>
            <a:r>
              <a:rPr kumimoji="1" lang="zh-CN" altLang="en-US" dirty="0"/>
              <a:t>）： 负责整个产品的愿景、优先级和产品待办事项列表（</a:t>
            </a:r>
            <a:r>
              <a:rPr kumimoji="1" lang="en-US" altLang="zh-CN" dirty="0"/>
              <a:t>Product Backlog</a:t>
            </a:r>
            <a:r>
              <a:rPr kumimoji="1" lang="zh-CN" altLang="en-US" dirty="0"/>
              <a:t>）。产品负责人需要与所有团队密切合作，确保所有团队对产品目标的理解一致。</a:t>
            </a:r>
            <a:endParaRPr kumimoji="1" lang="zh-CN" altLang="en-US" dirty="0"/>
          </a:p>
          <a:p>
            <a:r>
              <a:rPr kumimoji="1" lang="zh-CN" altLang="en-US" dirty="0"/>
              <a:t>多个</a:t>
            </a:r>
            <a:r>
              <a:rPr kumimoji="1" lang="en-US" altLang="zh-CN" dirty="0"/>
              <a:t>Scrum</a:t>
            </a:r>
            <a:r>
              <a:rPr kumimoji="1" lang="zh-CN" altLang="en-US" dirty="0"/>
              <a:t>团队： 每个团队遵循标准的</a:t>
            </a:r>
            <a:r>
              <a:rPr kumimoji="1" lang="en-US" altLang="zh-CN" dirty="0"/>
              <a:t>Scrum</a:t>
            </a:r>
            <a:r>
              <a:rPr kumimoji="1" lang="zh-CN" altLang="en-US" dirty="0"/>
              <a:t>实践，包括迭代开发（</a:t>
            </a:r>
            <a:r>
              <a:rPr kumimoji="1" lang="en-US" altLang="zh-CN" dirty="0"/>
              <a:t>Sprint</a:t>
            </a:r>
            <a:r>
              <a:rPr kumimoji="1" lang="zh-CN" altLang="en-US" dirty="0"/>
              <a:t>）、每日站会（</a:t>
            </a:r>
            <a:r>
              <a:rPr kumimoji="1" lang="en-US" altLang="zh-CN" dirty="0"/>
              <a:t>Daily Scrum</a:t>
            </a:r>
            <a:r>
              <a:rPr kumimoji="1" lang="zh-CN" altLang="en-US" dirty="0"/>
              <a:t>）、冲刺计划（</a:t>
            </a:r>
            <a:r>
              <a:rPr kumimoji="1" lang="en-US" altLang="zh-CN" dirty="0"/>
              <a:t>Sprint Planning</a:t>
            </a:r>
            <a:r>
              <a:rPr kumimoji="1" lang="zh-CN" altLang="en-US" dirty="0"/>
              <a:t>）、冲刺评审（</a:t>
            </a:r>
            <a:r>
              <a:rPr kumimoji="1" lang="en-US" altLang="zh-CN" dirty="0"/>
              <a:t>Sprint Review</a:t>
            </a:r>
            <a:r>
              <a:rPr kumimoji="1" lang="zh-CN" altLang="en-US" dirty="0"/>
              <a:t>）和回顾会议（</a:t>
            </a:r>
            <a:r>
              <a:rPr kumimoji="1" lang="en-US" altLang="zh-CN" dirty="0"/>
              <a:t>Retrospective</a:t>
            </a:r>
            <a:r>
              <a:rPr kumimoji="1" lang="zh-CN" altLang="en-US" dirty="0"/>
              <a:t>）。团队是跨职能的，能够独立交付功能。</a:t>
            </a:r>
            <a:endParaRPr kumimoji="1" lang="zh-CN" altLang="en-US" dirty="0"/>
          </a:p>
          <a:p>
            <a:r>
              <a:rPr kumimoji="1" lang="zh-CN" altLang="en-US" dirty="0"/>
              <a:t>一个产品待办事项列表： 所有团队共享同一个产品待办事项列表，确保工作的透明性和一致性。</a:t>
            </a:r>
            <a:endParaRPr kumimoji="1" lang="zh-CN" altLang="en-US" dirty="0"/>
          </a:p>
          <a:p>
            <a:r>
              <a:rPr kumimoji="1" lang="zh-CN" altLang="en-US" dirty="0"/>
              <a:t>一个冲刺： 所有团队在同一时间段内进行冲刺，目标是交付一个集成的、可发布的增量（</a:t>
            </a:r>
            <a:r>
              <a:rPr kumimoji="1" lang="en-US" altLang="zh-CN" dirty="0"/>
              <a:t>Increment</a:t>
            </a:r>
            <a:r>
              <a:rPr kumimoji="1" lang="zh-CN" altLang="en-US" dirty="0"/>
              <a:t>）。</a:t>
            </a:r>
            <a:endParaRPr kumimoji="1" lang="zh-CN" altLang="en-US" dirty="0"/>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endParaRPr lang="zh-CN" altLang="en-US"/>
          </a:p>
        </p:txBody>
      </p:sp>
      <p:sp>
        <p:nvSpPr>
          <p:cNvPr id="3" name="文本占位符 2"/>
          <p:cNvSpPr>
            <a:spLocks noGrp="1"/>
          </p:cNvSpPr>
          <p:nvPr>
            <p:ph type="body" sz="quarter" idx="11"/>
          </p:nvPr>
        </p:nvSpPr>
        <p:spPr/>
        <p:txBody>
          <a:bodyPr/>
          <a:lstStyle/>
          <a:p>
            <a:endParaRPr lang="zh-CN" altLang="en-US"/>
          </a:p>
        </p:txBody>
      </p:sp>
      <p:sp>
        <p:nvSpPr>
          <p:cNvPr id="4" name="文本占位符 3"/>
          <p:cNvSpPr>
            <a:spLocks noGrp="1"/>
          </p:cNvSpPr>
          <p:nvPr>
            <p:ph type="body" sz="quarter" idx="12"/>
          </p:nvPr>
        </p:nvSpPr>
        <p:spPr/>
        <p:txBody>
          <a:bodyPr/>
          <a:lstStyle/>
          <a:p>
            <a:endParaRPr lang="zh-CN" altLang="en-US"/>
          </a:p>
        </p:txBody>
      </p:sp>
    </p:spTree>
  </p:cSld>
  <p:clrMapOvr>
    <a:masterClrMapping/>
  </p:clrMapOvr>
  <mc:AlternateContent xmlns:mc="http://schemas.openxmlformats.org/markup-compatibility/2006">
    <mc:Choice xmlns:p14="http://schemas.microsoft.com/office/powerpoint/2010/main" Requires="p14">
      <p:transition p14:dur="150">
        <p:fade/>
      </p:transition>
    </mc:Choice>
    <mc:Fallback>
      <p:transition>
        <p:fade/>
      </p:transition>
    </mc:Fallback>
  </mc:AlternateContent>
</p:sld>
</file>

<file path=ppt/theme/theme1.xml><?xml version="1.0" encoding="utf-8"?>
<a:theme xmlns:a="http://schemas.openxmlformats.org/drawingml/2006/main" name="Office 主题">
  <a:themeElements>
    <a:clrScheme name="南大紫">
      <a:dk1>
        <a:srgbClr val="6A005F"/>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Slides">
      <a:majorFont>
        <a:latin typeface="Times New Roman"/>
        <a:ea typeface="微软雅黑"/>
        <a:cs typeface=""/>
      </a:majorFont>
      <a:minorFont>
        <a:latin typeface="Times New Roman"/>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16499</Words>
  <Application>WPS 演示</Application>
  <PresentationFormat>宽屏</PresentationFormat>
  <Paragraphs>1008</Paragraphs>
  <Slides>94</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94</vt:i4>
      </vt:variant>
    </vt:vector>
  </HeadingPairs>
  <TitlesOfParts>
    <vt:vector size="110" baseType="lpstr">
      <vt:lpstr>Arial</vt:lpstr>
      <vt:lpstr>宋体</vt:lpstr>
      <vt:lpstr>Wingdings</vt:lpstr>
      <vt:lpstr>Times New Roman</vt:lpstr>
      <vt:lpstr>微软雅黑</vt:lpstr>
      <vt:lpstr>Arial Unicode MS</vt:lpstr>
      <vt:lpstr>Calibri</vt:lpstr>
      <vt:lpstr>Calibri</vt:lpstr>
      <vt:lpstr>Times Roman</vt:lpstr>
      <vt:lpstr>Segoe Print</vt:lpstr>
      <vt:lpstr>.AppleSystemUIFont</vt:lpstr>
      <vt:lpstr>PT Serif</vt:lpstr>
      <vt:lpstr>Helvetica</vt:lpstr>
      <vt:lpstr>-apple-system</vt:lpstr>
      <vt:lpstr>等线</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栋 邵</dc:creator>
  <dc:description>第一PPT模板网-WWW.1PPT.COM</dc:description>
  <cp:category>第一PPT模板网-WWW.1PPT.COM</cp:category>
  <cp:lastModifiedBy>晞梦</cp:lastModifiedBy>
  <cp:revision>70</cp:revision>
  <dcterms:created xsi:type="dcterms:W3CDTF">2025-02-10T00:50:00Z</dcterms:created>
  <dcterms:modified xsi:type="dcterms:W3CDTF">2025-06-10T12:14:42Z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AC13F161FBC3290550F89F62C78629F4</vt:lpwstr>
  </property>
  <property fmtid="{D5CDD505-2E9C-101B-9397-08002B2CF9AE}" pid="3" name="KSOProductBuildVer">
    <vt:lpwstr>2052-12.1.0.21171</vt:lpwstr>
  </property>
</Properties>
</file>